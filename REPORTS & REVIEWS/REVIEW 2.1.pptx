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sldIdLst>
    <p:sldId id="271" r:id="rId5"/>
    <p:sldId id="335" r:id="rId6"/>
    <p:sldId id="273" r:id="rId7"/>
    <p:sldId id="292" r:id="rId8"/>
    <p:sldId id="293" r:id="rId9"/>
    <p:sldId id="290" r:id="rId10"/>
    <p:sldId id="334" r:id="rId11"/>
    <p:sldId id="297" r:id="rId12"/>
    <p:sldId id="340" r:id="rId13"/>
    <p:sldId id="319" r:id="rId14"/>
    <p:sldId id="320" r:id="rId15"/>
    <p:sldId id="311" r:id="rId16"/>
    <p:sldId id="327" r:id="rId17"/>
    <p:sldId id="339" r:id="rId18"/>
    <p:sldId id="328" r:id="rId19"/>
    <p:sldId id="338" r:id="rId20"/>
    <p:sldId id="336" r:id="rId21"/>
    <p:sldId id="299" r:id="rId22"/>
    <p:sldId id="300" r:id="rId23"/>
    <p:sldId id="315" r:id="rId24"/>
    <p:sldId id="266" r:id="rId25"/>
    <p:sldId id="268" r:id="rId26"/>
    <p:sldId id="272" r:id="rId2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D4FAA-DD5A-7822-CEA2-C9418D646446}" name="santhosh dulam" initials="sd" userId="74bee7ff40ce72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88" autoAdjust="0"/>
    <p:restoredTop sz="94660"/>
  </p:normalViewPr>
  <p:slideViewPr>
    <p:cSldViewPr snapToGrid="0">
      <p:cViewPr varScale="1">
        <p:scale>
          <a:sx n="62" d="100"/>
          <a:sy n="62" d="100"/>
        </p:scale>
        <p:origin x="3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FA01-FF90-4CB8-96DB-40DDDA181002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C0B48-B307-7FEA-E6CB-F8FAF629E8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C8B-ABA6-4FAB-83B6-BFD57C63C84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A07F5-002F-432B-8E65-16015ED9B4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1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E0545-4042-4D57-BFE2-24D9711B70D9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98A-701B-4F23-A1CC-1158D58A91EE}" type="datetime1">
              <a:rPr lang="en-IN" smtClean="0"/>
              <a:t>01-03-2025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ADBE2-E413-41F2-87CA-F9C3B0E6248B}" type="datetime1">
              <a:rPr lang="en-IN" smtClean="0"/>
              <a:t>01-03-2025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9DFE-0F04-4798-BB9C-E85DCE8A3B82}" type="datetime1">
              <a:rPr lang="en-IN" smtClean="0"/>
              <a:t>01-03-2025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6C57-0736-497B-8BAE-4FCBC1195152}" type="datetime1">
              <a:rPr lang="en-IN" smtClean="0"/>
              <a:t>01-03-2025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7A3F8-83EB-71E6-1467-2B1445E0C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388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AE70-80A3-4B30-96CD-CEE9F491EFE9}" type="datetime1">
              <a:rPr lang="en-IN" smtClean="0"/>
              <a:t>01-03-2025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6CE8-2210-4BCE-B561-8DF9A5A228E2}" type="datetime1">
              <a:rPr lang="en-IN" smtClean="0"/>
              <a:t>01-03-2025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F567-F414-451A-9931-67880512D8F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8441-0A9B-416D-A8D6-1697AD459D38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9951E-CC14-4AE2-BC7B-606BC9BBFD45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2.1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B647-8643-3214-4D28-BF115DA7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05733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cs typeface="Calibri" panose="020F0502020204030204"/>
              </a:rPr>
              <a:t>Review 2.1</a:t>
            </a:r>
          </a:p>
          <a:p>
            <a:pPr marL="0" indent="0" algn="ctr">
              <a:buNone/>
            </a:pPr>
            <a:r>
              <a:rPr lang="en-US" b="1" u="sng" dirty="0" err="1"/>
              <a:t>B.Tech</a:t>
            </a:r>
            <a:r>
              <a:rPr lang="en-US" b="1" u="sng" dirty="0"/>
              <a:t> Project  (19ECE495)</a:t>
            </a:r>
            <a:endParaRPr lang="en-IN" dirty="0"/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Batch ID: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041</a:t>
            </a:r>
            <a:endParaRPr lang="en-US" b="1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b="1" dirty="0"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Multi-Class Classification and Detection of Knee Osteoarthritis From X- rays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Calibri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cs typeface="Calibri"/>
              </a:rPr>
              <a:t>MENTOR: Dr. Devi Vijayan </a:t>
            </a:r>
            <a:endParaRPr lang="en-US" sz="20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Dept. of Elec. and </a:t>
            </a:r>
            <a:r>
              <a:rPr lang="en-US" sz="1600" dirty="0" err="1">
                <a:cs typeface="Calibri"/>
              </a:rPr>
              <a:t>Commn</a:t>
            </a:r>
            <a:r>
              <a:rPr lang="en-US" sz="1600" dirty="0">
                <a:cs typeface="Calibri"/>
              </a:rPr>
              <a:t>. </a:t>
            </a:r>
            <a:r>
              <a:rPr lang="en-US" sz="1600" dirty="0" err="1">
                <a:cs typeface="Calibri"/>
              </a:rPr>
              <a:t>Engg</a:t>
            </a:r>
            <a:r>
              <a:rPr lang="en-US" sz="1600" dirty="0">
                <a:cs typeface="Calibri"/>
              </a:rPr>
              <a:t>. </a:t>
            </a:r>
            <a:endParaRPr lang="en-US" sz="16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Amrita School of Engineering, Coimbatore</a:t>
            </a:r>
            <a:endParaRPr lang="en-US" sz="1600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latin typeface="Times New Roman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4A2F5B-6245-B893-CD53-3C56A256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2107"/>
              </p:ext>
            </p:extLst>
          </p:nvPr>
        </p:nvGraphicFramePr>
        <p:xfrm>
          <a:off x="838198" y="3947828"/>
          <a:ext cx="6375402" cy="150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5450">
                  <a:extLst>
                    <a:ext uri="{9D8B030D-6E8A-4147-A177-3AD203B41FA5}">
                      <a16:colId xmlns:a16="http://schemas.microsoft.com/office/drawing/2014/main" val="753663392"/>
                    </a:ext>
                  </a:extLst>
                </a:gridCol>
                <a:gridCol w="454348">
                  <a:extLst>
                    <a:ext uri="{9D8B030D-6E8A-4147-A177-3AD203B41FA5}">
                      <a16:colId xmlns:a16="http://schemas.microsoft.com/office/drawing/2014/main" val="1657209611"/>
                    </a:ext>
                  </a:extLst>
                </a:gridCol>
                <a:gridCol w="2735604">
                  <a:extLst>
                    <a:ext uri="{9D8B030D-6E8A-4147-A177-3AD203B41FA5}">
                      <a16:colId xmlns:a16="http://schemas.microsoft.com/office/drawing/2014/main" val="231825383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 RISHI VARDHAN REDDY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CB.EN.U4ECE21011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 M SHAAHID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DULAM SANTHOSH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6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NUKALA SUMANTH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1696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B85CC-0B37-6217-1D2D-B2C27CE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3166-74E5-4836-A3BD-2D9AD07AEAA8}" type="datetime1">
              <a:rPr lang="en-IN" smtClean="0"/>
              <a:t>01-03-2025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67C2E-FC33-2B7E-F422-32D0F24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3BF90-2BA0-52DD-9773-C7C196DF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9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52D2-B09A-E515-B4F1-65AE56BA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706E-1E1D-F44D-4859-FCCE0A9B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49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osteoarthritis (KOA) is a common joint disorder characterized by the gradual degeneration of cartilage and underlying bone in the knee joint, leading to pain, stiffness, and reduced mobility.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KOA affects approximately 1 in 5 individuals in the general population and 1 in 3 people over the age of 50 [1], making it a significant contributor to impaired quality of life and daily functioning.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accurate classification of KOA severity are critical for effective treatment, as timely interventions can prevent further joint damage and improve patient outcomes.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diagnostic methods, such as physical exams and X-ray imaging, are often subjective and may misclassify early stages of KOA, leading to delayed or inappropriate treatment.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973B-4C07-7857-6182-84E82157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9A4A-F60A-4874-865A-1F2CEFE8B544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F55F-7BE3-70E3-9AFF-AFE07A0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C6DD-3F80-212C-919B-5D8ED83E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4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371A-7026-894E-8875-4FBCD18E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44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Objective:</a:t>
            </a:r>
            <a:endParaRPr lang="en-US" sz="4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Validate the model's predictions using test data to assess its accuracy and Precision. 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Compare the model's performance with existing state-of-the-art models.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Employ deep learning model to automatically categorize the severity of knee osteoarthritis into five grades (G-0 to G-4) based on the </a:t>
            </a:r>
            <a:r>
              <a:rPr lang="en-US" sz="24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Kellgren</a:t>
            </a: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and Lawrence classification system.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408EF0-1DAF-F974-2078-2D535141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127E-3E95-4EF9-9FCB-236148F53F61}" type="datetime1">
              <a:rPr lang="en-IN" smtClean="0"/>
              <a:t>01-03-2025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859298-DC95-A87C-ED26-9961F47A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8556A-B9AA-A64F-2A10-EC682490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8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5FD7-63D7-9EA5-FAFF-6A17F8CE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/>
                <a:cs typeface="Times New Roman"/>
              </a:rPr>
              <a:t>Data Preparation: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0343-97B3-0790-D576-41C03809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Dataset[2]:</a:t>
            </a:r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the study is based on the Osteoarthritis Initiative (OAI) dataset.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8,260 X-ray images of knee joints, graded according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Kellgren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-Lawrence (KL)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scheme. The distribution of the dataset across KL grades is as follows: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0: 3,253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1: 1,495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2: 2,175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3: 1,086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4: 251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3FF81-917D-F018-2B58-ECCB814C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DF5A9-9AE8-4BC7-A489-F72FF64C8213}" type="datetime1">
              <a:rPr lang="en-IN" smtClean="0"/>
              <a:t>01-03-2025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47AEF-3CD6-6B6C-13D6-41ADC188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D9901-1F36-3238-914E-A669C552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F2F2E-B640-0430-B02B-943F572A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930" y="3810409"/>
            <a:ext cx="1551459" cy="155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4C338-2F78-A519-4682-A0B31F365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200" y="3810411"/>
            <a:ext cx="1551460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D16C3A-CC86-FA47-7365-B605136DA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72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7B155D-896B-8DDE-1E96-B0B78B926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95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E59B4C-55B1-5778-1EE4-DB0350C03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44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D31B79-A598-2F81-202B-80455BB72292}"/>
              </a:ext>
            </a:extLst>
          </p:cNvPr>
          <p:cNvSpPr txBox="1"/>
          <p:nvPr/>
        </p:nvSpPr>
        <p:spPr>
          <a:xfrm>
            <a:off x="4637886" y="5361868"/>
            <a:ext cx="7738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Grade0            Grade1               Grade2           Grade3            Garde4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764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sz="3200" b="1" dirty="0">
                <a:latin typeface="Times New Roman"/>
                <a:cs typeface="Times New Roman"/>
              </a:rPr>
              <a:t>Data Preparation:</a:t>
            </a:r>
            <a:endParaRPr lang="en-US" sz="3200" dirty="0">
              <a:latin typeface="Times New Roman"/>
              <a:cs typeface="Times New Roman"/>
            </a:endParaRPr>
          </a:p>
          <a:p>
            <a:pPr algn="just"/>
            <a:endParaRPr lang="en-US" dirty="0">
              <a:ea typeface="Calibri Light"/>
              <a:cs typeface="Calibri Light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135790"/>
              </p:ext>
            </p:extLst>
          </p:nvPr>
        </p:nvGraphicFramePr>
        <p:xfrm>
          <a:off x="838200" y="1689554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639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2D9EF-6367-AAD3-6398-BABF9992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/>
            <a:fld id="{C22A67C0-6BE9-454E-B060-3E416FA84371}" type="datetime1">
              <a:rPr lang="en-IN" smtClean="0"/>
              <a:pPr algn="just"/>
              <a:t>01-03-2025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AF3AAC-A461-6D0C-7121-2826234B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GB"/>
              <a:t>Review 2.1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D58A9-735F-9790-D492-9BF4BDC1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330EA680-D336-4FF7-8B7A-9848BB0A1C32}" type="slidenum">
              <a:rPr lang="en-GB" smtClean="0"/>
              <a:pPr algn="just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A50B-C114-B9B1-482E-DDE295FC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D268A9-9397-6A34-6C3A-6212457BFFD9}"/>
              </a:ext>
            </a:extLst>
          </p:cNvPr>
          <p:cNvSpPr/>
          <p:nvPr/>
        </p:nvSpPr>
        <p:spPr>
          <a:xfrm>
            <a:off x="4802481" y="1886320"/>
            <a:ext cx="2240622" cy="29281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5C805-9E0F-274E-EB14-7628FD891E24}"/>
              </a:ext>
            </a:extLst>
          </p:cNvPr>
          <p:cNvSpPr/>
          <p:nvPr/>
        </p:nvSpPr>
        <p:spPr>
          <a:xfrm>
            <a:off x="5039214" y="2112015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algn="ctr" rtl="0" eaLnBrk="1" latinLnBrk="0" hangingPunct="1"/>
            <a:r>
              <a:rPr lang="en-IN" sz="1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Median Filter</a:t>
            </a:r>
            <a:endParaRPr lang="en-IN" dirty="0">
              <a:effectLst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EB17DB-D7AA-C16F-B703-8BE04B112485}"/>
              </a:ext>
            </a:extLst>
          </p:cNvPr>
          <p:cNvSpPr/>
          <p:nvPr/>
        </p:nvSpPr>
        <p:spPr>
          <a:xfrm>
            <a:off x="5039213" y="2889531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rtl="0" eaLnBrk="1" latinLnBrk="0" hangingPunct="1"/>
            <a:endParaRPr lang="en-US" sz="1800" b="1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algn="ctr" rtl="0" eaLnBrk="1" latinLnBrk="0" hangingPunct="1"/>
            <a:r>
              <a:rPr lang="en-US" sz="1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Histogram equalization</a:t>
            </a:r>
            <a:endParaRPr lang="en-IN" dirty="0">
              <a:effectLst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97E77-A1A5-858B-6E9E-F9A488DB6DD8}"/>
              </a:ext>
            </a:extLst>
          </p:cNvPr>
          <p:cNvSpPr/>
          <p:nvPr/>
        </p:nvSpPr>
        <p:spPr>
          <a:xfrm>
            <a:off x="5039213" y="3717057"/>
            <a:ext cx="1767155" cy="6447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Unsharp masking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9CC7D4-BF59-C3A2-CAC4-32F1BC1BF221}"/>
              </a:ext>
            </a:extLst>
          </p:cNvPr>
          <p:cNvSpPr/>
          <p:nvPr/>
        </p:nvSpPr>
        <p:spPr>
          <a:xfrm>
            <a:off x="2084540" y="2839720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Image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BDDFF0-E993-BB89-5698-051880DC87BE}"/>
              </a:ext>
            </a:extLst>
          </p:cNvPr>
          <p:cNvSpPr/>
          <p:nvPr/>
        </p:nvSpPr>
        <p:spPr>
          <a:xfrm>
            <a:off x="7616318" y="2839720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Image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76C7E3E-CDEA-E0A4-2C3E-8B7DE9DE5C8D}"/>
              </a:ext>
            </a:extLst>
          </p:cNvPr>
          <p:cNvSpPr/>
          <p:nvPr/>
        </p:nvSpPr>
        <p:spPr>
          <a:xfrm>
            <a:off x="4378674" y="3093225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EBF528B-387A-E613-704C-BCF434B07DC1}"/>
              </a:ext>
            </a:extLst>
          </p:cNvPr>
          <p:cNvSpPr/>
          <p:nvPr/>
        </p:nvSpPr>
        <p:spPr>
          <a:xfrm>
            <a:off x="7155049" y="3069272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CCFCC65-34D8-5C8B-0E99-B9F9F665A457}"/>
              </a:ext>
            </a:extLst>
          </p:cNvPr>
          <p:cNvSpPr/>
          <p:nvPr/>
        </p:nvSpPr>
        <p:spPr>
          <a:xfrm rot="5400000">
            <a:off x="8553788" y="3883464"/>
            <a:ext cx="345467" cy="3223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A67FE0-1EB8-E14A-4019-28104FEB2883}"/>
              </a:ext>
            </a:extLst>
          </p:cNvPr>
          <p:cNvSpPr/>
          <p:nvPr/>
        </p:nvSpPr>
        <p:spPr>
          <a:xfrm>
            <a:off x="7626756" y="4395035"/>
            <a:ext cx="2240622" cy="8293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8E0DB73-7CB9-47D7-1E1F-5BC2BB0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B524-E5A6-4A98-A464-414DE8F3FCCF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01-03-2025</a:t>
            </a:fld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F8EA44-E016-7C7D-2FA5-A6033BD6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2.1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DF1732-D609-B4D4-ECD5-003A82E4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10956-23BC-163C-9D70-B0C222C5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9564-92A8-4D3B-93B9-954632910499}" type="datetime1">
              <a:rPr lang="en-IN" smtClean="0"/>
              <a:t>01-03-2025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90796-FF34-DBF2-F4E7-A98226A2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195F-1887-7D20-385D-F77A0649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C6F84-1C61-3812-DC5E-DEB1B0E76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38" y="1129943"/>
            <a:ext cx="1935822" cy="193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0D4D2-FB87-0339-7F31-A999E7783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71" y="1129943"/>
            <a:ext cx="1935822" cy="193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8F548-C5E1-98C8-1E2B-2AE4515C1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304" y="1129944"/>
            <a:ext cx="1783402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A1657F-72A6-04F0-36CE-CB461CA1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183" y="1129942"/>
            <a:ext cx="1783401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948B6-632E-0D1D-38D6-1932838A6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699" y="1129943"/>
            <a:ext cx="1783401" cy="1935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89D9E3-4127-70E1-468D-0F03F2EFD54D}"/>
              </a:ext>
            </a:extLst>
          </p:cNvPr>
          <p:cNvSpPr txBox="1"/>
          <p:nvPr/>
        </p:nvSpPr>
        <p:spPr>
          <a:xfrm>
            <a:off x="1105416" y="622110"/>
            <a:ext cx="10792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Grade0                       Grade1                       Grade2                   Grade3                   Garde4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E60CC7-9C48-41FE-FD1B-0F1EFBEC9293}"/>
              </a:ext>
            </a:extLst>
          </p:cNvPr>
          <p:cNvSpPr txBox="1"/>
          <p:nvPr/>
        </p:nvSpPr>
        <p:spPr>
          <a:xfrm>
            <a:off x="4962203" y="3155446"/>
            <a:ext cx="2702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X-rays Images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412519-0CC7-2D98-3DF3-FEE674C15C0C}"/>
              </a:ext>
            </a:extLst>
          </p:cNvPr>
          <p:cNvSpPr txBox="1"/>
          <p:nvPr/>
        </p:nvSpPr>
        <p:spPr>
          <a:xfrm>
            <a:off x="4689025" y="5956240"/>
            <a:ext cx="3464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X-ray Images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77C828D-5A6D-143F-2DFE-6FB6E54E16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399" y="3924762"/>
            <a:ext cx="1796185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615F40-947F-5ECB-EB27-B84D255FB8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37" y="3924763"/>
            <a:ext cx="1935823" cy="193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532E780-4C51-AE4A-114C-EB88307ABA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304" y="3924763"/>
            <a:ext cx="1783401" cy="193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5112F33-4AC0-969D-1F1F-4DACE75064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207" y="3924763"/>
            <a:ext cx="1979286" cy="193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F6BF869-6F93-1340-77B6-C351C060C1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698" y="3924763"/>
            <a:ext cx="1783401" cy="1935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948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/>
                <a:cs typeface="Times New Roman"/>
              </a:rPr>
              <a:t>Data Preparation:</a:t>
            </a:r>
            <a:endParaRPr lang="en-US" sz="3600" dirty="0">
              <a:latin typeface="Times New Roman"/>
              <a:cs typeface="Times New Roman"/>
            </a:endParaRPr>
          </a:p>
          <a:p>
            <a:br>
              <a:rPr lang="en-US" sz="2400" b="1" dirty="0">
                <a:latin typeface="Times New Roman"/>
                <a:ea typeface="Calibri Light"/>
                <a:cs typeface="Times New Roman"/>
              </a:rPr>
            </a:br>
            <a:r>
              <a:rPr lang="en-US" sz="2800" b="1" dirty="0">
                <a:latin typeface="Times New Roman"/>
                <a:ea typeface="Calibri Light"/>
                <a:cs typeface="Times New Roman"/>
              </a:rPr>
              <a:t>Augmented Dataset: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514893"/>
              </p:ext>
            </p:extLst>
          </p:nvPr>
        </p:nvGraphicFramePr>
        <p:xfrm>
          <a:off x="838200" y="1888337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2400" b="1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 </a:t>
                      </a:r>
                      <a:endParaRPr lang="en-IN" sz="2400" b="1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860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7097" y="4691270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14017 augmented images of dimensions 224x224.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685DA-2A68-8388-EEC7-507B8346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CF2F-2F85-4507-91C1-EAA15D783CE5}" type="datetime1">
              <a:rPr lang="en-IN" smtClean="0"/>
              <a:t>01-03-2025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E13B08-0E15-E6DC-0144-C8F9241F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2F35-DA0D-5452-30C2-C2D5B0F8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7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8658-5CD8-1A58-2386-BD10EE8A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23" y="48465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EE0982-57BD-C40C-1F59-541248E80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23" y="1810222"/>
            <a:ext cx="10515600" cy="341637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17AD-2FB2-AD5E-0EAB-09728240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C8B-ABA6-4FAB-83B6-BFD57C63C84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C2C3-B62D-CCB5-D77E-F45509BD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55237-A9DB-85EE-6B4E-F565FA81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31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20AB-C85B-6A12-D3BA-2330E1AD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1588-236C-2D3C-A091-4DB7F156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VGG16 has 16 weight layers: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1.13 convolutional layers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3 fully connected layers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3. Max-pooling layers after some of the convolutional layers.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is commonly used as a pretrained model, meaning it can be fine-tuned for specific tasks such as object detection and image classification.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6662EC-EF4C-4FFE-F6B3-74F558E6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B8B5-AE9C-4B98-B85B-1F550F5453EC}" type="datetime1">
              <a:rPr lang="en-IN" smtClean="0"/>
              <a:t>01-03-2025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468265-4434-A3C4-91DF-86F53944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D5AAB6-5CBB-EFE6-FFAE-00967F59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73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9A42-F109-0135-22A0-D5D4C4927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472"/>
            <a:ext cx="10515600" cy="707129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/>
                <a:cs typeface="calibri light"/>
              </a:rPr>
            </a:br>
            <a:r>
              <a:rPr lang="en-US" sz="3600" b="1" dirty="0">
                <a:latin typeface="Times New Roman"/>
                <a:cs typeface="calibri light"/>
              </a:rPr>
              <a:t>EfficientNetV2B0</a:t>
            </a:r>
          </a:p>
          <a:p>
            <a:endParaRPr lang="en-US" b="1" dirty="0">
              <a:latin typeface="Times New Roman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8E27-D1E1-4F47-4969-AD1AEC7B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017"/>
            <a:ext cx="10515600" cy="4759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 err="1">
                <a:latin typeface="Times New Roman"/>
                <a:ea typeface="+mn-lt"/>
                <a:cs typeface="+mn-lt"/>
              </a:rPr>
              <a:t>EfficientNet</a:t>
            </a:r>
            <a:r>
              <a:rPr lang="en-US" sz="2400" dirty="0">
                <a:latin typeface="Times New Roman"/>
                <a:ea typeface="+mn-lt"/>
                <a:cs typeface="+mn-lt"/>
              </a:rPr>
              <a:t>, introduced by Google AI researchers in 2019, excels in tasks like object detection and image segmentation.</a:t>
            </a:r>
            <a:endParaRPr lang="en-US" sz="2400" dirty="0">
              <a:latin typeface="Times New Roman"/>
              <a:cs typeface="Calibri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It employs compound scaling to optimize model dimensions—width, depth, and resolution.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The architecture achieves efficiency without compromising accuracy, overcoming traditional accuracy-resource trade-offs.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The EfficientNetV2B0 architecture consists of 9 layers in total. These layers include, Conv2D Layers, Global Average Pooling Layer.</a:t>
            </a:r>
            <a:endParaRPr lang="en-US" sz="2400" dirty="0">
              <a:latin typeface="Times New Roman"/>
              <a:cs typeface="Calibri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97E6F-C95D-64BF-AE06-3C073596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DD9B-2A39-4CB0-A14E-470599825869}" type="datetime1">
              <a:rPr lang="en-IN" smtClean="0"/>
              <a:t>01-03-2025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3D65B-FA26-FD97-738D-E350C072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D1CF3-E5C5-A355-0A86-E772188E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5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03BC-0A47-60FA-583A-1D362FB6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65" y="277917"/>
            <a:ext cx="10083229" cy="89859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/>
                <a:cs typeface="Calibri Light"/>
              </a:rPr>
            </a:br>
            <a:r>
              <a:rPr lang="en-US" sz="3600" b="1" dirty="0">
                <a:latin typeface="Times New Roman"/>
                <a:cs typeface="Calibri Light"/>
              </a:rPr>
              <a:t>RESNET50</a:t>
            </a:r>
            <a:r>
              <a:rPr lang="en-US" b="1" dirty="0">
                <a:latin typeface="Times New Roman"/>
                <a:cs typeface="Calibri Light"/>
              </a:rPr>
              <a:t>:</a:t>
            </a:r>
            <a:endParaRPr lang="en-US" b="1" dirty="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00F1-7257-273D-D709-68DCD7E36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65" y="1355900"/>
            <a:ext cx="11298476" cy="4821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ResNet-50 was developed by Microsoft Research Asia and released in 2015.</a:t>
            </a:r>
          </a:p>
          <a:p>
            <a:pPr algn="just"/>
            <a:r>
              <a:rPr lang="en-US" sz="2400" b="1" dirty="0">
                <a:latin typeface="Times New Roman"/>
                <a:ea typeface="+mn-lt"/>
                <a:cs typeface="+mn-lt"/>
              </a:rPr>
              <a:t>50 layers</a:t>
            </a:r>
            <a:r>
              <a:rPr lang="en-US" sz="2400" dirty="0">
                <a:latin typeface="Times New Roman"/>
                <a:ea typeface="+mn-lt"/>
                <a:cs typeface="+mn-lt"/>
              </a:rPr>
              <a:t> in total, consisting of:</a:t>
            </a: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 Conv layer (7x7 convolution)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 Max-pooling layer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16 Residual blocks (each consisting of 3 convolutional layers)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Fully connected (FC) layer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ea typeface="+mn-lt"/>
                <a:cs typeface="+mn-lt"/>
              </a:rPr>
              <a:t>ResNet-50 is a convolutional neural network (CNN) that excels at image classification.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Calibri"/>
              </a:rPr>
              <a:t>Feature Hierarchy in ResNet50 are Low-level features and High-level features.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0E232-70D6-42D2-DA28-4DBD25CE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A985-A323-49F1-BFF7-9161B6D2AD5E}" type="datetime1">
              <a:rPr lang="en-IN" smtClean="0"/>
              <a:t>01-03-2025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BBA44-F4AC-FB4E-9A69-AB2298DA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000F0-6485-9640-21EF-296AA2EA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413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70C5-6AFE-F227-AFDC-29EE7CD2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432"/>
            <a:ext cx="10377948" cy="434002"/>
          </a:xfrm>
        </p:spPr>
        <p:txBody>
          <a:bodyPr>
            <a:noAutofit/>
          </a:bodyPr>
          <a:lstStyle/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016B72B-E7E3-7087-60E4-1B2247CB8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859858"/>
              </p:ext>
            </p:extLst>
          </p:nvPr>
        </p:nvGraphicFramePr>
        <p:xfrm>
          <a:off x="838199" y="1825625"/>
          <a:ext cx="10720226" cy="2787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24381">
                  <a:extLst>
                    <a:ext uri="{9D8B030D-6E8A-4147-A177-3AD203B41FA5}">
                      <a16:colId xmlns:a16="http://schemas.microsoft.com/office/drawing/2014/main" val="2379092079"/>
                    </a:ext>
                  </a:extLst>
                </a:gridCol>
                <a:gridCol w="1944576">
                  <a:extLst>
                    <a:ext uri="{9D8B030D-6E8A-4147-A177-3AD203B41FA5}">
                      <a16:colId xmlns:a16="http://schemas.microsoft.com/office/drawing/2014/main" val="2182898991"/>
                    </a:ext>
                  </a:extLst>
                </a:gridCol>
                <a:gridCol w="1794223">
                  <a:extLst>
                    <a:ext uri="{9D8B030D-6E8A-4147-A177-3AD203B41FA5}">
                      <a16:colId xmlns:a16="http://schemas.microsoft.com/office/drawing/2014/main" val="1857647232"/>
                    </a:ext>
                  </a:extLst>
                </a:gridCol>
                <a:gridCol w="1913001">
                  <a:extLst>
                    <a:ext uri="{9D8B030D-6E8A-4147-A177-3AD203B41FA5}">
                      <a16:colId xmlns:a16="http://schemas.microsoft.com/office/drawing/2014/main" val="840394415"/>
                    </a:ext>
                  </a:extLst>
                </a:gridCol>
                <a:gridCol w="2144045">
                  <a:extLst>
                    <a:ext uri="{9D8B030D-6E8A-4147-A177-3AD203B41FA5}">
                      <a16:colId xmlns:a16="http://schemas.microsoft.com/office/drawing/2014/main" val="3195993916"/>
                    </a:ext>
                  </a:extLst>
                </a:gridCol>
              </a:tblGrid>
              <a:tr h="699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 score</a:t>
                      </a:r>
                      <a:endParaRPr lang="en-IN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57342"/>
                  </a:ext>
                </a:extLst>
              </a:tr>
              <a:tr h="6992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VGG- 16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0.8231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84996"/>
                  </a:ext>
                </a:extLst>
              </a:tr>
              <a:tr h="75138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0.9087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0.8382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75"/>
                        </a:lnSpc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875"/>
                        </a:lnSpc>
                        <a:buNone/>
                      </a:pPr>
                      <a:r>
                        <a:rPr lang="en-IN" sz="2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0.7822</a:t>
                      </a:r>
                      <a:endParaRPr lang="en-US" sz="2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6" marR="51206" marT="25603" marB="25603"/>
                </a:tc>
                <a:extLst>
                  <a:ext uri="{0D108BD9-81ED-4DB2-BD59-A6C34878D82A}">
                    <a16:rowId xmlns:a16="http://schemas.microsoft.com/office/drawing/2014/main" val="2716406163"/>
                  </a:ext>
                </a:extLst>
              </a:tr>
              <a:tr h="6376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EfficientNetB2V0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0.8708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0.8881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0.8708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0.8486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49013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9D95A2E-7404-9233-50A5-B0F4556A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0218-E582-42F6-A50F-FD84561A5F66}" type="datetime1">
              <a:rPr lang="en-IN" smtClean="0"/>
              <a:t>01-03-2025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1F0FEE2-8115-823F-D14D-C32A81A6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11D44C-048E-2B53-8F8E-67D67663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492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1B44-5965-942E-4389-19776BB8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C8B-ABA6-4FAB-83B6-BFD57C63C84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E83D4-A975-8FA2-1ACA-3C1ACDFF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F7FA0-9228-FF64-54EB-64952823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80257B-9457-2C1A-B483-5E66ADE86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37" y="1447891"/>
            <a:ext cx="3738139" cy="3150635"/>
          </a:xfrm>
          <a:prstGeom prst="rect">
            <a:avLst/>
          </a:prstGeom>
        </p:spPr>
      </p:pic>
      <p:pic>
        <p:nvPicPr>
          <p:cNvPr id="8" name="Content Placeholder 8" descr="A diagram of a confusion matrix">
            <a:extLst>
              <a:ext uri="{FF2B5EF4-FFF2-40B4-BE49-F238E27FC236}">
                <a16:creationId xmlns:a16="http://schemas.microsoft.com/office/drawing/2014/main" id="{54D8BFA7-1FFA-8676-2AF5-F9A482C0F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220" y="1447890"/>
            <a:ext cx="4031560" cy="3150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EE18F-BF12-EA73-8A92-A86D89F2F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243" y="1447891"/>
            <a:ext cx="3738139" cy="31506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30092A-101A-4F63-8F1F-688271F945E1}"/>
              </a:ext>
            </a:extLst>
          </p:cNvPr>
          <p:cNvSpPr txBox="1"/>
          <p:nvPr/>
        </p:nvSpPr>
        <p:spPr>
          <a:xfrm>
            <a:off x="88037" y="4889634"/>
            <a:ext cx="11944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VGG16                                                         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calibri light" panose="020F0302020204030204" pitchFamily="34" charset="0"/>
              </a:rPr>
              <a:t>EfficientNetV2B0                                       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Calibri Light" panose="020F0302020204030204" pitchFamily="34" charset="0"/>
              </a:rPr>
              <a:t>RESNET50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F24BA-002F-A74F-AFAF-F46F77679AF7}"/>
              </a:ext>
            </a:extLst>
          </p:cNvPr>
          <p:cNvSpPr txBox="1"/>
          <p:nvPr/>
        </p:nvSpPr>
        <p:spPr>
          <a:xfrm>
            <a:off x="240632" y="779646"/>
            <a:ext cx="5409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</p:spTree>
    <p:extLst>
      <p:ext uri="{BB962C8B-B14F-4D97-AF65-F5344CB8AC3E}">
        <p14:creationId xmlns:p14="http://schemas.microsoft.com/office/powerpoint/2010/main" val="227302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64A3EE-8437-62F1-3B78-7421057EE478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AB15BAE-207E-4C99-9EC2-E9102282000A}" type="datetime1">
              <a:rPr lang="en-IN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01-03-2025</a:t>
            </a:fld>
            <a:endParaRPr lang="en-GB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273E62B-FD4E-D1CD-C0EE-455D6510520C}"/>
              </a:ext>
            </a:extLst>
          </p:cNvPr>
          <p:cNvSpPr txBox="1"/>
          <p:nvPr/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898989"/>
                </a:solidFill>
                <a:uFillTx/>
                <a:latin typeface="Calibri"/>
              </a:rPr>
              <a:t>Review 1.3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40D2D7-2F28-9FE6-68C1-BC64499EAA4F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63ABE42-A201-4224-9B6E-C58503A7929B}" type="slidenum">
              <a:rPr sz="1200"/>
              <a:t>15</a:t>
            </a:fld>
            <a:endParaRPr lang="en-GB" sz="1200" b="0" i="0" u="none" strike="noStrike" kern="1200" cap="none" spc="0" baseline="0" dirty="0">
              <a:solidFill>
                <a:srgbClr val="898989"/>
              </a:solidFill>
              <a:uFillTx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CA8E83-D6E6-74ED-942E-CDE393C0C31A}"/>
              </a:ext>
            </a:extLst>
          </p:cNvPr>
          <p:cNvSpPr/>
          <p:nvPr/>
        </p:nvSpPr>
        <p:spPr>
          <a:xfrm>
            <a:off x="561084" y="923928"/>
            <a:ext cx="132536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Dataset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6" name="Rectangle: Rounded Corners 5" descr="PREPROCESSING">
            <a:extLst>
              <a:ext uri="{FF2B5EF4-FFF2-40B4-BE49-F238E27FC236}">
                <a16:creationId xmlns:a16="http://schemas.microsoft.com/office/drawing/2014/main" id="{F428B75A-C934-6AEA-5A0C-0EF9B93AC59C}"/>
              </a:ext>
            </a:extLst>
          </p:cNvPr>
          <p:cNvSpPr/>
          <p:nvPr/>
        </p:nvSpPr>
        <p:spPr>
          <a:xfrm>
            <a:off x="240075" y="1970184"/>
            <a:ext cx="1921264" cy="3173004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7" name="Rectangle: Rounded Corners 20">
            <a:extLst>
              <a:ext uri="{FF2B5EF4-FFF2-40B4-BE49-F238E27FC236}">
                <a16:creationId xmlns:a16="http://schemas.microsoft.com/office/drawing/2014/main" id="{4B098572-479F-1A37-B7D0-8A6EDEA1AF31}"/>
              </a:ext>
            </a:extLst>
          </p:cNvPr>
          <p:cNvSpPr/>
          <p:nvPr/>
        </p:nvSpPr>
        <p:spPr>
          <a:xfrm>
            <a:off x="4045479" y="923928"/>
            <a:ext cx="2258632" cy="3955548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0F72CD28-831D-A6E8-E141-26280B8F91D8}"/>
              </a:ext>
            </a:extLst>
          </p:cNvPr>
          <p:cNvSpPr txBox="1"/>
          <p:nvPr/>
        </p:nvSpPr>
        <p:spPr>
          <a:xfrm>
            <a:off x="4288883" y="975180"/>
            <a:ext cx="20152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Total 10000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54FE6443-E3A6-B554-1D45-C7E297B0954D}"/>
              </a:ext>
            </a:extLst>
          </p:cNvPr>
          <p:cNvSpPr/>
          <p:nvPr/>
        </p:nvSpPr>
        <p:spPr>
          <a:xfrm>
            <a:off x="4160455" y="1417630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0 )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0" name="Rectangle 38">
            <a:extLst>
              <a:ext uri="{FF2B5EF4-FFF2-40B4-BE49-F238E27FC236}">
                <a16:creationId xmlns:a16="http://schemas.microsoft.com/office/drawing/2014/main" id="{2FA610C0-4FC8-8901-DA6C-B1A75640DB99}"/>
              </a:ext>
            </a:extLst>
          </p:cNvPr>
          <p:cNvSpPr/>
          <p:nvPr/>
        </p:nvSpPr>
        <p:spPr>
          <a:xfrm>
            <a:off x="4160455" y="2108076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1 )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1" name="Rectangle 39">
            <a:extLst>
              <a:ext uri="{FF2B5EF4-FFF2-40B4-BE49-F238E27FC236}">
                <a16:creationId xmlns:a16="http://schemas.microsoft.com/office/drawing/2014/main" id="{45120E12-EFA0-30A5-768F-23CC8140C695}"/>
              </a:ext>
            </a:extLst>
          </p:cNvPr>
          <p:cNvSpPr/>
          <p:nvPr/>
        </p:nvSpPr>
        <p:spPr>
          <a:xfrm>
            <a:off x="4160455" y="2803248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2 )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2" name="Rectangle 40">
            <a:extLst>
              <a:ext uri="{FF2B5EF4-FFF2-40B4-BE49-F238E27FC236}">
                <a16:creationId xmlns:a16="http://schemas.microsoft.com/office/drawing/2014/main" id="{FE7ACF12-95D3-6546-EA21-6C078DB2A93D}"/>
              </a:ext>
            </a:extLst>
          </p:cNvPr>
          <p:cNvSpPr/>
          <p:nvPr/>
        </p:nvSpPr>
        <p:spPr>
          <a:xfrm>
            <a:off x="4160455" y="3513728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3 ) Images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3" name="Rectangle 41">
            <a:extLst>
              <a:ext uri="{FF2B5EF4-FFF2-40B4-BE49-F238E27FC236}">
                <a16:creationId xmlns:a16="http://schemas.microsoft.com/office/drawing/2014/main" id="{04710508-6387-F31E-4796-865565FF25B6}"/>
              </a:ext>
            </a:extLst>
          </p:cNvPr>
          <p:cNvSpPr/>
          <p:nvPr/>
        </p:nvSpPr>
        <p:spPr>
          <a:xfrm>
            <a:off x="4160455" y="4165786"/>
            <a:ext cx="1991636" cy="5240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2000 (Grade 4 ) Images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4" name="Rectangle 52">
            <a:extLst>
              <a:ext uri="{FF2B5EF4-FFF2-40B4-BE49-F238E27FC236}">
                <a16:creationId xmlns:a16="http://schemas.microsoft.com/office/drawing/2014/main" id="{44E095AD-E396-6C87-E27C-F3305EEB75C9}"/>
              </a:ext>
            </a:extLst>
          </p:cNvPr>
          <p:cNvSpPr/>
          <p:nvPr/>
        </p:nvSpPr>
        <p:spPr>
          <a:xfrm>
            <a:off x="7039334" y="1509555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 8000 images 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3078393E-E853-6ADE-7677-889FFE152884}"/>
              </a:ext>
            </a:extLst>
          </p:cNvPr>
          <p:cNvSpPr/>
          <p:nvPr/>
        </p:nvSpPr>
        <p:spPr>
          <a:xfrm>
            <a:off x="9297966" y="1509555"/>
            <a:ext cx="1767151" cy="7027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Validation 2000 images 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2E9EA304-D232-9CE2-F595-C54E5261BDCA}"/>
              </a:ext>
            </a:extLst>
          </p:cNvPr>
          <p:cNvSpPr/>
          <p:nvPr/>
        </p:nvSpPr>
        <p:spPr>
          <a:xfrm>
            <a:off x="406194" y="2561636"/>
            <a:ext cx="1613047" cy="61875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Median Filter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A389F4F1-9DE9-E8FD-1A36-ACAA30A24BD2}"/>
              </a:ext>
            </a:extLst>
          </p:cNvPr>
          <p:cNvSpPr/>
          <p:nvPr/>
        </p:nvSpPr>
        <p:spPr>
          <a:xfrm>
            <a:off x="406185" y="3337352"/>
            <a:ext cx="1613047" cy="7705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Histogram Equalization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FF458C49-208A-5183-0BDB-B5022AD5B1BF}"/>
              </a:ext>
            </a:extLst>
          </p:cNvPr>
          <p:cNvSpPr/>
          <p:nvPr/>
        </p:nvSpPr>
        <p:spPr>
          <a:xfrm>
            <a:off x="406185" y="4332719"/>
            <a:ext cx="1613047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Unsharp Masking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F94B7D42-3D5F-4C83-FC74-950AED9B7CDA}"/>
              </a:ext>
            </a:extLst>
          </p:cNvPr>
          <p:cNvSpPr txBox="1"/>
          <p:nvPr/>
        </p:nvSpPr>
        <p:spPr>
          <a:xfrm>
            <a:off x="416445" y="2081512"/>
            <a:ext cx="1756882" cy="3231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5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PREPROCESSING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3159A019-8386-E688-FEB0-8930F667A334}"/>
              </a:ext>
            </a:extLst>
          </p:cNvPr>
          <p:cNvSpPr/>
          <p:nvPr/>
        </p:nvSpPr>
        <p:spPr>
          <a:xfrm>
            <a:off x="2359087" y="2803248"/>
            <a:ext cx="1521113" cy="58562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Augmentation</a:t>
            </a: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1" name="Rectangle 66">
            <a:extLst>
              <a:ext uri="{FF2B5EF4-FFF2-40B4-BE49-F238E27FC236}">
                <a16:creationId xmlns:a16="http://schemas.microsoft.com/office/drawing/2014/main" id="{5E9356D3-84F8-5D1B-DB99-E717D8C57AEF}"/>
              </a:ext>
            </a:extLst>
          </p:cNvPr>
          <p:cNvSpPr/>
          <p:nvPr/>
        </p:nvSpPr>
        <p:spPr>
          <a:xfrm>
            <a:off x="8065602" y="2581195"/>
            <a:ext cx="1953926" cy="70264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ResNet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2" name="Rectangle 73">
            <a:extLst>
              <a:ext uri="{FF2B5EF4-FFF2-40B4-BE49-F238E27FC236}">
                <a16:creationId xmlns:a16="http://schemas.microsoft.com/office/drawing/2014/main" id="{D2015AF3-DE3F-E842-1AA5-748B1BD91CAB}"/>
              </a:ext>
            </a:extLst>
          </p:cNvPr>
          <p:cNvSpPr/>
          <p:nvPr/>
        </p:nvSpPr>
        <p:spPr>
          <a:xfrm>
            <a:off x="8065602" y="3460025"/>
            <a:ext cx="1953926" cy="88552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Convolutional Block Attention Module(CBAM)</a:t>
            </a:r>
            <a:endParaRPr lang="en-IN" sz="1800" b="0" i="0" u="none" strike="noStrike" kern="1200" cap="none" spc="0" baseline="0" dirty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BE8F6CD8-E6A1-EF9C-8A21-9155EA7F8AE5}"/>
              </a:ext>
            </a:extLst>
          </p:cNvPr>
          <p:cNvSpPr/>
          <p:nvPr/>
        </p:nvSpPr>
        <p:spPr>
          <a:xfrm>
            <a:off x="8065602" y="4582067"/>
            <a:ext cx="1953926" cy="6906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SVM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244303D-3E9B-FE56-AD16-6C7FE3C32C97}"/>
              </a:ext>
            </a:extLst>
          </p:cNvPr>
          <p:cNvSpPr/>
          <p:nvPr/>
        </p:nvSpPr>
        <p:spPr>
          <a:xfrm>
            <a:off x="8065602" y="5499869"/>
            <a:ext cx="1953926" cy="770025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Output Prediction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AD57815F-1BE8-0805-771E-76954DC0D08F}"/>
              </a:ext>
            </a:extLst>
          </p:cNvPr>
          <p:cNvSpPr txBox="1"/>
          <p:nvPr/>
        </p:nvSpPr>
        <p:spPr>
          <a:xfrm>
            <a:off x="9982203" y="4625958"/>
            <a:ext cx="163787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Machine learning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classifier</a:t>
            </a:r>
            <a:endParaRPr lang="en-IN" sz="16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26" name="Arrow: Right 111">
            <a:extLst>
              <a:ext uri="{FF2B5EF4-FFF2-40B4-BE49-F238E27FC236}">
                <a16:creationId xmlns:a16="http://schemas.microsoft.com/office/drawing/2014/main" id="{5BAAE198-254C-448F-531C-08EE1FD0CCE5}"/>
              </a:ext>
            </a:extLst>
          </p:cNvPr>
          <p:cNvSpPr/>
          <p:nvPr/>
        </p:nvSpPr>
        <p:spPr>
          <a:xfrm rot="5400013">
            <a:off x="1017316" y="1497550"/>
            <a:ext cx="390777" cy="484632"/>
          </a:xfrm>
          <a:custGeom>
            <a:avLst>
              <a:gd name="f0" fmla="val 108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cxnSp>
        <p:nvCxnSpPr>
          <p:cNvPr id="27" name="Connector: Elbow 113">
            <a:extLst>
              <a:ext uri="{FF2B5EF4-FFF2-40B4-BE49-F238E27FC236}">
                <a16:creationId xmlns:a16="http://schemas.microsoft.com/office/drawing/2014/main" id="{18FEC2D3-B7CA-6921-1E4B-2002AEB4415D}"/>
              </a:ext>
            </a:extLst>
          </p:cNvPr>
          <p:cNvCxnSpPr>
            <a:stCxn id="7" idx="0"/>
            <a:endCxn id="14" idx="0"/>
          </p:cNvCxnSpPr>
          <p:nvPr/>
        </p:nvCxnSpPr>
        <p:spPr>
          <a:xfrm rot="16200000" flipH="1">
            <a:off x="6256038" y="-157316"/>
            <a:ext cx="585627" cy="2748115"/>
          </a:xfrm>
          <a:prstGeom prst="bentConnector3">
            <a:avLst>
              <a:gd name="adj1" fmla="val -39035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8" name="Connector: Elbow 120">
            <a:extLst>
              <a:ext uri="{FF2B5EF4-FFF2-40B4-BE49-F238E27FC236}">
                <a16:creationId xmlns:a16="http://schemas.microsoft.com/office/drawing/2014/main" id="{C65B51D6-4929-F0D8-1EA8-3D981510C96D}"/>
              </a:ext>
            </a:extLst>
          </p:cNvPr>
          <p:cNvCxnSpPr>
            <a:stCxn id="7" idx="0"/>
            <a:endCxn id="15" idx="0"/>
          </p:cNvCxnSpPr>
          <p:nvPr/>
        </p:nvCxnSpPr>
        <p:spPr>
          <a:xfrm rot="16200000" flipH="1">
            <a:off x="7385354" y="-1286632"/>
            <a:ext cx="585627" cy="5006747"/>
          </a:xfrm>
          <a:prstGeom prst="bentConnector3">
            <a:avLst>
              <a:gd name="adj1" fmla="val -39035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9" name="Straight Arrow Connector 129">
            <a:extLst>
              <a:ext uri="{FF2B5EF4-FFF2-40B4-BE49-F238E27FC236}">
                <a16:creationId xmlns:a16="http://schemas.microsoft.com/office/drawing/2014/main" id="{FD12CD68-64F0-C83B-F217-97CFF4AD4F29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9042565" y="3283838"/>
            <a:ext cx="0" cy="176187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0" name="Straight Arrow Connector 134">
            <a:extLst>
              <a:ext uri="{FF2B5EF4-FFF2-40B4-BE49-F238E27FC236}">
                <a16:creationId xmlns:a16="http://schemas.microsoft.com/office/drawing/2014/main" id="{E3CAAC5D-C98A-615B-17CD-1B76B644B22A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9042565" y="4345548"/>
            <a:ext cx="0" cy="236519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1" name="Straight Arrow Connector 136">
            <a:extLst>
              <a:ext uri="{FF2B5EF4-FFF2-40B4-BE49-F238E27FC236}">
                <a16:creationId xmlns:a16="http://schemas.microsoft.com/office/drawing/2014/main" id="{B714FF9A-568C-EBD2-A2AA-AEEAAFEED23E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9042565" y="5272676"/>
            <a:ext cx="0" cy="227193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2" name="Connector: Elbow 138">
            <a:extLst>
              <a:ext uri="{FF2B5EF4-FFF2-40B4-BE49-F238E27FC236}">
                <a16:creationId xmlns:a16="http://schemas.microsoft.com/office/drawing/2014/main" id="{B34A9ABA-5B3D-225D-15B0-A90004D46D42}"/>
              </a:ext>
            </a:extLst>
          </p:cNvPr>
          <p:cNvCxnSpPr>
            <a:stCxn id="14" idx="2"/>
            <a:endCxn id="21" idx="0"/>
          </p:cNvCxnSpPr>
          <p:nvPr/>
        </p:nvCxnSpPr>
        <p:spPr>
          <a:xfrm rot="16200000" flipH="1">
            <a:off x="8298280" y="1836909"/>
            <a:ext cx="368915" cy="1119655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3" name="Connector: Elbow 140">
            <a:extLst>
              <a:ext uri="{FF2B5EF4-FFF2-40B4-BE49-F238E27FC236}">
                <a16:creationId xmlns:a16="http://schemas.microsoft.com/office/drawing/2014/main" id="{A837E6D2-A785-B6E8-441E-7CFFA82CDC6C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 rot="5400000">
            <a:off x="9427597" y="1827249"/>
            <a:ext cx="368915" cy="1138977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34" name="Rectangle 141">
            <a:extLst>
              <a:ext uri="{FF2B5EF4-FFF2-40B4-BE49-F238E27FC236}">
                <a16:creationId xmlns:a16="http://schemas.microsoft.com/office/drawing/2014/main" id="{849F2F6E-2DD1-8227-B5BD-1A48DAEDC70C}"/>
              </a:ext>
            </a:extLst>
          </p:cNvPr>
          <p:cNvSpPr/>
          <p:nvPr/>
        </p:nvSpPr>
        <p:spPr>
          <a:xfrm>
            <a:off x="10497595" y="2574292"/>
            <a:ext cx="1637873" cy="70954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Grad CAM</a:t>
            </a:r>
            <a:endParaRPr lang="en-IN" sz="18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35" name="Straight Arrow Connector 143">
            <a:extLst>
              <a:ext uri="{FF2B5EF4-FFF2-40B4-BE49-F238E27FC236}">
                <a16:creationId xmlns:a16="http://schemas.microsoft.com/office/drawing/2014/main" id="{7E8BBA16-CAE7-C000-0147-8D2F67C268C0}"/>
              </a:ext>
            </a:extLst>
          </p:cNvPr>
          <p:cNvCxnSpPr>
            <a:stCxn id="21" idx="3"/>
            <a:endCxn id="34" idx="1"/>
          </p:cNvCxnSpPr>
          <p:nvPr/>
        </p:nvCxnSpPr>
        <p:spPr>
          <a:xfrm flipV="1">
            <a:off x="10019528" y="2929065"/>
            <a:ext cx="478067" cy="3452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36" name="TextBox 8">
            <a:extLst>
              <a:ext uri="{FF2B5EF4-FFF2-40B4-BE49-F238E27FC236}">
                <a16:creationId xmlns:a16="http://schemas.microsoft.com/office/drawing/2014/main" id="{6CD01CBA-1BDA-FCF0-F7F6-B30F86AF85C4}"/>
              </a:ext>
            </a:extLst>
          </p:cNvPr>
          <p:cNvSpPr txBox="1"/>
          <p:nvPr/>
        </p:nvSpPr>
        <p:spPr>
          <a:xfrm>
            <a:off x="10462034" y="3256562"/>
            <a:ext cx="1783528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181717"/>
                </a:solidFill>
                <a:uFillTx/>
                <a:latin typeface="Times New Roman" pitchFamily="18"/>
                <a:cs typeface="Times New Roman" pitchFamily="18"/>
              </a:rPr>
              <a:t>Feature Extraction</a:t>
            </a:r>
            <a:endParaRPr lang="en-IN" sz="1600" b="0" i="0" u="none" strike="noStrike" kern="1200" cap="none" spc="0" baseline="0">
              <a:solidFill>
                <a:srgbClr val="181717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37" name="Rectangle 48">
            <a:extLst>
              <a:ext uri="{FF2B5EF4-FFF2-40B4-BE49-F238E27FC236}">
                <a16:creationId xmlns:a16="http://schemas.microsoft.com/office/drawing/2014/main" id="{7D6442AE-6C87-DD30-58D6-ACBE0379CFB9}"/>
              </a:ext>
            </a:extLst>
          </p:cNvPr>
          <p:cNvSpPr/>
          <p:nvPr/>
        </p:nvSpPr>
        <p:spPr>
          <a:xfrm>
            <a:off x="5976143" y="5014898"/>
            <a:ext cx="1921264" cy="129822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(To be given after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Training model)</a:t>
            </a:r>
            <a:endParaRPr lang="en-IN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cxnSp>
        <p:nvCxnSpPr>
          <p:cNvPr id="38" name="Connector: Elbow 170">
            <a:extLst>
              <a:ext uri="{FF2B5EF4-FFF2-40B4-BE49-F238E27FC236}">
                <a16:creationId xmlns:a16="http://schemas.microsoft.com/office/drawing/2014/main" id="{8D9650D0-7B24-7874-1EE3-3E73E5A25521}"/>
              </a:ext>
            </a:extLst>
          </p:cNvPr>
          <p:cNvCxnSpPr>
            <a:stCxn id="37" idx="0"/>
            <a:endCxn id="21" idx="1"/>
          </p:cNvCxnSpPr>
          <p:nvPr/>
        </p:nvCxnSpPr>
        <p:spPr>
          <a:xfrm rot="5400000" flipH="1" flipV="1">
            <a:off x="6459998" y="3409295"/>
            <a:ext cx="2082381" cy="1128827"/>
          </a:xfrm>
          <a:prstGeom prst="bentConnector2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39" name="Straight Arrow Connector 172">
            <a:extLst>
              <a:ext uri="{FF2B5EF4-FFF2-40B4-BE49-F238E27FC236}">
                <a16:creationId xmlns:a16="http://schemas.microsoft.com/office/drawing/2014/main" id="{0B703237-95A3-C058-2415-015F22C1624A}"/>
              </a:ext>
            </a:extLst>
          </p:cNvPr>
          <p:cNvCxnSpPr>
            <a:endCxn id="20" idx="1"/>
          </p:cNvCxnSpPr>
          <p:nvPr/>
        </p:nvCxnSpPr>
        <p:spPr>
          <a:xfrm>
            <a:off x="2161339" y="3092519"/>
            <a:ext cx="197748" cy="3547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40" name="Straight Arrow Connector 174">
            <a:extLst>
              <a:ext uri="{FF2B5EF4-FFF2-40B4-BE49-F238E27FC236}">
                <a16:creationId xmlns:a16="http://schemas.microsoft.com/office/drawing/2014/main" id="{6DFA07FA-570E-8AE4-7279-793BAD411DDF}"/>
              </a:ext>
            </a:extLst>
          </p:cNvPr>
          <p:cNvCxnSpPr>
            <a:stCxn id="20" idx="3"/>
          </p:cNvCxnSpPr>
          <p:nvPr/>
        </p:nvCxnSpPr>
        <p:spPr>
          <a:xfrm>
            <a:off x="3880201" y="3096066"/>
            <a:ext cx="156390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41" name="Title 1">
            <a:extLst>
              <a:ext uri="{FF2B5EF4-FFF2-40B4-BE49-F238E27FC236}">
                <a16:creationId xmlns:a16="http://schemas.microsoft.com/office/drawing/2014/main" id="{F6A7B0DC-E14A-F339-EE13-0F05EF692B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450" y="118533"/>
            <a:ext cx="4031754" cy="606512"/>
          </a:xfrm>
        </p:spPr>
        <p:txBody>
          <a:bodyPr/>
          <a:lstStyle/>
          <a:p>
            <a:pPr lvl="0"/>
            <a:r>
              <a:rPr lang="en-US" sz="3600" b="1">
                <a:latin typeface="Times New Roman"/>
                <a:cs typeface="Times New Roman"/>
              </a:rPr>
              <a:t>Methodology:</a:t>
            </a:r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D9E863AF-BD67-BE7C-9A9D-48A2D7BA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89787-FB7C-4CE1-A8FA-2A74255C42E2}" type="datetime1">
              <a:rPr lang="en-IN" smtClean="0"/>
              <a:t>01-03-2025</a:t>
            </a:fld>
            <a:endParaRPr lang="en-GB" dirty="0"/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47203D16-5B08-C705-18F2-6F4E56838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  <a:endParaRPr lang="en-GB" dirty="0"/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54FF4878-F271-CF15-1809-A36C2506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5F6B59-B8D2-6E66-6729-B8B2F7E34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773794"/>
              </p:ext>
            </p:extLst>
          </p:nvPr>
        </p:nvGraphicFramePr>
        <p:xfrm>
          <a:off x="1023133" y="1541121"/>
          <a:ext cx="10474719" cy="40069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13449">
                  <a:extLst>
                    <a:ext uri="{9D8B030D-6E8A-4147-A177-3AD203B41FA5}">
                      <a16:colId xmlns:a16="http://schemas.microsoft.com/office/drawing/2014/main" val="61656566"/>
                    </a:ext>
                  </a:extLst>
                </a:gridCol>
                <a:gridCol w="3480635">
                  <a:extLst>
                    <a:ext uri="{9D8B030D-6E8A-4147-A177-3AD203B41FA5}">
                      <a16:colId xmlns:a16="http://schemas.microsoft.com/office/drawing/2014/main" val="1991256025"/>
                    </a:ext>
                  </a:extLst>
                </a:gridCol>
                <a:gridCol w="3480635">
                  <a:extLst>
                    <a:ext uri="{9D8B030D-6E8A-4147-A177-3AD203B41FA5}">
                      <a16:colId xmlns:a16="http://schemas.microsoft.com/office/drawing/2014/main" val="3786853506"/>
                    </a:ext>
                  </a:extLst>
                </a:gridCol>
              </a:tblGrid>
              <a:tr h="1213777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 Technique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714351"/>
                  </a:ext>
                </a:extLst>
              </a:tr>
              <a:tr h="17012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Filter + Histogram Equalization + Unsharp masking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  <a:endParaRPr lang="en-US" sz="20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74.02</a:t>
                      </a:r>
                      <a:endParaRPr lang="en-US" sz="20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81832"/>
                  </a:ext>
                </a:extLst>
              </a:tr>
              <a:tr h="109189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Without Preprocessing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50.54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46.28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65862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1F1F1-1976-75FC-F0D1-BB795E7A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C8B-ABA6-4FAB-83B6-BFD57C63C84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E058D-4678-7AAA-FAF1-5DBB9930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97B41-6B51-83C5-566A-CE502C8D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18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D71D-4AE0-ADD2-C9CA-73665630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73" y="932380"/>
            <a:ext cx="10515597" cy="1021886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tuning Proposed  Model: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2D87-57D0-4FF2-74F8-A1082C35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C8B-ABA6-4FAB-83B6-BFD57C63C843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879C4-9575-6907-0234-9E3C6C39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5EA05-B3CB-0DB1-0EC7-055C75A9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ACE2A77-A314-CAA8-95D3-E10ECDC9D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025560"/>
              </p:ext>
            </p:extLst>
          </p:nvPr>
        </p:nvGraphicFramePr>
        <p:xfrm>
          <a:off x="597569" y="1825625"/>
          <a:ext cx="10515595" cy="39893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70305">
                  <a:extLst>
                    <a:ext uri="{9D8B030D-6E8A-4147-A177-3AD203B41FA5}">
                      <a16:colId xmlns:a16="http://schemas.microsoft.com/office/drawing/2014/main" val="714875885"/>
                    </a:ext>
                  </a:extLst>
                </a:gridCol>
                <a:gridCol w="1561672">
                  <a:extLst>
                    <a:ext uri="{9D8B030D-6E8A-4147-A177-3AD203B41FA5}">
                      <a16:colId xmlns:a16="http://schemas.microsoft.com/office/drawing/2014/main" val="447003172"/>
                    </a:ext>
                  </a:extLst>
                </a:gridCol>
                <a:gridCol w="1677380">
                  <a:extLst>
                    <a:ext uri="{9D8B030D-6E8A-4147-A177-3AD203B41FA5}">
                      <a16:colId xmlns:a16="http://schemas.microsoft.com/office/drawing/2014/main" val="272799477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1835620556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4265140082"/>
                    </a:ext>
                  </a:extLst>
                </a:gridCol>
              </a:tblGrid>
              <a:tr h="797910"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endParaRPr lang="en-US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endParaRPr lang="en-US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endParaRPr lang="en-US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17863"/>
                  </a:ext>
                </a:extLst>
              </a:tr>
              <a:tr h="797759"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+ CBAM + RF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83.57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74.38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412562"/>
                  </a:ext>
                </a:extLst>
              </a:tr>
              <a:tr h="797910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+ CBAM +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90.56</a:t>
                      </a:r>
                      <a:endParaRPr lang="en-US" sz="20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066557"/>
                  </a:ext>
                </a:extLst>
              </a:tr>
              <a:tr h="797910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+ CBAM + KNN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73.23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13067"/>
                  </a:ext>
                </a:extLst>
              </a:tr>
              <a:tr h="797910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+ CBAM + SVM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74.02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441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145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FA1A-22BA-272E-5EB0-5AC3DB49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248353"/>
            <a:ext cx="7574280" cy="481898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Proposed Model: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71E2A-6633-B9E5-3DFB-3314CC53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AA09-67FA-45D2-8A49-16918BEF67FB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65B3D-9596-C13F-07D5-E7C17C97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1A919-0FC8-9CD3-5055-A1110D5D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3F8F30-C379-DCF5-DCC4-BB344BDF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7"/>
          <a:stretch/>
        </p:blipFill>
        <p:spPr>
          <a:xfrm>
            <a:off x="6975110" y="2858687"/>
            <a:ext cx="3112871" cy="30957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A685C1-CB9C-0033-D806-E03460840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200" y="2843743"/>
            <a:ext cx="3110692" cy="311069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104334-84C3-FF9D-55FC-1DAE0D08D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43269"/>
              </p:ext>
            </p:extLst>
          </p:nvPr>
        </p:nvGraphicFramePr>
        <p:xfrm>
          <a:off x="1818524" y="903565"/>
          <a:ext cx="8096036" cy="12951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4009">
                  <a:extLst>
                    <a:ext uri="{9D8B030D-6E8A-4147-A177-3AD203B41FA5}">
                      <a16:colId xmlns:a16="http://schemas.microsoft.com/office/drawing/2014/main" val="2191781699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3291344392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205568322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4006162330"/>
                    </a:ext>
                  </a:extLst>
                </a:gridCol>
              </a:tblGrid>
              <a:tr h="7577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625407"/>
                  </a:ext>
                </a:extLst>
              </a:tr>
              <a:tr h="537402"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  <a:endParaRPr lang="en-US" sz="20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90.56</a:t>
                      </a:r>
                      <a:endParaRPr lang="en-US" sz="20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/>
                      <a:r>
                        <a:rPr lang="en-US" sz="20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59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59DA7E-4240-B90A-B6A4-6D4A7A537586}"/>
              </a:ext>
            </a:extLst>
          </p:cNvPr>
          <p:cNvSpPr txBox="1"/>
          <p:nvPr/>
        </p:nvSpPr>
        <p:spPr>
          <a:xfrm>
            <a:off x="2209800" y="2439759"/>
            <a:ext cx="7952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Normal Image                                                       Grad-CAM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B2ECB-7E51-F447-562C-508145CB8030}"/>
              </a:ext>
            </a:extLst>
          </p:cNvPr>
          <p:cNvSpPr txBox="1"/>
          <p:nvPr/>
        </p:nvSpPr>
        <p:spPr>
          <a:xfrm>
            <a:off x="2619910" y="6070663"/>
            <a:ext cx="9267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class 1                                                         Predicted Class 1</a:t>
            </a:r>
          </a:p>
        </p:txBody>
      </p:sp>
    </p:spTree>
    <p:extLst>
      <p:ext uri="{BB962C8B-B14F-4D97-AF65-F5344CB8AC3E}">
        <p14:creationId xmlns:p14="http://schemas.microsoft.com/office/powerpoint/2010/main" val="2584801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B46F-504B-2361-EE21-EFF461AD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of our proposed model: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55F92-2022-B2AA-8169-4F3BA7CE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C7B8-68F2-46D2-B5AF-15FD1701A657}" type="datetime1">
              <a:rPr lang="en-IN" smtClean="0"/>
              <a:t>01-03-2025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EA126-CE54-DF20-E0A9-F9F7C59D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EFCA-67B0-1520-99F1-2C422AA9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941462D-5D2C-A0E2-6685-10EF09CD3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151" y="1283719"/>
            <a:ext cx="5500536" cy="4893244"/>
          </a:xfrm>
        </p:spPr>
      </p:pic>
    </p:spTree>
    <p:extLst>
      <p:ext uri="{BB962C8B-B14F-4D97-AF65-F5344CB8AC3E}">
        <p14:creationId xmlns:p14="http://schemas.microsoft.com/office/powerpoint/2010/main" val="3601362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1F7009-90EE-B63C-5F53-9EF6A7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cs typeface="Calibri" panose="020F0502020204030204"/>
              </a:rPr>
              <a:t>Timeline:</a:t>
            </a:r>
            <a:br>
              <a:rPr lang="en-US" sz="4400" b="1" dirty="0">
                <a:latin typeface="Times New Roman"/>
                <a:cs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D24F0-4CBA-2212-FE6D-115407DCE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37099"/>
              </p:ext>
            </p:extLst>
          </p:nvPr>
        </p:nvGraphicFramePr>
        <p:xfrm>
          <a:off x="1181528" y="1510301"/>
          <a:ext cx="9246742" cy="45630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{93296810-A885-4BE3-A3E7-6D5BEEA58F35}</a:tableStyleId>
              </a:tblPr>
              <a:tblGrid>
                <a:gridCol w="1727173">
                  <a:extLst>
                    <a:ext uri="{9D8B030D-6E8A-4147-A177-3AD203B41FA5}">
                      <a16:colId xmlns:a16="http://schemas.microsoft.com/office/drawing/2014/main" val="283917520"/>
                    </a:ext>
                  </a:extLst>
                </a:gridCol>
                <a:gridCol w="1914090">
                  <a:extLst>
                    <a:ext uri="{9D8B030D-6E8A-4147-A177-3AD203B41FA5}">
                      <a16:colId xmlns:a16="http://schemas.microsoft.com/office/drawing/2014/main" val="523545415"/>
                    </a:ext>
                  </a:extLst>
                </a:gridCol>
                <a:gridCol w="5605479">
                  <a:extLst>
                    <a:ext uri="{9D8B030D-6E8A-4147-A177-3AD203B41FA5}">
                      <a16:colId xmlns:a16="http://schemas.microsoft.com/office/drawing/2014/main" val="2943249166"/>
                    </a:ext>
                  </a:extLst>
                </a:gridCol>
              </a:tblGrid>
              <a:tr h="606175">
                <a:tc>
                  <a:txBody>
                    <a:bodyPr/>
                    <a:lstStyle/>
                    <a:p>
                      <a:pPr marL="25400" marR="635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6265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preparation, Data Preprocessing, Literature survey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1664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Literature survey, Analysis of state-of-the-art models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8708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Building of classification model 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5423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Validation and performance comparison, Paper 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5578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="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84357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990" marR="31115" algn="ctr">
                        <a:lnSpc>
                          <a:spcPts val="1305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</a:t>
                      </a:r>
                      <a:r>
                        <a:rPr lang="en-US" sz="1800" b="0" spc="-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Dissertation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0540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4E688E-AB1F-2BC6-30F0-69F55E83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51BB-61DB-4A4A-A704-421AE5E3D011}" type="datetime1">
              <a:rPr lang="en-IN" smtClean="0"/>
              <a:t>01-03-2025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95A81-6E72-4C6A-FDF1-D7A3626F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6BB526-9123-BFA4-59AE-336BA578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339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206"/>
            <a:ext cx="10868989" cy="6048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US" dirty="0"/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combinations of preprocessing techniques were implemented.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fine tuned our proposed model by using different machine learning models for classification.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D1C7C5-2F8E-4E02-46DC-03364FE8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412B-44A9-4916-9A0F-B2B4AB66356C}" type="datetime1">
              <a:rPr lang="en-IN" smtClean="0"/>
              <a:t>01-03-2025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371839-AABC-6164-5508-619295EA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EC25C-209D-00FF-A0D3-07B52B08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3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Mobasheri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C. S.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Thudium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A.-C. Bay-Jensen, T.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Maleitzke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S. Geissler, G. N.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Duda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and T. Winkler, "Biomarkers for osteoarthritis: Current status and future prospects," </a:t>
            </a: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Best Practice &amp; Research Clinical Rheumatology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37, p. 101852, June 2023.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Chen,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Pingjun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(2018), “Knee Osteoarthritis Severity Grading Dataset”, Mendeley Data, V1. [Online]. Available: https://tinyurl.com/4h7pwaaa. [Accessed Sept. 12, 2024].</a:t>
            </a:r>
          </a:p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BEC9F-FDC8-EF2B-7B51-ADF0203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54632-7A8C-425F-B3CA-6EC33DCED0DB}" type="datetime1">
              <a:rPr lang="en-IN" smtClean="0"/>
              <a:t>01-03-2025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31F8E-999A-F403-87E3-7614A43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7071A-BA8D-A85E-86F2-9973F473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141E-5603-44AA-49C0-86C77AC8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ADF7-2E86-4442-B9AE-9BE0319244C0}" type="datetime1">
              <a:rPr lang="en-IN" smtClean="0"/>
              <a:t>01-03-2025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F6AD5F-E057-5461-C2EE-5A5418B7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4A33E-5AE9-6AFE-D7FE-83EA89F1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7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db81f7-2227-4c73-b16a-24b7a77024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954471CF6E4B92D942EA5A5E5B33" ma:contentTypeVersion="15" ma:contentTypeDescription="Create a new document." ma:contentTypeScope="" ma:versionID="56bf7d19f788a49c249cce20781cd7c7">
  <xsd:schema xmlns:xsd="http://www.w3.org/2001/XMLSchema" xmlns:xs="http://www.w3.org/2001/XMLSchema" xmlns:p="http://schemas.microsoft.com/office/2006/metadata/properties" xmlns:ns3="ae7007f0-7324-48c8-804c-dce53b0f277f" xmlns:ns4="dbdb81f7-2227-4c73-b16a-24b7a7702482" targetNamespace="http://schemas.microsoft.com/office/2006/metadata/properties" ma:root="true" ma:fieldsID="b386866151f4062464becd8c79fe2537" ns3:_="" ns4:_="">
    <xsd:import namespace="ae7007f0-7324-48c8-804c-dce53b0f277f"/>
    <xsd:import namespace="dbdb81f7-2227-4c73-b16a-24b7a77024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007f0-7324-48c8-804c-dce53b0f277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b81f7-2227-4c73-b16a-24b7a7702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1F559E-DB2E-4BA8-89D9-D001E21EFB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F15DAA-F179-40A9-A685-DB8C2399458C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ae7007f0-7324-48c8-804c-dce53b0f277f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bdb81f7-2227-4c73-b16a-24b7a7702482"/>
  </ds:schemaRefs>
</ds:datastoreItem>
</file>

<file path=customXml/itemProps3.xml><?xml version="1.0" encoding="utf-8"?>
<ds:datastoreItem xmlns:ds="http://schemas.openxmlformats.org/officeDocument/2006/customXml" ds:itemID="{786BB005-4E6E-4CFC-BDB0-97F4C3A592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7007f0-7324-48c8-804c-dce53b0f277f"/>
    <ds:schemaRef ds:uri="dbdb81f7-2227-4c73-b16a-24b7a77024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2438</TotalTime>
  <Words>1197</Words>
  <Application>Microsoft Office PowerPoint</Application>
  <PresentationFormat>Widescreen</PresentationFormat>
  <Paragraphs>362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Introduction:</vt:lpstr>
      <vt:lpstr>PowerPoint Presentation</vt:lpstr>
      <vt:lpstr>Data Preparation:</vt:lpstr>
      <vt:lpstr>Data Preparation: </vt:lpstr>
      <vt:lpstr>Data Preprocessing:</vt:lpstr>
      <vt:lpstr>PowerPoint Presentation</vt:lpstr>
      <vt:lpstr>Data Preparation:  Augmented Dataset:</vt:lpstr>
      <vt:lpstr>Augmentation:</vt:lpstr>
      <vt:lpstr>VGG16:</vt:lpstr>
      <vt:lpstr> EfficientNetV2B0 </vt:lpstr>
      <vt:lpstr> RESNET50:</vt:lpstr>
      <vt:lpstr> Results:</vt:lpstr>
      <vt:lpstr>PowerPoint Presentation</vt:lpstr>
      <vt:lpstr>Methodology:</vt:lpstr>
      <vt:lpstr>PowerPoint Presentation</vt:lpstr>
      <vt:lpstr>Fine tuning Proposed  Model: </vt:lpstr>
      <vt:lpstr>Results for Proposed Model:</vt:lpstr>
      <vt:lpstr>Confusion Matrix of our proposed model:</vt:lpstr>
      <vt:lpstr>Timeline: </vt:lpstr>
      <vt:lpstr>PowerPoint Presentation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sys</dc:creator>
  <cp:lastModifiedBy>Dulam Santhosh Satya Sai Naga Hanuman - [CB.EN.U4ECE21012]</cp:lastModifiedBy>
  <cp:revision>124</cp:revision>
  <dcterms:created xsi:type="dcterms:W3CDTF">2023-09-07T11:44:27Z</dcterms:created>
  <dcterms:modified xsi:type="dcterms:W3CDTF">2025-03-01T15:50:03Z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0x0101001066954471CF6E4B92D942EA5A5E5B33</vt:lpwstr>
  </property>
</Properties>
</file>