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9"/>
  </p:notesMasterIdLst>
  <p:sldIdLst>
    <p:sldId id="271" r:id="rId5"/>
    <p:sldId id="335" r:id="rId6"/>
    <p:sldId id="273" r:id="rId7"/>
    <p:sldId id="292" r:id="rId8"/>
    <p:sldId id="293" r:id="rId9"/>
    <p:sldId id="346" r:id="rId10"/>
    <p:sldId id="353" r:id="rId11"/>
    <p:sldId id="328" r:id="rId12"/>
    <p:sldId id="339" r:id="rId13"/>
    <p:sldId id="347" r:id="rId14"/>
    <p:sldId id="330" r:id="rId15"/>
    <p:sldId id="354" r:id="rId16"/>
    <p:sldId id="342" r:id="rId17"/>
    <p:sldId id="340" r:id="rId18"/>
    <p:sldId id="352" r:id="rId19"/>
    <p:sldId id="343" r:id="rId20"/>
    <p:sldId id="344" r:id="rId21"/>
    <p:sldId id="351" r:id="rId22"/>
    <p:sldId id="348" r:id="rId23"/>
    <p:sldId id="349" r:id="rId24"/>
    <p:sldId id="315" r:id="rId25"/>
    <p:sldId id="266" r:id="rId26"/>
    <p:sldId id="268" r:id="rId27"/>
    <p:sldId id="27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2D4FAA-DD5A-7822-CEA2-C9418D646446}" name="santhosh dulam" initials="sd" userId="74bee7ff40ce727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25C80-AC60-40B6-81DE-B4027C0AC7D9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CF06E-422B-44E5-BC2F-D1B1B4933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28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76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41E4-E5E3-3566-7E9E-50D20D844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A4AD9-45AF-6A13-3F11-81262E4B2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2483A-BCCF-A35E-7325-FAC17EDE3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7DDAB-806D-4A3C-8759-D7DDD44ED3A0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557E3-82EF-1C20-E3A1-1B609784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980B7-AC07-FFD1-5112-DDA61F9E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02DF06-7366-3634-8526-FEDD30834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2301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DA95B-339F-8FDB-384B-385920824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2285D-0512-806B-21E2-89E5090E8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0AD90-D65D-E0B4-DF9A-74308819F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E5E6-4519-4A77-9A5C-F9735F096760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17F4A-070A-FFA2-0229-B96C53220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2E165-03C8-219C-F605-6F28760D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897C1E-81EC-FD29-0E9B-62B3E5891B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3725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A7B0-5819-4B87-7F2B-20BEC479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15E89-5657-7913-5E0F-10F1D6D9C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6DFA-0053-DFB1-4CA9-DFC6A63A2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9A8F1-A19D-4481-8DE5-C246B12CAA18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19AEF-028A-C9EE-F9C9-F1C6AA0A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767AC-3A47-017F-F227-1CC4D0D5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69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C626-6BD7-221B-BB09-4F7002053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B21F3-98CB-1BCE-1FDD-B0BE7AEF2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F738F-8538-C859-2C36-ED4B795BB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5363F-0082-0BFC-9316-40A61CD4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4630-6711-469F-9FC2-0DE3A8CE8013}" type="datetime1">
              <a:rPr lang="en-IN" smtClean="0"/>
              <a:t>17-04-2025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6869D-4982-3AA0-FF40-18C2F4E6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80446-0318-0E7C-DF42-E4218B68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197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AFD7-251B-CC13-3042-2EC855BC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9E5B1-7455-E418-B548-3F539C00D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B33D2-E0AB-5727-59E1-165B5EA8B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F093F-D5A0-9038-A9C8-12E91E5D9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47ACB-7FAF-5AA9-FDBB-DE7A20850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1A1520-DB95-7066-EE28-51DE1657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F8BC-B502-486A-BDAC-F04E8AFB750A}" type="datetime1">
              <a:rPr lang="en-IN" smtClean="0"/>
              <a:t>17-04-2025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B0DBB1-8F42-60A5-8ADC-4EB76BB1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F9262-ACE1-1A05-B9D9-12A13B0C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822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5586-A0DB-81D9-AB05-96FAA550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323F8-7782-84EA-452D-E457BA5E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1673-3710-402B-BCB2-8A5D842248B7}" type="datetime1">
              <a:rPr lang="en-IN" smtClean="0"/>
              <a:t>17-04-2025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04682-8DB9-63A8-CB2C-A45261F07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D7EB8-1FA7-3AC7-5C30-5FB0E648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88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E20B3-942B-4820-6AB4-5A6AB17EF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517-7AEF-4C34-B8F8-245700408B17}" type="datetime1">
              <a:rPr lang="en-IN" smtClean="0"/>
              <a:t>17-04-2025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61660-2264-C1C9-55A9-0E8E968C0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42055-B863-E7B2-625F-3FF5FE5F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567A0B-B788-4E30-2380-13E3096B49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26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B5CF-D97C-0874-FC07-468485955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2199D-C959-54BE-636E-9C52E7791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2988B-02E7-0DF7-1313-F0B02C5B3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FCFD7-2115-3C61-8FC9-52F3BF27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7CA3-7015-4F09-A011-BC9647B1F19F}" type="datetime1">
              <a:rPr lang="en-IN" smtClean="0"/>
              <a:t>17-04-2025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3747C-A7C0-AEEA-B983-9737291E7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FAF2A-E901-B2E9-1E7A-211C8F58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471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93C46-A073-D36A-830F-B9ADC538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262D9C-124C-9F59-B266-90A3C4FBC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149F7-E898-0B84-B7C6-FF5AA1B5A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25DCB-1A8E-8349-30D4-CD028463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9E94A-CFF6-4CE8-B481-29610333B94E}" type="datetime1">
              <a:rPr lang="en-IN" smtClean="0"/>
              <a:t>17-04-2025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79D11-ACB1-920F-1C91-5AA5640A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55780-FCEB-3F26-8239-FF35CDF99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94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E8E98-2F45-4186-EF9E-E2503E73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A48B2-0CB6-ABEB-1176-D92FB2CF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3EBB2-76F7-A6E4-A852-03425004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AB6E9-2E70-4420-BE90-64325C017B3C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ADBA1-12EE-CED4-A78A-09587110F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F205A-F0F0-28B6-AE69-927882D1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41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E59C6-E314-3376-D772-7FD64617F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022CB-E8E2-A848-758E-F09FDFAE3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9BC1F-F3E6-78F3-E7C2-2B4266193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C3E-AF28-48B6-9957-7A6F316369CD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CFDAF-3337-41E7-D65E-93999631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BCA51-CB60-246D-E3F1-11C67713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81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0FD57-5639-6187-983F-11975EC39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97B8-9E01-D2A3-9A5B-2530F8895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355C0-A51F-B4BE-3DE2-51918A3E01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6CBB0-70E0-42A7-B48E-FDE2C1A936B6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27B6E-4F8C-8BD1-0F68-BDE7D77A3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63F7C-8BE5-E779-F7AF-C11D4AE44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82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5B647-8643-3214-4D28-BF115DA72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05733"/>
            <a:ext cx="11006855" cy="6038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cs typeface="Calibri" panose="020F0502020204030204"/>
              </a:rPr>
              <a:t>Review 2.2</a:t>
            </a:r>
          </a:p>
          <a:p>
            <a:pPr marL="0" indent="0" algn="ctr">
              <a:buNone/>
            </a:pPr>
            <a:r>
              <a:rPr lang="en-US" b="1" u="sng" dirty="0"/>
              <a:t>B.Tech Project  (19ECE495)</a:t>
            </a:r>
            <a:endParaRPr lang="en-IN" dirty="0"/>
          </a:p>
          <a:p>
            <a:pPr marL="0" indent="0" algn="ctr">
              <a:buNone/>
            </a:pPr>
            <a:r>
              <a:rPr lang="en-US" dirty="0">
                <a:cs typeface="Calibri"/>
              </a:rPr>
              <a:t>Batch ID: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041</a:t>
            </a:r>
            <a:endParaRPr lang="en-US" b="1" dirty="0">
              <a:solidFill>
                <a:srgbClr val="C00000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b="1" dirty="0">
              <a:latin typeface="Times New Roman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3200" b="1" dirty="0">
                <a:ea typeface="+mn-lt"/>
                <a:cs typeface="+mn-lt"/>
              </a:rPr>
              <a:t>Multi-Class Classification and Detection of Knee Osteoarthritis From X- rays</a:t>
            </a:r>
            <a:endParaRPr lang="en-US" sz="2000" dirty="0">
              <a:cs typeface="Calibri"/>
            </a:endParaRPr>
          </a:p>
          <a:p>
            <a:pPr marL="0" indent="0">
              <a:buNone/>
            </a:pPr>
            <a:endParaRPr lang="en-US" sz="2000" dirty="0">
              <a:latin typeface="Times New Roman"/>
              <a:cs typeface="Calibri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2000" dirty="0">
                <a:cs typeface="Calibri"/>
              </a:rPr>
              <a:t>MENTOR: Dr. Devi Vijayan </a:t>
            </a:r>
            <a:endParaRPr lang="en-US" sz="2000" dirty="0">
              <a:ea typeface="Calibri"/>
              <a:cs typeface="Calibri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cs typeface="Calibri"/>
              </a:rPr>
              <a:t>Dept. of Elec. and </a:t>
            </a:r>
            <a:r>
              <a:rPr lang="en-US" sz="1600" dirty="0" err="1">
                <a:cs typeface="Calibri"/>
              </a:rPr>
              <a:t>Commn</a:t>
            </a:r>
            <a:r>
              <a:rPr lang="en-US" sz="1600" dirty="0">
                <a:cs typeface="Calibri"/>
              </a:rPr>
              <a:t>. </a:t>
            </a:r>
            <a:r>
              <a:rPr lang="en-US" sz="1600" dirty="0" err="1">
                <a:cs typeface="Calibri"/>
              </a:rPr>
              <a:t>Engg</a:t>
            </a:r>
            <a:r>
              <a:rPr lang="en-US" sz="1600" dirty="0">
                <a:cs typeface="Calibri"/>
              </a:rPr>
              <a:t>. </a:t>
            </a:r>
            <a:endParaRPr lang="en-US" sz="1600" dirty="0">
              <a:ea typeface="Calibri"/>
              <a:cs typeface="Calibri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cs typeface="Calibri"/>
              </a:rPr>
              <a:t>Amrita School of Engineering, Coimbatore</a:t>
            </a:r>
            <a:endParaRPr lang="en-US" sz="1600" dirty="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000" dirty="0">
              <a:latin typeface="Times New Roman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B85CC-0B37-6217-1D2D-B2C27CE1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BD23-FCA0-448C-8DE3-7E9A93C6A321}" type="datetime1">
              <a:rPr lang="en-IN" smtClean="0"/>
              <a:t>17-04-2025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67C2E-FC33-2B7E-F422-32D0F240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Review 2.2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3BF90-2BA0-52DD-9773-C7C196DF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4A2F5B-6245-B893-CD53-3C56A2565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02107"/>
              </p:ext>
            </p:extLst>
          </p:nvPr>
        </p:nvGraphicFramePr>
        <p:xfrm>
          <a:off x="838198" y="3947828"/>
          <a:ext cx="6375402" cy="1504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5450">
                  <a:extLst>
                    <a:ext uri="{9D8B030D-6E8A-4147-A177-3AD203B41FA5}">
                      <a16:colId xmlns:a16="http://schemas.microsoft.com/office/drawing/2014/main" val="753663392"/>
                    </a:ext>
                  </a:extLst>
                </a:gridCol>
                <a:gridCol w="454348">
                  <a:extLst>
                    <a:ext uri="{9D8B030D-6E8A-4147-A177-3AD203B41FA5}">
                      <a16:colId xmlns:a16="http://schemas.microsoft.com/office/drawing/2014/main" val="1657209611"/>
                    </a:ext>
                  </a:extLst>
                </a:gridCol>
                <a:gridCol w="2735604">
                  <a:extLst>
                    <a:ext uri="{9D8B030D-6E8A-4147-A177-3AD203B41FA5}">
                      <a16:colId xmlns:a16="http://schemas.microsoft.com/office/drawing/2014/main" val="2318253839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C RISHI VARDHAN REDDY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02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CB.EN.U4ECE21011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D M SHAAHID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05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DULAM SANTHOSH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6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NUKALA SUMANTH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241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9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52D2-B09A-E515-B4F1-65AE56BA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F706E-1E1D-F44D-4859-FCCE0A9B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497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Knee osteoarthritis (KOA) is a common joint disorder characterized by the gradual degeneration of cartilage and underlying bone in the knee joint, leading to pain, stiffness, and reduced mobility.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KOA affects approximately 1 in 5 individuals in the general population and 1 in 3 people over the age of 50 [1], making it a significant contributor to impaired quality of life and daily functioning.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accurate classification of KOA severity are critical for effective treatment, as timely interventions can prevent further joint damage and improve patient outcomes.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diagnostic methods, such as physical exams and X-ray imaging, are often subjective and may misclassify early stages of KOA, leading to delayed or inappropriate treatment.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3973B-4C07-7857-6182-84E82157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9F2AC-91BD-4535-900C-D3DC3F961448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8F55F-7BE3-70E3-9AFF-AFE07A07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DC6DD-3F80-212C-919B-5D8ED83E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4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F371A-7026-894E-8875-4FBCD18EC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891"/>
            <a:ext cx="10515600" cy="5957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32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Objective</a:t>
            </a:r>
            <a:r>
              <a:rPr lang="en-US" sz="44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Validate the model's predictions using test data to assess its accuracy and Precision.  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Compare the model's performance with existing state-of-the-art models. 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Employ deep learning model to automatically categorize the severity of knee osteoarthritis into five grades (G-0 to G-4) based on the Kellgren and Lawrence classification system.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3408EF0-1DAF-F974-2078-2D535141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AF8A0-B100-419B-95B0-51BD56A74716}" type="datetime1">
              <a:rPr lang="en-IN" smtClean="0"/>
              <a:t>17-04-2025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C859298-DC95-A87C-ED26-9961F47A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A8556A-B9AA-A64F-2A10-EC682490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98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5FD7-63D7-9EA5-FAFF-6A17F8CE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1314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/>
                <a:cs typeface="Times New Roman"/>
              </a:rPr>
              <a:t>Data Preparation: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E0343-97B3-0790-D576-41C03809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5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Dataset[2]: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the study is based on the Osteoarthritis Initiative (OAI) dataset.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8,260 X-ray images of knee joints, graded according to the Kellgren-Lawrence (KL)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grading scheme. The distribution of the dataset across KL grades is as follows: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0: 3,253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1: 1,495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2: 2,175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3: 1,086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4: 251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3FF81-917D-F018-2B58-ECCB814C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F05-B4AB-4BCB-BE6E-73886B74A8BF}" type="datetime1">
              <a:rPr lang="en-IN" smtClean="0"/>
              <a:t>17-04-2025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47AEF-3CD6-6B6C-13D6-41ADC188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5D9901-1F36-3238-914E-A669C5523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FF2F2E-B640-0430-B02B-943F572A4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930" y="3810409"/>
            <a:ext cx="1551459" cy="1551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4C338-2F78-A519-4682-A0B31F365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200" y="3810411"/>
            <a:ext cx="1551460" cy="155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D16C3A-CC86-FA47-7365-B605136DA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729" y="3810411"/>
            <a:ext cx="1429304" cy="155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7B155D-896B-8DDE-1E96-B0B78B9262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959" y="3810411"/>
            <a:ext cx="1429304" cy="155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E59B4C-55B1-5778-1EE4-DB0350C03E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844" y="3810411"/>
            <a:ext cx="1429304" cy="15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6D31B79-A598-2F81-202B-80455BB72292}"/>
              </a:ext>
            </a:extLst>
          </p:cNvPr>
          <p:cNvSpPr txBox="1"/>
          <p:nvPr/>
        </p:nvSpPr>
        <p:spPr>
          <a:xfrm>
            <a:off x="4637886" y="5361868"/>
            <a:ext cx="7738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Grade0            Grade1               Grade2           Grade3            Garde4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764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7030-7B24-A190-331A-0A3590D6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Data Distribution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133D5A3-221C-C03E-51FC-7B1523D25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7803379"/>
              </p:ext>
            </p:extLst>
          </p:nvPr>
        </p:nvGraphicFramePr>
        <p:xfrm>
          <a:off x="838200" y="1689554"/>
          <a:ext cx="10545368" cy="26027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5247">
                  <a:extLst>
                    <a:ext uri="{9D8B030D-6E8A-4147-A177-3AD203B41FA5}">
                      <a16:colId xmlns:a16="http://schemas.microsoft.com/office/drawing/2014/main" val="1489245980"/>
                    </a:ext>
                  </a:extLst>
                </a:gridCol>
                <a:gridCol w="1397117">
                  <a:extLst>
                    <a:ext uri="{9D8B030D-6E8A-4147-A177-3AD203B41FA5}">
                      <a16:colId xmlns:a16="http://schemas.microsoft.com/office/drawing/2014/main" val="2858326710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732439194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044167292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203154715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793901075"/>
                    </a:ext>
                  </a:extLst>
                </a:gridCol>
              </a:tblGrid>
              <a:tr h="516753">
                <a:tc>
                  <a:txBody>
                    <a:bodyPr/>
                    <a:lstStyle/>
                    <a:p>
                      <a:pPr algn="ctr" fontAlgn="auto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2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3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4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917044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TEST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639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296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447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223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04929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TRAIN 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2286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1046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1516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757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173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1902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EVALUATION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328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212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78660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TOTAL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3253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1495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2175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1086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883021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2D9EF-6367-AAD3-6398-BABF9992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909B-8BFD-4EC1-AD0C-5CAC76C4FA34}" type="datetime1">
              <a:rPr lang="en-IN" smtClean="0"/>
              <a:t>17-04-2025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AF3AAC-A461-6D0C-7121-2826234B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D58A9-735F-9790-D492-9BF4BDC1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5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B2F8F8-ACD2-87F4-BC92-F73FAA247BC2}"/>
              </a:ext>
            </a:extLst>
          </p:cNvPr>
          <p:cNvSpPr txBox="1"/>
          <p:nvPr/>
        </p:nvSpPr>
        <p:spPr>
          <a:xfrm>
            <a:off x="838200" y="4462574"/>
            <a:ext cx="1002085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• </a:t>
            </a:r>
            <a:r>
              <a:rPr lang="en-US" sz="2600" dirty="0"/>
              <a:t>The image dimensions are 224x224 pixels.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699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565E-6E62-0D9A-3117-8C8157ADB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720" y="621360"/>
            <a:ext cx="10454041" cy="837572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results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425D2DE-E3DB-0F2F-AD6A-8625C62BD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511945"/>
              </p:ext>
            </p:extLst>
          </p:nvPr>
        </p:nvGraphicFramePr>
        <p:xfrm>
          <a:off x="1167914" y="1814608"/>
          <a:ext cx="10020559" cy="22436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83300">
                  <a:extLst>
                    <a:ext uri="{9D8B030D-6E8A-4147-A177-3AD203B41FA5}">
                      <a16:colId xmlns:a16="http://schemas.microsoft.com/office/drawing/2014/main" val="1641176083"/>
                    </a:ext>
                  </a:extLst>
                </a:gridCol>
                <a:gridCol w="1626979">
                  <a:extLst>
                    <a:ext uri="{9D8B030D-6E8A-4147-A177-3AD203B41FA5}">
                      <a16:colId xmlns:a16="http://schemas.microsoft.com/office/drawing/2014/main" val="2975608467"/>
                    </a:ext>
                  </a:extLst>
                </a:gridCol>
                <a:gridCol w="2505140">
                  <a:extLst>
                    <a:ext uri="{9D8B030D-6E8A-4147-A177-3AD203B41FA5}">
                      <a16:colId xmlns:a16="http://schemas.microsoft.com/office/drawing/2014/main" val="3752506942"/>
                    </a:ext>
                  </a:extLst>
                </a:gridCol>
                <a:gridCol w="2505140">
                  <a:extLst>
                    <a:ext uri="{9D8B030D-6E8A-4147-A177-3AD203B41FA5}">
                      <a16:colId xmlns:a16="http://schemas.microsoft.com/office/drawing/2014/main" val="1064706759"/>
                    </a:ext>
                  </a:extLst>
                </a:gridCol>
              </a:tblGrid>
              <a:tr h="1121842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822120"/>
                  </a:ext>
                </a:extLst>
              </a:tr>
              <a:tr h="112184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ResNet50+CBAM+XGBoost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51140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D6D5A-0984-69E8-96AB-322DCEFE1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40A8F-07EB-443F-B2E9-51537AEC9557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24E6F-FADE-55B4-BDBB-02C0A072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F5E7C-323D-8F9F-C583-E24E1512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4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FEFD5-1CB7-528D-F583-EFF0F4C2F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2FECB-8B54-006E-F6CB-381DFDED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40A8F-07EB-443F-B2E9-51537AEC9557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3851C-A159-68BC-6A43-9D9B2789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C73ED-CE36-D759-65C9-E4F8B9B54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7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EC50F6-D75B-6D4E-F1F0-AF0DD2DC0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518" y="493160"/>
            <a:ext cx="6590862" cy="586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04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1F2D1AF-E9E5-F9E8-715C-7EE9423A9EC9}"/>
              </a:ext>
            </a:extLst>
          </p:cNvPr>
          <p:cNvSpPr/>
          <p:nvPr/>
        </p:nvSpPr>
        <p:spPr>
          <a:xfrm>
            <a:off x="1160977" y="2175549"/>
            <a:ext cx="2363056" cy="125345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Test Dataset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D2DBA27-DC1A-8B77-042A-B870BA490D9C}"/>
              </a:ext>
            </a:extLst>
          </p:cNvPr>
          <p:cNvSpPr/>
          <p:nvPr/>
        </p:nvSpPr>
        <p:spPr>
          <a:xfrm>
            <a:off x="4921319" y="2175549"/>
            <a:ext cx="3143890" cy="125345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ea typeface="Tahoma" pitchFamily="34"/>
                <a:cs typeface="Times New Roman" pitchFamily="18"/>
              </a:rPr>
              <a:t>CNN</a:t>
            </a:r>
          </a:p>
        </p:txBody>
      </p:sp>
      <p:cxnSp>
        <p:nvCxnSpPr>
          <p:cNvPr id="4" name="Straight Arrow Connector 6">
            <a:extLst>
              <a:ext uri="{FF2B5EF4-FFF2-40B4-BE49-F238E27FC236}">
                <a16:creationId xmlns:a16="http://schemas.microsoft.com/office/drawing/2014/main" id="{E73100AE-D907-E294-416A-7150C6FBF473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524033" y="2802274"/>
            <a:ext cx="139728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5" name="Rectangle 14">
            <a:extLst>
              <a:ext uri="{FF2B5EF4-FFF2-40B4-BE49-F238E27FC236}">
                <a16:creationId xmlns:a16="http://schemas.microsoft.com/office/drawing/2014/main" id="{9E3F84FF-7C5B-F1FF-DF85-8E82101F89ED}"/>
              </a:ext>
            </a:extLst>
          </p:cNvPr>
          <p:cNvSpPr/>
          <p:nvPr/>
        </p:nvSpPr>
        <p:spPr>
          <a:xfrm>
            <a:off x="5743254" y="4278331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2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A49376A0-5BF2-8A39-A496-D92B31EF3D87}"/>
              </a:ext>
            </a:extLst>
          </p:cNvPr>
          <p:cNvSpPr/>
          <p:nvPr/>
        </p:nvSpPr>
        <p:spPr>
          <a:xfrm>
            <a:off x="7505267" y="4278331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3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834129A-DDC3-9980-3585-EB0D1C19EE1E}"/>
              </a:ext>
            </a:extLst>
          </p:cNvPr>
          <p:cNvSpPr/>
          <p:nvPr/>
        </p:nvSpPr>
        <p:spPr>
          <a:xfrm>
            <a:off x="9267288" y="4295458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4</a:t>
            </a:r>
          </a:p>
        </p:txBody>
      </p:sp>
      <p:cxnSp>
        <p:nvCxnSpPr>
          <p:cNvPr id="8" name="Straight Arrow Connector 24">
            <a:extLst>
              <a:ext uri="{FF2B5EF4-FFF2-40B4-BE49-F238E27FC236}">
                <a16:creationId xmlns:a16="http://schemas.microsoft.com/office/drawing/2014/main" id="{0BBD7328-1C08-F562-9A9D-52B965ECFF37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493264" y="3428999"/>
            <a:ext cx="4" cy="849332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9" name="Rectangle 26">
            <a:extLst>
              <a:ext uri="{FF2B5EF4-FFF2-40B4-BE49-F238E27FC236}">
                <a16:creationId xmlns:a16="http://schemas.microsoft.com/office/drawing/2014/main" id="{94DF24BB-7B82-44C5-E20B-60D9F5496CEE}"/>
              </a:ext>
            </a:extLst>
          </p:cNvPr>
          <p:cNvSpPr/>
          <p:nvPr/>
        </p:nvSpPr>
        <p:spPr>
          <a:xfrm>
            <a:off x="2219221" y="4278331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0</a:t>
            </a:r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id="{2C9F9E2A-A50C-F4AD-D076-44EFB8870016}"/>
              </a:ext>
            </a:extLst>
          </p:cNvPr>
          <p:cNvSpPr/>
          <p:nvPr/>
        </p:nvSpPr>
        <p:spPr>
          <a:xfrm>
            <a:off x="3981233" y="4278331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1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5" name="TextBox 47">
            <a:extLst>
              <a:ext uri="{FF2B5EF4-FFF2-40B4-BE49-F238E27FC236}">
                <a16:creationId xmlns:a16="http://schemas.microsoft.com/office/drawing/2014/main" id="{4BCA6BF2-C57C-6C2F-51D3-A4F12E5E464C}"/>
              </a:ext>
            </a:extLst>
          </p:cNvPr>
          <p:cNvSpPr txBox="1"/>
          <p:nvPr/>
        </p:nvSpPr>
        <p:spPr>
          <a:xfrm>
            <a:off x="-1428110" y="1380545"/>
            <a:ext cx="9164546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Multi-Class Single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5B28983-6DD7-552B-7508-D5E94A03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73CC2-5322-4331-91ED-C6ED5990944F}" type="datetime1">
              <a:rPr lang="en-IN" smtClean="0"/>
              <a:t>17-04-2025</a:t>
            </a:fld>
            <a:endParaRPr lang="en-GB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3904272-E324-8090-ACB4-70DE6CC2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CD803D1-4132-EB28-C400-52BFF6E4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8</a:t>
            </a:fld>
            <a:endParaRPr lang="en-GB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8B41957-805D-2A64-9C48-B21B603B941D}"/>
              </a:ext>
            </a:extLst>
          </p:cNvPr>
          <p:cNvCxnSpPr>
            <a:stCxn id="3" idx="2"/>
            <a:endCxn id="9" idx="0"/>
          </p:cNvCxnSpPr>
          <p:nvPr/>
        </p:nvCxnSpPr>
        <p:spPr>
          <a:xfrm rot="5400000">
            <a:off x="4306584" y="2091651"/>
            <a:ext cx="849332" cy="35240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FA1BB04-BBB6-8844-7451-D991C51761A6}"/>
              </a:ext>
            </a:extLst>
          </p:cNvPr>
          <p:cNvCxnSpPr>
            <a:stCxn id="3" idx="2"/>
            <a:endCxn id="10" idx="0"/>
          </p:cNvCxnSpPr>
          <p:nvPr/>
        </p:nvCxnSpPr>
        <p:spPr>
          <a:xfrm rot="5400000">
            <a:off x="5187590" y="2972657"/>
            <a:ext cx="849332" cy="17620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CDEA547-FC31-4BBB-2C78-7327291D52F0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7822054" y="2100209"/>
            <a:ext cx="866459" cy="35240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A195C3-DE4F-FB1E-2694-94B95907D345}"/>
              </a:ext>
            </a:extLst>
          </p:cNvPr>
          <p:cNvCxnSpPr>
            <a:stCxn id="3" idx="2"/>
            <a:endCxn id="6" idx="0"/>
          </p:cNvCxnSpPr>
          <p:nvPr/>
        </p:nvCxnSpPr>
        <p:spPr>
          <a:xfrm rot="16200000" flipH="1">
            <a:off x="6949606" y="2972656"/>
            <a:ext cx="849332" cy="17620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6714283C-D463-436D-6767-817A04E088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5091207"/>
              </p:ext>
            </p:extLst>
          </p:nvPr>
        </p:nvGraphicFramePr>
        <p:xfrm>
          <a:off x="883577" y="1825624"/>
          <a:ext cx="10695398" cy="37943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39084">
                  <a:extLst>
                    <a:ext uri="{9D8B030D-6E8A-4147-A177-3AD203B41FA5}">
                      <a16:colId xmlns:a16="http://schemas.microsoft.com/office/drawing/2014/main" val="3191604988"/>
                    </a:ext>
                  </a:extLst>
                </a:gridCol>
                <a:gridCol w="2685438">
                  <a:extLst>
                    <a:ext uri="{9D8B030D-6E8A-4147-A177-3AD203B41FA5}">
                      <a16:colId xmlns:a16="http://schemas.microsoft.com/office/drawing/2014/main" val="1988669129"/>
                    </a:ext>
                  </a:extLst>
                </a:gridCol>
                <a:gridCol w="2685438">
                  <a:extLst>
                    <a:ext uri="{9D8B030D-6E8A-4147-A177-3AD203B41FA5}">
                      <a16:colId xmlns:a16="http://schemas.microsoft.com/office/drawing/2014/main" val="2165965522"/>
                    </a:ext>
                  </a:extLst>
                </a:gridCol>
                <a:gridCol w="2685438">
                  <a:extLst>
                    <a:ext uri="{9D8B030D-6E8A-4147-A177-3AD203B41FA5}">
                      <a16:colId xmlns:a16="http://schemas.microsoft.com/office/drawing/2014/main" val="858193868"/>
                    </a:ext>
                  </a:extLst>
                </a:gridCol>
              </a:tblGrid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37008"/>
                  </a:ext>
                </a:extLst>
              </a:tr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 16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63.77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61.83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761201"/>
                  </a:ext>
                </a:extLst>
              </a:tr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63.59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403251"/>
                  </a:ext>
                </a:extLst>
              </a:tr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62.86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62.49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222816"/>
                  </a:ext>
                </a:extLst>
              </a:tr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HRNet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703787"/>
                  </a:ext>
                </a:extLst>
              </a:tr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08824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8BCFB-7B61-7C9D-C5F6-42B6C7046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2514C-4EC9-4C7E-B25E-46C5EC053142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DADB3-01C7-4D5E-F200-5BD55F25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07AA4-2579-1E54-395E-D30E17D85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B9D362-0642-4B2A-B65F-162C27CF8ED5}"/>
              </a:ext>
            </a:extLst>
          </p:cNvPr>
          <p:cNvSpPr txBox="1"/>
          <p:nvPr/>
        </p:nvSpPr>
        <p:spPr>
          <a:xfrm>
            <a:off x="759840" y="1112675"/>
            <a:ext cx="9515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SINGLE LEVEL MODELS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337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204DE-29C8-81BA-9400-E5152822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24" y="0"/>
            <a:ext cx="2512877" cy="488217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ConvNeXt Model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786529-D0A1-00CB-1E22-B1BA087BB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92" y="433205"/>
            <a:ext cx="7108850" cy="599158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4D3F9-0156-B0F6-E49B-C31FF0A4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B755-0921-4D17-A01B-99A243696034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4C7F9-4B5E-99C8-1D96-5AE82DC8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104CD-78A9-02D4-5A44-B7FF1A31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10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187E00-7087-7EE6-D81A-B58E80B3B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547152"/>
              </p:ext>
            </p:extLst>
          </p:nvPr>
        </p:nvGraphicFramePr>
        <p:xfrm>
          <a:off x="7510410" y="2570836"/>
          <a:ext cx="4561725" cy="14049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5650">
                  <a:extLst>
                    <a:ext uri="{9D8B030D-6E8A-4147-A177-3AD203B41FA5}">
                      <a16:colId xmlns:a16="http://schemas.microsoft.com/office/drawing/2014/main" val="3476784568"/>
                    </a:ext>
                  </a:extLst>
                </a:gridCol>
                <a:gridCol w="1033725">
                  <a:extLst>
                    <a:ext uri="{9D8B030D-6E8A-4147-A177-3AD203B41FA5}">
                      <a16:colId xmlns:a16="http://schemas.microsoft.com/office/drawing/2014/main" val="332271881"/>
                    </a:ext>
                  </a:extLst>
                </a:gridCol>
                <a:gridCol w="1212350">
                  <a:extLst>
                    <a:ext uri="{9D8B030D-6E8A-4147-A177-3AD203B41FA5}">
                      <a16:colId xmlns:a16="http://schemas.microsoft.com/office/drawing/2014/main" val="417856788"/>
                    </a:ext>
                  </a:extLst>
                </a:gridCol>
              </a:tblGrid>
              <a:tr h="57501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035919"/>
                  </a:ext>
                </a:extLst>
              </a:tr>
              <a:tr h="46422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0(Normal)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063466"/>
                  </a:ext>
                </a:extLst>
              </a:tr>
              <a:tr h="19420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1-4(Abnormal)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18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979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405923E-A703-45F9-0559-FCAA758448ED}"/>
              </a:ext>
            </a:extLst>
          </p:cNvPr>
          <p:cNvSpPr/>
          <p:nvPr/>
        </p:nvSpPr>
        <p:spPr>
          <a:xfrm>
            <a:off x="1017146" y="1199930"/>
            <a:ext cx="2095923" cy="10282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Test Dataset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B1C6A10-0847-E087-F31D-FBAE86677F60}"/>
              </a:ext>
            </a:extLst>
          </p:cNvPr>
          <p:cNvSpPr/>
          <p:nvPr/>
        </p:nvSpPr>
        <p:spPr>
          <a:xfrm>
            <a:off x="4736386" y="1199930"/>
            <a:ext cx="2856210" cy="10282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DL MODEL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IN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ConvNeXt)</a:t>
            </a:r>
          </a:p>
        </p:txBody>
      </p:sp>
      <p:cxnSp>
        <p:nvCxnSpPr>
          <p:cNvPr id="4" name="Straight Arrow Connector 6">
            <a:extLst>
              <a:ext uri="{FF2B5EF4-FFF2-40B4-BE49-F238E27FC236}">
                <a16:creationId xmlns:a16="http://schemas.microsoft.com/office/drawing/2014/main" id="{746AB04B-E830-878B-51FC-8ADC6100A6E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113069" y="1714070"/>
            <a:ext cx="1623317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5" name="Rectangle 14">
            <a:extLst>
              <a:ext uri="{FF2B5EF4-FFF2-40B4-BE49-F238E27FC236}">
                <a16:creationId xmlns:a16="http://schemas.microsoft.com/office/drawing/2014/main" id="{BEB63C77-2F98-9097-F37E-3FC8FDC29B18}"/>
              </a:ext>
            </a:extLst>
          </p:cNvPr>
          <p:cNvSpPr/>
          <p:nvPr/>
        </p:nvSpPr>
        <p:spPr>
          <a:xfrm>
            <a:off x="5414478" y="539221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2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2A8E468A-6801-3F1C-1BA4-FB5ED9DEF80E}"/>
              </a:ext>
            </a:extLst>
          </p:cNvPr>
          <p:cNvSpPr/>
          <p:nvPr/>
        </p:nvSpPr>
        <p:spPr>
          <a:xfrm>
            <a:off x="7176499" y="539221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3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E0DEFD24-CBD2-8B01-EF4D-E418C297C1BE}"/>
              </a:ext>
            </a:extLst>
          </p:cNvPr>
          <p:cNvSpPr/>
          <p:nvPr/>
        </p:nvSpPr>
        <p:spPr>
          <a:xfrm>
            <a:off x="8938511" y="5409334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4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756D09C2-1E60-63DC-CD16-8CDC94894D7F}"/>
              </a:ext>
            </a:extLst>
          </p:cNvPr>
          <p:cNvSpPr/>
          <p:nvPr/>
        </p:nvSpPr>
        <p:spPr>
          <a:xfrm>
            <a:off x="1767155" y="414218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0</a:t>
            </a: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EC316833-0D06-7DA7-FE27-7B97A3E416D7}"/>
              </a:ext>
            </a:extLst>
          </p:cNvPr>
          <p:cNvSpPr/>
          <p:nvPr/>
        </p:nvSpPr>
        <p:spPr>
          <a:xfrm>
            <a:off x="3652465" y="539221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0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1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0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0" name="TextBox 47">
            <a:extLst>
              <a:ext uri="{FF2B5EF4-FFF2-40B4-BE49-F238E27FC236}">
                <a16:creationId xmlns:a16="http://schemas.microsoft.com/office/drawing/2014/main" id="{80650EA5-A019-B7E2-FC1A-A8097C1FBB92}"/>
              </a:ext>
            </a:extLst>
          </p:cNvPr>
          <p:cNvSpPr txBox="1"/>
          <p:nvPr/>
        </p:nvSpPr>
        <p:spPr>
          <a:xfrm>
            <a:off x="-970906" y="378432"/>
            <a:ext cx="9164546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Multi-Class Multi Level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656C326-C794-D76A-151F-74EBA0E645D9}"/>
              </a:ext>
            </a:extLst>
          </p:cNvPr>
          <p:cNvSpPr/>
          <p:nvPr/>
        </p:nvSpPr>
        <p:spPr>
          <a:xfrm>
            <a:off x="2774020" y="2764834"/>
            <a:ext cx="1962366" cy="78296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Normal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583BD11-B29B-CB06-CE23-D26FB86654D1}"/>
              </a:ext>
            </a:extLst>
          </p:cNvPr>
          <p:cNvSpPr/>
          <p:nvPr/>
        </p:nvSpPr>
        <p:spPr>
          <a:xfrm>
            <a:off x="8101168" y="2764834"/>
            <a:ext cx="1962366" cy="78296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Abnormal</a:t>
            </a:r>
          </a:p>
        </p:txBody>
      </p:sp>
      <p:cxnSp>
        <p:nvCxnSpPr>
          <p:cNvPr id="13" name="Connector: Elbow 9">
            <a:extLst>
              <a:ext uri="{FF2B5EF4-FFF2-40B4-BE49-F238E27FC236}">
                <a16:creationId xmlns:a16="http://schemas.microsoft.com/office/drawing/2014/main" id="{874EC348-B998-778D-EECA-9FA41FE4FDB7}"/>
              </a:ext>
            </a:extLst>
          </p:cNvPr>
          <p:cNvCxnSpPr>
            <a:stCxn id="11" idx="2"/>
            <a:endCxn id="8" idx="0"/>
          </p:cNvCxnSpPr>
          <p:nvPr/>
        </p:nvCxnSpPr>
        <p:spPr>
          <a:xfrm rot="5400000">
            <a:off x="2838992" y="3225975"/>
            <a:ext cx="594388" cy="1238034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CFF8D926-4387-8D90-3BD9-4E3D6FD111F5}"/>
              </a:ext>
            </a:extLst>
          </p:cNvPr>
          <p:cNvSpPr/>
          <p:nvPr/>
        </p:nvSpPr>
        <p:spPr>
          <a:xfrm>
            <a:off x="6904236" y="3941411"/>
            <a:ext cx="2599364" cy="63465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ConvNeXt</a:t>
            </a:r>
          </a:p>
        </p:txBody>
      </p:sp>
      <p:cxnSp>
        <p:nvCxnSpPr>
          <p:cNvPr id="15" name="Connector: Elbow 19">
            <a:extLst>
              <a:ext uri="{FF2B5EF4-FFF2-40B4-BE49-F238E27FC236}">
                <a16:creationId xmlns:a16="http://schemas.microsoft.com/office/drawing/2014/main" id="{51576199-F8FF-E2CD-599A-1A224FB7CAB6}"/>
              </a:ext>
            </a:extLst>
          </p:cNvPr>
          <p:cNvCxnSpPr>
            <a:stCxn id="3" idx="2"/>
            <a:endCxn id="11" idx="0"/>
          </p:cNvCxnSpPr>
          <p:nvPr/>
        </p:nvCxnSpPr>
        <p:spPr>
          <a:xfrm rot="5400000">
            <a:off x="4691535" y="1291877"/>
            <a:ext cx="536625" cy="2409288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6" name="Connector: Elbow 21">
            <a:extLst>
              <a:ext uri="{FF2B5EF4-FFF2-40B4-BE49-F238E27FC236}">
                <a16:creationId xmlns:a16="http://schemas.microsoft.com/office/drawing/2014/main" id="{0522E08F-6CBD-C4D7-79DB-689C8FA365CC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rot="16200000" flipH="1">
            <a:off x="7355109" y="1037591"/>
            <a:ext cx="536625" cy="2917860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7" name="Connector: Elbow 23">
            <a:extLst>
              <a:ext uri="{FF2B5EF4-FFF2-40B4-BE49-F238E27FC236}">
                <a16:creationId xmlns:a16="http://schemas.microsoft.com/office/drawing/2014/main" id="{66A31EC3-8860-5B86-72BC-13250D56F8A3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rot="5400000">
            <a:off x="8446329" y="3305388"/>
            <a:ext cx="393613" cy="878433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8" name="Connector: Elbow 32">
            <a:extLst>
              <a:ext uri="{FF2B5EF4-FFF2-40B4-BE49-F238E27FC236}">
                <a16:creationId xmlns:a16="http://schemas.microsoft.com/office/drawing/2014/main" id="{E6FFF5B2-8A10-59FB-D765-773FD00D60FA}"/>
              </a:ext>
            </a:extLst>
          </p:cNvPr>
          <p:cNvCxnSpPr>
            <a:stCxn id="14" idx="2"/>
            <a:endCxn id="9" idx="0"/>
          </p:cNvCxnSpPr>
          <p:nvPr/>
        </p:nvCxnSpPr>
        <p:spPr>
          <a:xfrm rot="5400000">
            <a:off x="5895125" y="3083423"/>
            <a:ext cx="816148" cy="3801439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E00112E-0172-6BF6-8311-9180A8B8A106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rot="5400000">
            <a:off x="6776131" y="3964429"/>
            <a:ext cx="816148" cy="20394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E32042A-8EA7-537F-46E8-92B94827487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29588" y="4241839"/>
            <a:ext cx="833266" cy="14846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D07B477-ADC1-C6D2-A4C6-1EF3101BDB02}"/>
              </a:ext>
            </a:extLst>
          </p:cNvPr>
          <p:cNvCxnSpPr>
            <a:stCxn id="14" idx="2"/>
            <a:endCxn id="6" idx="0"/>
          </p:cNvCxnSpPr>
          <p:nvPr/>
        </p:nvCxnSpPr>
        <p:spPr>
          <a:xfrm rot="5400000">
            <a:off x="7657142" y="4845440"/>
            <a:ext cx="816148" cy="2774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BE78053-1C14-F6C5-97A1-7F85CA7D0028}"/>
              </a:ext>
            </a:extLst>
          </p:cNvPr>
          <p:cNvSpPr txBox="1"/>
          <p:nvPr/>
        </p:nvSpPr>
        <p:spPr>
          <a:xfrm>
            <a:off x="7695344" y="1544014"/>
            <a:ext cx="1993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(Level-1)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4AD32E-5BB6-E710-1341-2B0AC21CBADF}"/>
              </a:ext>
            </a:extLst>
          </p:cNvPr>
          <p:cNvSpPr txBox="1"/>
          <p:nvPr/>
        </p:nvSpPr>
        <p:spPr>
          <a:xfrm>
            <a:off x="9688524" y="4023628"/>
            <a:ext cx="1993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(Level-2)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2BDE9CDF-477C-E624-DB34-CB3C138E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FD6-C68E-470E-8AF2-A86C544087D5}" type="datetime1">
              <a:rPr lang="en-IN" smtClean="0"/>
              <a:t>17-04-2025</a:t>
            </a:fld>
            <a:endParaRPr lang="en-GB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B9E160D2-4AA1-B10F-A0A9-612A343C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5162424-DB72-C106-4D41-D630372A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F3E0E-0682-67E7-FD5D-F07286B6C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F7DF6EB-BAEA-F386-6E32-CF3944CAFA70}"/>
              </a:ext>
            </a:extLst>
          </p:cNvPr>
          <p:cNvSpPr/>
          <p:nvPr/>
        </p:nvSpPr>
        <p:spPr>
          <a:xfrm>
            <a:off x="1017146" y="1199930"/>
            <a:ext cx="2095923" cy="10282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Test Dataset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8C3E629-6B9D-B685-0E4F-1EF9840FB356}"/>
              </a:ext>
            </a:extLst>
          </p:cNvPr>
          <p:cNvSpPr/>
          <p:nvPr/>
        </p:nvSpPr>
        <p:spPr>
          <a:xfrm>
            <a:off x="4736386" y="1199930"/>
            <a:ext cx="2856210" cy="10282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DL MODEL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ConvNeXt)</a:t>
            </a:r>
          </a:p>
        </p:txBody>
      </p:sp>
      <p:cxnSp>
        <p:nvCxnSpPr>
          <p:cNvPr id="4" name="Straight Arrow Connector 6">
            <a:extLst>
              <a:ext uri="{FF2B5EF4-FFF2-40B4-BE49-F238E27FC236}">
                <a16:creationId xmlns:a16="http://schemas.microsoft.com/office/drawing/2014/main" id="{669C9B96-FAE5-B0AB-9F1F-EA882CAC8AF4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113069" y="1714070"/>
            <a:ext cx="1623317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5" name="Rectangle 14">
            <a:extLst>
              <a:ext uri="{FF2B5EF4-FFF2-40B4-BE49-F238E27FC236}">
                <a16:creationId xmlns:a16="http://schemas.microsoft.com/office/drawing/2014/main" id="{DAE2A9D9-2259-F8E3-2399-4CE09729418E}"/>
              </a:ext>
            </a:extLst>
          </p:cNvPr>
          <p:cNvSpPr/>
          <p:nvPr/>
        </p:nvSpPr>
        <p:spPr>
          <a:xfrm>
            <a:off x="5414478" y="539221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2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CCCA1BE0-DCE2-1986-A984-BCD272EC9AC2}"/>
              </a:ext>
            </a:extLst>
          </p:cNvPr>
          <p:cNvSpPr/>
          <p:nvPr/>
        </p:nvSpPr>
        <p:spPr>
          <a:xfrm>
            <a:off x="7176499" y="539221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3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983FCDCB-E56F-5468-91C7-AF7B4F2AC71C}"/>
              </a:ext>
            </a:extLst>
          </p:cNvPr>
          <p:cNvSpPr/>
          <p:nvPr/>
        </p:nvSpPr>
        <p:spPr>
          <a:xfrm>
            <a:off x="8938511" y="5409334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4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87FCAF4-3BB9-4BA1-D454-5FA709CD93A6}"/>
              </a:ext>
            </a:extLst>
          </p:cNvPr>
          <p:cNvSpPr/>
          <p:nvPr/>
        </p:nvSpPr>
        <p:spPr>
          <a:xfrm>
            <a:off x="1767155" y="414218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0</a:t>
            </a: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2E8F044D-EA7F-2A9A-FA54-F402BF156C73}"/>
              </a:ext>
            </a:extLst>
          </p:cNvPr>
          <p:cNvSpPr/>
          <p:nvPr/>
        </p:nvSpPr>
        <p:spPr>
          <a:xfrm>
            <a:off x="3652465" y="539221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1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0" name="TextBox 47">
            <a:extLst>
              <a:ext uri="{FF2B5EF4-FFF2-40B4-BE49-F238E27FC236}">
                <a16:creationId xmlns:a16="http://schemas.microsoft.com/office/drawing/2014/main" id="{2C17AF84-B643-06D3-2837-94D0B73BE7BC}"/>
              </a:ext>
            </a:extLst>
          </p:cNvPr>
          <p:cNvSpPr txBox="1"/>
          <p:nvPr/>
        </p:nvSpPr>
        <p:spPr>
          <a:xfrm>
            <a:off x="-970906" y="378432"/>
            <a:ext cx="9164546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Multi-Class Multi Level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0038F9D-2A53-C7F9-7CFE-DAF83249EE20}"/>
              </a:ext>
            </a:extLst>
          </p:cNvPr>
          <p:cNvSpPr/>
          <p:nvPr/>
        </p:nvSpPr>
        <p:spPr>
          <a:xfrm>
            <a:off x="2774020" y="2764834"/>
            <a:ext cx="1962366" cy="78296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Normal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83E3B8B-DBC0-2525-793C-C9CB8BA0F167}"/>
              </a:ext>
            </a:extLst>
          </p:cNvPr>
          <p:cNvSpPr/>
          <p:nvPr/>
        </p:nvSpPr>
        <p:spPr>
          <a:xfrm>
            <a:off x="8101168" y="2764834"/>
            <a:ext cx="1962366" cy="78296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Abnormal</a:t>
            </a:r>
          </a:p>
        </p:txBody>
      </p:sp>
      <p:cxnSp>
        <p:nvCxnSpPr>
          <p:cNvPr id="13" name="Connector: Elbow 9">
            <a:extLst>
              <a:ext uri="{FF2B5EF4-FFF2-40B4-BE49-F238E27FC236}">
                <a16:creationId xmlns:a16="http://schemas.microsoft.com/office/drawing/2014/main" id="{550D0209-D35C-6CD2-38F2-84B97397C708}"/>
              </a:ext>
            </a:extLst>
          </p:cNvPr>
          <p:cNvCxnSpPr>
            <a:stCxn id="11" idx="2"/>
            <a:endCxn id="8" idx="0"/>
          </p:cNvCxnSpPr>
          <p:nvPr/>
        </p:nvCxnSpPr>
        <p:spPr>
          <a:xfrm rot="5400000">
            <a:off x="2838992" y="3225975"/>
            <a:ext cx="594388" cy="1238034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9E2961E1-D8E3-15F4-E926-0CD7CF0E9EAB}"/>
              </a:ext>
            </a:extLst>
          </p:cNvPr>
          <p:cNvSpPr/>
          <p:nvPr/>
        </p:nvSpPr>
        <p:spPr>
          <a:xfrm>
            <a:off x="6904236" y="3941411"/>
            <a:ext cx="2599364" cy="63465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ConvNeXt</a:t>
            </a:r>
          </a:p>
        </p:txBody>
      </p:sp>
      <p:cxnSp>
        <p:nvCxnSpPr>
          <p:cNvPr id="15" name="Connector: Elbow 19">
            <a:extLst>
              <a:ext uri="{FF2B5EF4-FFF2-40B4-BE49-F238E27FC236}">
                <a16:creationId xmlns:a16="http://schemas.microsoft.com/office/drawing/2014/main" id="{333D406C-F771-7CE2-EE95-D23CF61B4FAA}"/>
              </a:ext>
            </a:extLst>
          </p:cNvPr>
          <p:cNvCxnSpPr>
            <a:stCxn id="3" idx="2"/>
            <a:endCxn id="11" idx="0"/>
          </p:cNvCxnSpPr>
          <p:nvPr/>
        </p:nvCxnSpPr>
        <p:spPr>
          <a:xfrm rot="5400000">
            <a:off x="4691535" y="1291877"/>
            <a:ext cx="536625" cy="2409288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6" name="Connector: Elbow 21">
            <a:extLst>
              <a:ext uri="{FF2B5EF4-FFF2-40B4-BE49-F238E27FC236}">
                <a16:creationId xmlns:a16="http://schemas.microsoft.com/office/drawing/2014/main" id="{E5CBB078-FBCD-0F87-DA6A-2CE5ED9E4ED7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rot="16200000" flipH="1">
            <a:off x="7355109" y="1037591"/>
            <a:ext cx="536625" cy="2917860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7" name="Connector: Elbow 23">
            <a:extLst>
              <a:ext uri="{FF2B5EF4-FFF2-40B4-BE49-F238E27FC236}">
                <a16:creationId xmlns:a16="http://schemas.microsoft.com/office/drawing/2014/main" id="{78C7D026-8094-B0D5-F017-BFE8E02F9DD2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rot="5400000">
            <a:off x="8446329" y="3305388"/>
            <a:ext cx="393613" cy="878433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8" name="Connector: Elbow 32">
            <a:extLst>
              <a:ext uri="{FF2B5EF4-FFF2-40B4-BE49-F238E27FC236}">
                <a16:creationId xmlns:a16="http://schemas.microsoft.com/office/drawing/2014/main" id="{949D9914-3C3C-4DB0-987B-B20798978B64}"/>
              </a:ext>
            </a:extLst>
          </p:cNvPr>
          <p:cNvCxnSpPr>
            <a:stCxn id="14" idx="2"/>
            <a:endCxn id="9" idx="0"/>
          </p:cNvCxnSpPr>
          <p:nvPr/>
        </p:nvCxnSpPr>
        <p:spPr>
          <a:xfrm rot="5400000">
            <a:off x="5895125" y="3083423"/>
            <a:ext cx="816148" cy="3801439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4BB382B-7180-FD09-8405-1E03E381C2C1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rot="5400000">
            <a:off x="6776131" y="3964429"/>
            <a:ext cx="816148" cy="20394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902BE0F-BA9B-33B8-9FC3-EAEB4D079F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29588" y="4241839"/>
            <a:ext cx="833266" cy="14846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4ED838E-C227-48D6-E27E-E09DF80B6C72}"/>
              </a:ext>
            </a:extLst>
          </p:cNvPr>
          <p:cNvCxnSpPr>
            <a:stCxn id="14" idx="2"/>
            <a:endCxn id="6" idx="0"/>
          </p:cNvCxnSpPr>
          <p:nvPr/>
        </p:nvCxnSpPr>
        <p:spPr>
          <a:xfrm rot="5400000">
            <a:off x="7657142" y="4845440"/>
            <a:ext cx="816148" cy="2774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FBB3A00-FC1C-7737-94CB-864759C8E74E}"/>
              </a:ext>
            </a:extLst>
          </p:cNvPr>
          <p:cNvSpPr txBox="1"/>
          <p:nvPr/>
        </p:nvSpPr>
        <p:spPr>
          <a:xfrm>
            <a:off x="7695344" y="1544014"/>
            <a:ext cx="1993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(Level-1)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4C547E-733F-7BE5-A377-A6BF7224ACC9}"/>
              </a:ext>
            </a:extLst>
          </p:cNvPr>
          <p:cNvSpPr txBox="1"/>
          <p:nvPr/>
        </p:nvSpPr>
        <p:spPr>
          <a:xfrm>
            <a:off x="9688524" y="4023628"/>
            <a:ext cx="1993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(Level-2)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11F93AF7-5C54-376A-920C-A65E4496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4FD6-C68E-470E-8AF2-A86C544087D5}" type="datetime1">
              <a:rPr lang="en-IN" smtClean="0"/>
              <a:t>17-04-2025</a:t>
            </a:fld>
            <a:endParaRPr lang="en-GB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BB9D7B3E-6DBC-31B2-3CCC-EB40048C7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5AB8DC4-561F-1856-0C67-F0DBEA33C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267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170A5AC-F7FB-6B24-0529-ADC2398951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608547"/>
              </p:ext>
            </p:extLst>
          </p:nvPr>
        </p:nvGraphicFramePr>
        <p:xfrm>
          <a:off x="838200" y="1271989"/>
          <a:ext cx="10103778" cy="41821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67926">
                  <a:extLst>
                    <a:ext uri="{9D8B030D-6E8A-4147-A177-3AD203B41FA5}">
                      <a16:colId xmlns:a16="http://schemas.microsoft.com/office/drawing/2014/main" val="2447620017"/>
                    </a:ext>
                  </a:extLst>
                </a:gridCol>
                <a:gridCol w="3367926">
                  <a:extLst>
                    <a:ext uri="{9D8B030D-6E8A-4147-A177-3AD203B41FA5}">
                      <a16:colId xmlns:a16="http://schemas.microsoft.com/office/drawing/2014/main" val="3009034820"/>
                    </a:ext>
                  </a:extLst>
                </a:gridCol>
                <a:gridCol w="3367926">
                  <a:extLst>
                    <a:ext uri="{9D8B030D-6E8A-4147-A177-3AD203B41FA5}">
                      <a16:colId xmlns:a16="http://schemas.microsoft.com/office/drawing/2014/main" val="604600048"/>
                    </a:ext>
                  </a:extLst>
                </a:gridCol>
              </a:tblGrid>
              <a:tr h="328773">
                <a:tc>
                  <a:txBody>
                    <a:bodyPr/>
                    <a:lstStyle/>
                    <a:p>
                      <a:pPr algn="ctr" fontAlgn="auto"/>
                      <a:endParaRPr lang="en-IN" sz="2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Abnormal</a:t>
                      </a:r>
                    </a:p>
                    <a:p>
                      <a:pPr algn="ctr"/>
                      <a:endParaRPr lang="en-I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942793"/>
                  </a:ext>
                </a:extLst>
              </a:tr>
              <a:tr h="70263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446214"/>
                  </a:ext>
                </a:extLst>
              </a:tr>
              <a:tr h="70263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 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254877"/>
                  </a:ext>
                </a:extLst>
              </a:tr>
              <a:tr h="70263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188681"/>
                  </a:ext>
                </a:extLst>
              </a:tr>
              <a:tr h="70263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85393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C54CF-6D7F-CCBC-8491-A50E91BC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816F-DCFB-40D0-BA8E-2D414EF1B6E2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0094B-F109-1120-7B5C-3BF93A23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6D92-E2D1-872C-6E05-5E61D4B5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010C8-C99D-2B27-F9BE-C0680D5E92C9}"/>
              </a:ext>
            </a:extLst>
          </p:cNvPr>
          <p:cNvSpPr txBox="1"/>
          <p:nvPr/>
        </p:nvSpPr>
        <p:spPr>
          <a:xfrm>
            <a:off x="838200" y="5743207"/>
            <a:ext cx="8640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Ratio of images between Normal and Abnormal is 1:1.54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BFA02-5A5C-A848-831D-FFDE8055530B}"/>
              </a:ext>
            </a:extLst>
          </p:cNvPr>
          <p:cNvSpPr txBox="1"/>
          <p:nvPr/>
        </p:nvSpPr>
        <p:spPr>
          <a:xfrm>
            <a:off x="838200" y="580390"/>
            <a:ext cx="102578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/>
                <a:cs typeface="Times New Roman"/>
              </a:rPr>
              <a:t>Level-1 Binary Class Distribution</a:t>
            </a:r>
            <a:endParaRPr lang="en-US" sz="3200" dirty="0">
              <a:latin typeface="Times New Roman"/>
              <a:cs typeface="Times New Roman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3163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A97B-71A2-0F9C-A008-79C32ABF9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3" y="958647"/>
            <a:ext cx="11233507" cy="9807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Level-1 Model Results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247FCC7-611D-C1D1-515A-F5A491D96E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844574"/>
              </p:ext>
            </p:extLst>
          </p:nvPr>
        </p:nvGraphicFramePr>
        <p:xfrm>
          <a:off x="622443" y="2307534"/>
          <a:ext cx="10515600" cy="25466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10963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062484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847640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87945326"/>
                    </a:ext>
                  </a:extLst>
                </a:gridCol>
              </a:tblGrid>
              <a:tr h="886767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070709"/>
                  </a:ext>
                </a:extLst>
              </a:tr>
              <a:tr h="82992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74.40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858788"/>
                  </a:ext>
                </a:extLst>
              </a:tr>
              <a:tr h="82992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88252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4383F-EAA4-88B4-1E8C-1097FAE5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FE5D1-2C57-40D8-8B7B-73744994D843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9E2C8-4339-AC4B-0905-6F1BA29F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DD7E2-250D-99C7-D4FA-9259820FC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031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3E5F-23A6-6828-7500-5C935E77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D2119-37E3-7839-1E24-0B0A8AC1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FE5D1-2C57-40D8-8B7B-73744994D843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0317A-C6AD-039F-DFD8-378EA0A1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A9504-016D-1AA2-5DF3-FCC3A335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15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F6D140-EF1C-7F6F-48D5-0F703E560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99" y="530365"/>
            <a:ext cx="6222286" cy="568963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90A94B-B55B-75C4-051D-7A8E0407A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202295"/>
              </p:ext>
            </p:extLst>
          </p:nvPr>
        </p:nvGraphicFramePr>
        <p:xfrm>
          <a:off x="7218451" y="1910598"/>
          <a:ext cx="4561725" cy="14049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5650">
                  <a:extLst>
                    <a:ext uri="{9D8B030D-6E8A-4147-A177-3AD203B41FA5}">
                      <a16:colId xmlns:a16="http://schemas.microsoft.com/office/drawing/2014/main" val="3476784568"/>
                    </a:ext>
                  </a:extLst>
                </a:gridCol>
                <a:gridCol w="1033725">
                  <a:extLst>
                    <a:ext uri="{9D8B030D-6E8A-4147-A177-3AD203B41FA5}">
                      <a16:colId xmlns:a16="http://schemas.microsoft.com/office/drawing/2014/main" val="332271881"/>
                    </a:ext>
                  </a:extLst>
                </a:gridCol>
                <a:gridCol w="1212350">
                  <a:extLst>
                    <a:ext uri="{9D8B030D-6E8A-4147-A177-3AD203B41FA5}">
                      <a16:colId xmlns:a16="http://schemas.microsoft.com/office/drawing/2014/main" val="417856788"/>
                    </a:ext>
                  </a:extLst>
                </a:gridCol>
              </a:tblGrid>
              <a:tr h="57501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035919"/>
                  </a:ext>
                </a:extLst>
              </a:tr>
              <a:tr h="46422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0(Normal)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063466"/>
                  </a:ext>
                </a:extLst>
              </a:tr>
              <a:tr h="19420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1-4(Abnormal)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18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785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0A11-BE86-6EB2-EB0E-006B70BB6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97D81-7124-C970-AC81-BDE5FF02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974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/>
                <a:cs typeface="Times New Roman"/>
              </a:rPr>
              <a:t>Level-2 Abnormal Class Distribution</a:t>
            </a:r>
            <a:endParaRPr lang="en-US" sz="2800" dirty="0">
              <a:latin typeface="Times New Roman"/>
              <a:cs typeface="Times New Roman"/>
            </a:endParaRPr>
          </a:p>
          <a:p>
            <a:endParaRPr lang="en-US" sz="3200" dirty="0">
              <a:ea typeface="Calibri Light"/>
              <a:cs typeface="Calibri Light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16B141A-4A31-EC6F-2ED5-47CF261341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9360586"/>
              </p:ext>
            </p:extLst>
          </p:nvPr>
        </p:nvGraphicFramePr>
        <p:xfrm>
          <a:off x="838200" y="1689554"/>
          <a:ext cx="9148251" cy="26027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5247">
                  <a:extLst>
                    <a:ext uri="{9D8B030D-6E8A-4147-A177-3AD203B41FA5}">
                      <a16:colId xmlns:a16="http://schemas.microsoft.com/office/drawing/2014/main" val="1489245980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732439194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044167292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203154715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793901075"/>
                    </a:ext>
                  </a:extLst>
                </a:gridCol>
              </a:tblGrid>
              <a:tr h="516753">
                <a:tc>
                  <a:txBody>
                    <a:bodyPr/>
                    <a:lstStyle/>
                    <a:p>
                      <a:pPr algn="ctr" fontAlgn="auto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2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3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4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917044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TEST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296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447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223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04929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TRAIN 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1046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1516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757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173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1902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EVALUATION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212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78660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TOTAL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1495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2175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1086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883021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E1CCA-BE94-D4B4-052D-70B5EA83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627B-B184-46FC-B139-0548C7A330FE}" type="datetime1">
              <a:rPr lang="en-IN" smtClean="0"/>
              <a:t>17-04-2025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8644F9-5ABE-2033-83FE-A5E63B83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9C2493-FE93-84BB-5B61-7FE193AF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16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D9B707-19D5-EB55-A1CD-0EC3A18F38D1}"/>
              </a:ext>
            </a:extLst>
          </p:cNvPr>
          <p:cNvSpPr txBox="1"/>
          <p:nvPr/>
        </p:nvSpPr>
        <p:spPr>
          <a:xfrm>
            <a:off x="838200" y="4462574"/>
            <a:ext cx="1002085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• </a:t>
            </a:r>
            <a:r>
              <a:rPr lang="en-US" sz="2600" dirty="0"/>
              <a:t>The image dimensions are 224x224 pixels.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1294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CA30-3943-1EF2-5F83-F2E5D7F90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D6AD-28B8-775F-3E9D-E3C19A60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169" y="763249"/>
            <a:ext cx="3195262" cy="98079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Level-2 Model Results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EFEE76B-D1C8-5073-22B7-957C7D3E90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5514865"/>
              </p:ext>
            </p:extLst>
          </p:nvPr>
        </p:nvGraphicFramePr>
        <p:xfrm>
          <a:off x="612169" y="2041381"/>
          <a:ext cx="10832388" cy="23662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8097">
                  <a:extLst>
                    <a:ext uri="{9D8B030D-6E8A-4147-A177-3AD203B41FA5}">
                      <a16:colId xmlns:a16="http://schemas.microsoft.com/office/drawing/2014/main" val="311096350"/>
                    </a:ext>
                  </a:extLst>
                </a:gridCol>
                <a:gridCol w="2708097">
                  <a:extLst>
                    <a:ext uri="{9D8B030D-6E8A-4147-A177-3AD203B41FA5}">
                      <a16:colId xmlns:a16="http://schemas.microsoft.com/office/drawing/2014/main" val="1606248454"/>
                    </a:ext>
                  </a:extLst>
                </a:gridCol>
                <a:gridCol w="2708097">
                  <a:extLst>
                    <a:ext uri="{9D8B030D-6E8A-4147-A177-3AD203B41FA5}">
                      <a16:colId xmlns:a16="http://schemas.microsoft.com/office/drawing/2014/main" val="1984764023"/>
                    </a:ext>
                  </a:extLst>
                </a:gridCol>
                <a:gridCol w="2708097">
                  <a:extLst>
                    <a:ext uri="{9D8B030D-6E8A-4147-A177-3AD203B41FA5}">
                      <a16:colId xmlns:a16="http://schemas.microsoft.com/office/drawing/2014/main" val="1187945326"/>
                    </a:ext>
                  </a:extLst>
                </a:gridCol>
              </a:tblGrid>
              <a:tr h="855702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070709"/>
                  </a:ext>
                </a:extLst>
              </a:tr>
              <a:tr h="75526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HRNet(Abnormal)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8865"/>
                  </a:ext>
                </a:extLst>
              </a:tr>
              <a:tr h="75526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ConvNeXt(Abnormal)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69619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B69DA-0FD8-21C0-2242-9F98E5DD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31B-6A25-41CF-AB30-4E464A8C03B6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60FB5-E13A-B5D5-768D-22ED6CE6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617A1-53E7-B447-4A1A-C522F7E1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821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1C5E2-0280-0BC2-93EB-34703E3C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82FBD-569D-6B0C-E930-61A4AF88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31B-6A25-41CF-AB30-4E464A8C03B6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7F42A-040A-63A0-2849-1F29BFF25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E629C-69C7-D3D6-89A1-DF14DC289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18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D0D5E2-D4E8-C9FE-C5A4-36F8B602A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901" y="730980"/>
            <a:ext cx="6862778" cy="55403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F43D65-7F22-2897-4F78-8FB6D27A50F7}"/>
              </a:ext>
            </a:extLst>
          </p:cNvPr>
          <p:cNvSpPr txBox="1"/>
          <p:nvPr/>
        </p:nvSpPr>
        <p:spPr>
          <a:xfrm>
            <a:off x="529976" y="269315"/>
            <a:ext cx="395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ConvNeXt Model:</a:t>
            </a:r>
          </a:p>
        </p:txBody>
      </p:sp>
    </p:spTree>
    <p:extLst>
      <p:ext uri="{BB962C8B-B14F-4D97-AF65-F5344CB8AC3E}">
        <p14:creationId xmlns:p14="http://schemas.microsoft.com/office/powerpoint/2010/main" val="1940078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2542-FD3A-667E-1BE7-AFDC005D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166" y="36924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4D82B-67FA-117F-CC4C-1446A59B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A488-A7F1-4259-A54B-002E8CBF3C9E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27667-CF3B-D3C3-0BF4-42DFBE73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65060-6A1A-DCBA-125D-9EE8B7419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19</a:t>
            </a:fld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78A49-AB5E-493F-AABB-F5CE6356B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883278"/>
              </p:ext>
            </p:extLst>
          </p:nvPr>
        </p:nvGraphicFramePr>
        <p:xfrm>
          <a:off x="390419" y="2477353"/>
          <a:ext cx="4561725" cy="22857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5650">
                  <a:extLst>
                    <a:ext uri="{9D8B030D-6E8A-4147-A177-3AD203B41FA5}">
                      <a16:colId xmlns:a16="http://schemas.microsoft.com/office/drawing/2014/main" val="3476784568"/>
                    </a:ext>
                  </a:extLst>
                </a:gridCol>
                <a:gridCol w="1033725">
                  <a:extLst>
                    <a:ext uri="{9D8B030D-6E8A-4147-A177-3AD203B41FA5}">
                      <a16:colId xmlns:a16="http://schemas.microsoft.com/office/drawing/2014/main" val="332271881"/>
                    </a:ext>
                  </a:extLst>
                </a:gridCol>
                <a:gridCol w="1212350">
                  <a:extLst>
                    <a:ext uri="{9D8B030D-6E8A-4147-A177-3AD203B41FA5}">
                      <a16:colId xmlns:a16="http://schemas.microsoft.com/office/drawing/2014/main" val="417856788"/>
                    </a:ext>
                  </a:extLst>
                </a:gridCol>
              </a:tblGrid>
              <a:tr h="74223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035919"/>
                  </a:ext>
                </a:extLst>
              </a:tr>
              <a:tr h="59923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0(Normal)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063466"/>
                  </a:ext>
                </a:extLst>
              </a:tr>
              <a:tr h="47213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1-4(Abnormal)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184286"/>
                  </a:ext>
                </a:extLst>
              </a:tr>
              <a:tr h="47213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56952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FB846BD-BC1A-1444-1791-CF02033DA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983676"/>
              </p:ext>
            </p:extLst>
          </p:nvPr>
        </p:nvGraphicFramePr>
        <p:xfrm>
          <a:off x="6566041" y="2477353"/>
          <a:ext cx="4561725" cy="22857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5650">
                  <a:extLst>
                    <a:ext uri="{9D8B030D-6E8A-4147-A177-3AD203B41FA5}">
                      <a16:colId xmlns:a16="http://schemas.microsoft.com/office/drawing/2014/main" val="3476784568"/>
                    </a:ext>
                  </a:extLst>
                </a:gridCol>
                <a:gridCol w="1033725">
                  <a:extLst>
                    <a:ext uri="{9D8B030D-6E8A-4147-A177-3AD203B41FA5}">
                      <a16:colId xmlns:a16="http://schemas.microsoft.com/office/drawing/2014/main" val="332271881"/>
                    </a:ext>
                  </a:extLst>
                </a:gridCol>
                <a:gridCol w="1212350">
                  <a:extLst>
                    <a:ext uri="{9D8B030D-6E8A-4147-A177-3AD203B41FA5}">
                      <a16:colId xmlns:a16="http://schemas.microsoft.com/office/drawing/2014/main" val="417856788"/>
                    </a:ext>
                  </a:extLst>
                </a:gridCol>
              </a:tblGrid>
              <a:tr h="74223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035919"/>
                  </a:ext>
                </a:extLst>
              </a:tr>
              <a:tr h="59923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0(Normal)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063466"/>
                  </a:ext>
                </a:extLst>
              </a:tr>
              <a:tr h="47213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1-4(Abnormal)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184286"/>
                  </a:ext>
                </a:extLst>
              </a:tr>
              <a:tr h="4721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6569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910F0C5-541C-5135-0FBE-78E342B044B5}"/>
              </a:ext>
            </a:extLst>
          </p:cNvPr>
          <p:cNvSpPr txBox="1"/>
          <p:nvPr/>
        </p:nvSpPr>
        <p:spPr>
          <a:xfrm>
            <a:off x="6869987" y="1694806"/>
            <a:ext cx="4483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Level Model Level-1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B7BE6-01A0-DC42-F752-0080F906E4A9}"/>
              </a:ext>
            </a:extLst>
          </p:cNvPr>
          <p:cNvSpPr txBox="1"/>
          <p:nvPr/>
        </p:nvSpPr>
        <p:spPr>
          <a:xfrm>
            <a:off x="390419" y="1694806"/>
            <a:ext cx="5198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Level Model Interpreted in Binary form</a:t>
            </a:r>
          </a:p>
        </p:txBody>
      </p:sp>
    </p:spTree>
    <p:extLst>
      <p:ext uri="{BB962C8B-B14F-4D97-AF65-F5344CB8AC3E}">
        <p14:creationId xmlns:p14="http://schemas.microsoft.com/office/powerpoint/2010/main" val="2328163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55528-AB32-E8F9-CC08-91142757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5FD2-5067-42DE-93C5-B24FC64E9C18}" type="datetime1">
              <a:rPr lang="en-IN" smtClean="0"/>
              <a:t>17-04-2025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4518-9316-7D59-1FCB-1384953D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45E4A-B96E-47B5-D900-222EAF72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20</a:t>
            </a:fld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00403A-F8A3-1390-7781-FDF355A1A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879679"/>
              </p:ext>
            </p:extLst>
          </p:nvPr>
        </p:nvGraphicFramePr>
        <p:xfrm>
          <a:off x="1849348" y="1284270"/>
          <a:ext cx="8568648" cy="38014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9624">
                  <a:extLst>
                    <a:ext uri="{9D8B030D-6E8A-4147-A177-3AD203B41FA5}">
                      <a16:colId xmlns:a16="http://schemas.microsoft.com/office/drawing/2014/main" val="2286877647"/>
                    </a:ext>
                  </a:extLst>
                </a:gridCol>
                <a:gridCol w="2854512">
                  <a:extLst>
                    <a:ext uri="{9D8B030D-6E8A-4147-A177-3AD203B41FA5}">
                      <a16:colId xmlns:a16="http://schemas.microsoft.com/office/drawing/2014/main" val="4214658445"/>
                    </a:ext>
                  </a:extLst>
                </a:gridCol>
                <a:gridCol w="2854512">
                  <a:extLst>
                    <a:ext uri="{9D8B030D-6E8A-4147-A177-3AD203B41FA5}">
                      <a16:colId xmlns:a16="http://schemas.microsoft.com/office/drawing/2014/main" val="478065151"/>
                    </a:ext>
                  </a:extLst>
                </a:gridCol>
              </a:tblGrid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Level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 Level Model Level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432628"/>
                  </a:ext>
                </a:extLst>
              </a:tr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99130"/>
                  </a:ext>
                </a:extLst>
              </a:tr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436372"/>
                  </a:ext>
                </a:extLst>
              </a:tr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2683202"/>
                  </a:ext>
                </a:extLst>
              </a:tr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2305463"/>
                  </a:ext>
                </a:extLst>
              </a:tr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Weighted-Average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094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015794A-2074-4D26-D30B-0630201297A5}"/>
              </a:ext>
            </a:extLst>
          </p:cNvPr>
          <p:cNvSpPr txBox="1"/>
          <p:nvPr/>
        </p:nvSpPr>
        <p:spPr>
          <a:xfrm>
            <a:off x="1849348" y="561999"/>
            <a:ext cx="8291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Values for Abnormal Classes</a:t>
            </a:r>
          </a:p>
        </p:txBody>
      </p:sp>
    </p:spTree>
    <p:extLst>
      <p:ext uri="{BB962C8B-B14F-4D97-AF65-F5344CB8AC3E}">
        <p14:creationId xmlns:p14="http://schemas.microsoft.com/office/powerpoint/2010/main" val="1842273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1F7009-90EE-B63C-5F53-9EF6A7E5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/>
                <a:cs typeface="Calibri" panose="020F0502020204030204"/>
              </a:rPr>
              <a:t>Timeline:</a:t>
            </a:r>
            <a:br>
              <a:rPr lang="en-US" sz="4400" b="1" dirty="0">
                <a:latin typeface="Times New Roman"/>
                <a:cs typeface="Calibri" panose="020F0502020204030204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B2815-E967-1336-FE12-5102034C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200" b="1">
              <a:latin typeface="Times New Roman"/>
              <a:cs typeface="Calibri" panose="020F0502020204030204"/>
            </a:endParaRPr>
          </a:p>
          <a:p>
            <a:pPr marL="0" indent="0">
              <a:buNone/>
            </a:pPr>
            <a:endParaRPr lang="en-US" sz="3200" b="1">
              <a:latin typeface="Times New Roman"/>
              <a:cs typeface="Calibri" panose="020F050202020403020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4E688E-AB1F-2BC6-30F0-69F55E83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E26BB-521D-4DE0-8F17-6AAE05EB3268}" type="datetime1">
              <a:rPr lang="en-IN" smtClean="0"/>
              <a:t>17-04-2025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F95A81-6E72-4C6A-FDF1-D7A3626F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26BB526-9123-BFA4-59AE-336BA578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1D24F0-4CBA-2212-FE6D-115407DCE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837099"/>
              </p:ext>
            </p:extLst>
          </p:nvPr>
        </p:nvGraphicFramePr>
        <p:xfrm>
          <a:off x="1181528" y="1510301"/>
          <a:ext cx="9246742" cy="456300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{93296810-A885-4BE3-A3E7-6D5BEEA58F35}</a:tableStyleId>
              </a:tblPr>
              <a:tblGrid>
                <a:gridCol w="1727173">
                  <a:extLst>
                    <a:ext uri="{9D8B030D-6E8A-4147-A177-3AD203B41FA5}">
                      <a16:colId xmlns:a16="http://schemas.microsoft.com/office/drawing/2014/main" val="283917520"/>
                    </a:ext>
                  </a:extLst>
                </a:gridCol>
                <a:gridCol w="1914090">
                  <a:extLst>
                    <a:ext uri="{9D8B030D-6E8A-4147-A177-3AD203B41FA5}">
                      <a16:colId xmlns:a16="http://schemas.microsoft.com/office/drawing/2014/main" val="523545415"/>
                    </a:ext>
                  </a:extLst>
                </a:gridCol>
                <a:gridCol w="5605479">
                  <a:extLst>
                    <a:ext uri="{9D8B030D-6E8A-4147-A177-3AD203B41FA5}">
                      <a16:colId xmlns:a16="http://schemas.microsoft.com/office/drawing/2014/main" val="2943249166"/>
                    </a:ext>
                  </a:extLst>
                </a:gridCol>
              </a:tblGrid>
              <a:tr h="606175">
                <a:tc>
                  <a:txBody>
                    <a:bodyPr/>
                    <a:lstStyle/>
                    <a:p>
                      <a:pPr marL="25400" marR="635" algn="ctr"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62651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</a:t>
                      </a:r>
                      <a:r>
                        <a:rPr lang="en-US" sz="18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 preparation, Data Preprocessing, Literature survey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16643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</a:t>
                      </a:r>
                      <a:r>
                        <a:rPr lang="en-US" sz="18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Literature survey, Analysis of state-of-the-art models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918708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</a:t>
                      </a:r>
                      <a:r>
                        <a:rPr lang="en-US" sz="1800" b="0" spc="-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Building of classification model 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954233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</a:t>
                      </a:r>
                      <a:r>
                        <a:rPr lang="en-US" sz="18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Validation and performance comparison, Paper draft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255781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</a:t>
                      </a: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570" algn="just"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1800" b="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Draft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584357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6990" marR="31115" algn="ctr">
                        <a:lnSpc>
                          <a:spcPts val="1305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(External</a:t>
                      </a:r>
                      <a:r>
                        <a:rPr lang="en-US" sz="1800" b="0" spc="-3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Review)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570" algn="just"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lang="en-US" sz="1800" b="0" spc="-3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r>
                        <a:rPr lang="en-US" sz="1800" b="0" spc="-3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Dissertation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0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339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B2815-E967-1336-FE12-5102034C1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769"/>
            <a:ext cx="10868989" cy="60487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single level classification model, tested across different models, with ConvNeXt achieving a better performance with an accuracy of 71.26%.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multi level classification methodology which consists of Binary classification (Level 1) and Abnormal classification (Level 2) with ConvNeXt and HRNet.</a:t>
            </a: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ConvNeXt achieved better performance for both level with an accuracy of 80.62% for binary classification and 73.94% for Abnormal classification.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D1C7C5-2F8E-4E02-46DC-03364FE8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341E-1306-4C16-87BA-A2FFB05C9D7B}" type="datetime1">
              <a:rPr lang="en-IN" smtClean="0"/>
              <a:t>17-04-2025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3371839-AABC-6164-5508-619295EA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FEC25C-209D-00FF-A0D3-07B52B08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93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59C5-2E0C-F557-34B2-0507044D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3125"/>
          </a:xfrm>
        </p:spPr>
        <p:txBody>
          <a:bodyPr>
            <a:no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References: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7D22-0554-1846-36AC-096B0AC16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02" y="1136694"/>
            <a:ext cx="10651298" cy="50402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Mobasheri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C. S.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Thudium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A.-C. Bay-Jensen, T.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Maleitzke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S. Geissler, G. N.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Duda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and T. Winkler, "Biomarkers for osteoarthritis: Current status and future prospects," </a:t>
            </a:r>
            <a:r>
              <a:rPr lang="en-US" sz="1800" i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Best Practice &amp; Research Clinical Rheumatology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vol. 37, p. 101852, June 2023.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Chen,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Pingjun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(2018), “Knee Osteoarthritis Severity Grading Dataset”, Mendeley Data, V1. [Online]. Available: https://tinyurl.com/4h7pwaaa. [Accessed Sept. 12, 2024].</a:t>
            </a:r>
          </a:p>
          <a:p>
            <a:pPr marL="0" indent="0" algn="just">
              <a:buNone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BEC9F-FDC8-EF2B-7B51-ADF0203F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57086-D182-45C6-A584-BB7C5C39E621}" type="datetime1">
              <a:rPr lang="en-IN" smtClean="0"/>
              <a:t>17-04-2025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31F8E-999A-F403-87E3-7614A43E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7071A-BA8D-A85E-86F2-9973F473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78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982D-ED48-46F1-683C-D2469D2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256"/>
            <a:ext cx="10527323" cy="5605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5400" b="1">
                <a:latin typeface="Times New Roman"/>
                <a:cs typeface="Calibri" panose="020F0502020204030204"/>
              </a:rPr>
              <a:t>Thank You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4C141E-5603-44AA-49C0-86C77AC8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3C78-6FCF-4727-86C0-C4F9991FB395}" type="datetime1">
              <a:rPr lang="en-IN" smtClean="0"/>
              <a:t>17-04-2025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F6AD5F-E057-5461-C2EE-5A5418B7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4A33E-5AE9-6AFE-D7FE-83EA89F1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72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db81f7-2227-4c73-b16a-24b7a770248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66954471CF6E4B92D942EA5A5E5B33" ma:contentTypeVersion="15" ma:contentTypeDescription="Create a new document." ma:contentTypeScope="" ma:versionID="56bf7d19f788a49c249cce20781cd7c7">
  <xsd:schema xmlns:xsd="http://www.w3.org/2001/XMLSchema" xmlns:xs="http://www.w3.org/2001/XMLSchema" xmlns:p="http://schemas.microsoft.com/office/2006/metadata/properties" xmlns:ns3="ae7007f0-7324-48c8-804c-dce53b0f277f" xmlns:ns4="dbdb81f7-2227-4c73-b16a-24b7a7702482" targetNamespace="http://schemas.microsoft.com/office/2006/metadata/properties" ma:root="true" ma:fieldsID="b386866151f4062464becd8c79fe2537" ns3:_="" ns4:_="">
    <xsd:import namespace="ae7007f0-7324-48c8-804c-dce53b0f277f"/>
    <xsd:import namespace="dbdb81f7-2227-4c73-b16a-24b7a770248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007f0-7324-48c8-804c-dce53b0f277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db81f7-2227-4c73-b16a-24b7a77024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F15DAA-F179-40A9-A685-DB8C2399458C}">
  <ds:schemaRefs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ae7007f0-7324-48c8-804c-dce53b0f277f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dbdb81f7-2227-4c73-b16a-24b7a7702482"/>
  </ds:schemaRefs>
</ds:datastoreItem>
</file>

<file path=customXml/itemProps2.xml><?xml version="1.0" encoding="utf-8"?>
<ds:datastoreItem xmlns:ds="http://schemas.openxmlformats.org/officeDocument/2006/customXml" ds:itemID="{786BB005-4E6E-4CFC-BDB0-97F4C3A592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7007f0-7324-48c8-804c-dce53b0f277f"/>
    <ds:schemaRef ds:uri="dbdb81f7-2227-4c73-b16a-24b7a77024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B1F559E-DB2E-4BA8-89D9-D001E21EFB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</TotalTime>
  <Words>1094</Words>
  <Application>Microsoft Office PowerPoint</Application>
  <PresentationFormat>Widescreen</PresentationFormat>
  <Paragraphs>391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Introduction:</vt:lpstr>
      <vt:lpstr>PowerPoint Presentation</vt:lpstr>
      <vt:lpstr>Data Preparation:</vt:lpstr>
      <vt:lpstr>Data Distribution</vt:lpstr>
      <vt:lpstr>Previous results</vt:lpstr>
      <vt:lpstr>PowerPoint Presentation</vt:lpstr>
      <vt:lpstr>PowerPoint Presentation</vt:lpstr>
      <vt:lpstr>PowerPoint Presentation</vt:lpstr>
      <vt:lpstr>ConvNeXt Model</vt:lpstr>
      <vt:lpstr>PowerPoint Presentation</vt:lpstr>
      <vt:lpstr>PowerPoint Presentation</vt:lpstr>
      <vt:lpstr>PowerPoint Presentation</vt:lpstr>
      <vt:lpstr>Level-1 Model Results</vt:lpstr>
      <vt:lpstr>PowerPoint Presentation</vt:lpstr>
      <vt:lpstr>Level-2 Abnormal Class Distribution </vt:lpstr>
      <vt:lpstr>Level-2 Model Results</vt:lpstr>
      <vt:lpstr>PowerPoint Presentation</vt:lpstr>
      <vt:lpstr>Comparison of results</vt:lpstr>
      <vt:lpstr>PowerPoint Presentation</vt:lpstr>
      <vt:lpstr>Timeline: </vt:lpstr>
      <vt:lpstr>PowerPoint Presentation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Dulam Santhosh Satya Sai Naga Hanuman - [CB.EN.U4ECE21012]</dc:creator>
  <cp:lastModifiedBy>Dulam Santhosh Satya Sai Naga Hanuman - [CB.EN.U4ECE21012]</cp:lastModifiedBy>
  <cp:revision>72</cp:revision>
  <dcterms:created xsi:type="dcterms:W3CDTF">2025-03-01T15:51:03Z</dcterms:created>
  <dcterms:modified xsi:type="dcterms:W3CDTF">2025-04-17T06:14:25Z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0x0101001066954471CF6E4B92D942EA5A5E5B33</vt:lpwstr>
  </property>
</Properties>
</file>