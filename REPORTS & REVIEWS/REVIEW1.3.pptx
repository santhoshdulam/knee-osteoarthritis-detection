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5"/>
  </p:notesMasterIdLst>
  <p:sldIdLst>
    <p:sldId id="271" r:id="rId5"/>
    <p:sldId id="335" r:id="rId6"/>
    <p:sldId id="273" r:id="rId7"/>
    <p:sldId id="292" r:id="rId8"/>
    <p:sldId id="293" r:id="rId9"/>
    <p:sldId id="290" r:id="rId10"/>
    <p:sldId id="334" r:id="rId11"/>
    <p:sldId id="297" r:id="rId12"/>
    <p:sldId id="329" r:id="rId13"/>
    <p:sldId id="277" r:id="rId14"/>
    <p:sldId id="321" r:id="rId15"/>
    <p:sldId id="322" r:id="rId16"/>
    <p:sldId id="319" r:id="rId17"/>
    <p:sldId id="316" r:id="rId18"/>
    <p:sldId id="320" r:id="rId19"/>
    <p:sldId id="313" r:id="rId20"/>
    <p:sldId id="311" r:id="rId21"/>
    <p:sldId id="307" r:id="rId22"/>
    <p:sldId id="327" r:id="rId23"/>
    <p:sldId id="328" r:id="rId24"/>
    <p:sldId id="336" r:id="rId25"/>
    <p:sldId id="338" r:id="rId26"/>
    <p:sldId id="298" r:id="rId27"/>
    <p:sldId id="299" r:id="rId28"/>
    <p:sldId id="300" r:id="rId29"/>
    <p:sldId id="315" r:id="rId30"/>
    <p:sldId id="266" r:id="rId31"/>
    <p:sldId id="268" r:id="rId32"/>
    <p:sldId id="294" r:id="rId33"/>
    <p:sldId id="272" r:id="rId3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D4FAA-DD5A-7822-CEA2-C9418D646446}" name="santhosh dulam" initials="sd" userId="74bee7ff40ce72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The ensemble model achieved 98% accuracy and a 0.99 Quadratic Weighted Kappa score for classifying knee osteoarthritis severity from X-ray images.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908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1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596C-BCBC-4324-A976-A045EE32B4D3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C0B48-B307-7FEA-E6CB-F8FAF629E8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EA6D-7368-4FFB-88BD-4994632AB8AD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A07F5-002F-432B-8E65-16015ED9B4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1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551F-20FC-4A0E-A0D9-EAFEBE221B68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30D5-465F-4B14-AF48-30103E434818}" type="datetime1">
              <a:rPr lang="en-IN" smtClean="0"/>
              <a:t>05-11-2024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D8A62-4B98-4A19-ACB5-5D5B0A89A35C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EF11-D38F-4325-9067-258FAF2F42B3}" type="datetime1">
              <a:rPr lang="en-IN" smtClean="0"/>
              <a:t>05-11-2024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1CE1F-8FC5-4E7D-A6A3-025CEB70D875}" type="datetime1">
              <a:rPr lang="en-IN" smtClean="0"/>
              <a:t>05-11-2024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7A3F8-83EB-71E6-1467-2B1445E0C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388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F56EB-DD01-448C-99AF-48B0CC0CBB67}" type="datetime1">
              <a:rPr lang="en-IN" smtClean="0"/>
              <a:t>05-11-2024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EBBF-A987-4508-A59D-5E6ADA62BBE1}" type="datetime1">
              <a:rPr lang="en-IN" smtClean="0"/>
              <a:t>05-11-2024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7E6D-55D0-4A17-B57A-67E8B1D0E985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9535-1AE6-454D-8487-B40E02D83972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A764F-6CA6-48B4-9E32-490C9A6689D9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1.3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B647-8643-3214-4D28-BF115DA7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05733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cs typeface="Calibri" panose="020F0502020204030204"/>
              </a:rPr>
              <a:t>Review 1.3</a:t>
            </a:r>
          </a:p>
          <a:p>
            <a:pPr marL="0" indent="0" algn="ctr">
              <a:buNone/>
            </a:pPr>
            <a:r>
              <a:rPr lang="en-US" b="1" u="sng" dirty="0" err="1"/>
              <a:t>B.Tech</a:t>
            </a:r>
            <a:r>
              <a:rPr lang="en-US" b="1" u="sng" dirty="0"/>
              <a:t> Project  (19ECE495)</a:t>
            </a:r>
            <a:endParaRPr lang="en-IN" dirty="0"/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Batch ID: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041</a:t>
            </a:r>
            <a:endParaRPr lang="en-US" b="1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b="1" dirty="0"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Multi-Class Classification and Detection of Knee Osteoarthritis From X- rays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Calibri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cs typeface="Calibri"/>
              </a:rPr>
              <a:t>MENTOR: Dr. Devi Vijayan </a:t>
            </a:r>
            <a:endParaRPr lang="en-US" sz="20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Dept. of Elec. and </a:t>
            </a:r>
            <a:r>
              <a:rPr lang="en-US" sz="1600" dirty="0" err="1">
                <a:cs typeface="Calibri"/>
              </a:rPr>
              <a:t>Commn</a:t>
            </a:r>
            <a:r>
              <a:rPr lang="en-US" sz="1600" dirty="0">
                <a:cs typeface="Calibri"/>
              </a:rPr>
              <a:t>. </a:t>
            </a:r>
            <a:r>
              <a:rPr lang="en-US" sz="1600" dirty="0" err="1">
                <a:cs typeface="Calibri"/>
              </a:rPr>
              <a:t>Engg</a:t>
            </a:r>
            <a:r>
              <a:rPr lang="en-US" sz="1600" dirty="0">
                <a:cs typeface="Calibri"/>
              </a:rPr>
              <a:t>. </a:t>
            </a:r>
            <a:endParaRPr lang="en-US" sz="16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Amrita School of Engineering, Coimbatore</a:t>
            </a:r>
            <a:endParaRPr lang="en-US" sz="1600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latin typeface="Times New Roman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4A2F5B-6245-B893-CD53-3C56A256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2107"/>
              </p:ext>
            </p:extLst>
          </p:nvPr>
        </p:nvGraphicFramePr>
        <p:xfrm>
          <a:off x="838198" y="3947828"/>
          <a:ext cx="6375402" cy="150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5450">
                  <a:extLst>
                    <a:ext uri="{9D8B030D-6E8A-4147-A177-3AD203B41FA5}">
                      <a16:colId xmlns:a16="http://schemas.microsoft.com/office/drawing/2014/main" val="753663392"/>
                    </a:ext>
                  </a:extLst>
                </a:gridCol>
                <a:gridCol w="454348">
                  <a:extLst>
                    <a:ext uri="{9D8B030D-6E8A-4147-A177-3AD203B41FA5}">
                      <a16:colId xmlns:a16="http://schemas.microsoft.com/office/drawing/2014/main" val="1657209611"/>
                    </a:ext>
                  </a:extLst>
                </a:gridCol>
                <a:gridCol w="2735604">
                  <a:extLst>
                    <a:ext uri="{9D8B030D-6E8A-4147-A177-3AD203B41FA5}">
                      <a16:colId xmlns:a16="http://schemas.microsoft.com/office/drawing/2014/main" val="231825383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 RISHI VARDHAN REDDY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CB.EN.U4ECE21011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 M SHAAHID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DULAM SANTHOSH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6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NUKALA SUMANTH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1696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B85CC-0B37-6217-1D2D-B2C27CE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26BBB-443D-4B8D-9392-C598D7B676DA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67C2E-FC33-2B7E-F422-32D0F24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3BF90-2BA0-52DD-9773-C7C196DF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9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52D2-B09A-E515-B4F1-65AE56BA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706E-1E1D-F44D-4859-FCCE0A9B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497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osteoarthritis (KOA) is a common joint disorder characterized by the gradual degeneration of cartilage and underlying bone in the knee joint, leading to pain, stiffness, and reduced mobility.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KOA affects approximately 1 in 5 individuals in the general population and 1 in 3 people over the age of 50 [1], making it a significant contributor to impaired quality of life and daily functioning.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accurate classification of KOA severity are critical for effective treatment, as timely interventions can prevent further joint damage and improve patient outcomes.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diagnostic methods, such as physical exams and X-ray imaging, are often subjective and may misclassify early stages of KOA, leading to delayed or inappropriate treatment.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973B-4C07-7857-6182-84E82157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5525-AC94-4E8B-9539-8D6E30EFCD65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F55F-7BE3-70E3-9AFF-AFE07A0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C6DD-3F80-212C-919B-5D8ED83E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4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371A-7026-894E-8875-4FBCD18E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44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Objective:</a:t>
            </a:r>
            <a:endParaRPr lang="en-US" sz="4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To build the deep-learning model for detection and classification of Knee Osteoarthritis.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Employ deep learning model to automatically categorize the severity of knee osteoarthritis into five grades (G-0 to G-4) based on the </a:t>
            </a:r>
            <a:r>
              <a:rPr lang="en-US" sz="24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Kellgren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and Lawrence classification system.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Validate and compare the deep learning model's performance against state-of-the-art models.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408EF0-1DAF-F974-2078-2D535141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6940-1013-4254-B679-102236DB3D2C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859298-DC95-A87C-ED26-9961F47A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8556A-B9AA-A64F-2A10-EC682490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8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5FD7-63D7-9EA5-FAFF-6A17F8CE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/>
                <a:cs typeface="Times New Roman"/>
              </a:rPr>
              <a:t>Data Preparation</a:t>
            </a:r>
            <a:r>
              <a:rPr lang="en-IN" sz="3600" b="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0343-97B3-0790-D576-41C03809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Dataset[2]:</a:t>
            </a:r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the study is based on the Osteoarthritis Initiative (OAI) dataset.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8,260 X-ray images of knee joints, graded according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Kellgren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-Lawrence (KL)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scheme. The distribution of the dataset across KL grades is as follows: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0: 3,253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1: 1,495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2: 2,175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3: 1,086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4: 251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3FF81-917D-F018-2B58-ECCB814C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8EE5B-77C0-43A0-8E0F-E702A44FF9DF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47AEF-3CD6-6B6C-13D6-41ADC188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D9901-1F36-3238-914E-A669C552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4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/>
                <a:cs typeface="Times New Roman"/>
              </a:rPr>
              <a:t>Data Preparation:</a:t>
            </a:r>
            <a:endParaRPr lang="en-US" sz="3600" dirty="0">
              <a:latin typeface="Times New Roman"/>
              <a:cs typeface="Times New Roman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509060"/>
              </p:ext>
            </p:extLst>
          </p:nvPr>
        </p:nvGraphicFramePr>
        <p:xfrm>
          <a:off x="838200" y="1689554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639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2D9EF-6367-AAD3-6398-BABF9992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03619-9692-4F6B-8632-6EF8A59674CC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AF3AAC-A461-6D0C-7121-2826234B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D58A9-735F-9790-D492-9BF4BDC1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A50B-C114-B9B1-482E-DDE295FC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D268A9-9397-6A34-6C3A-6212457BFFD9}"/>
              </a:ext>
            </a:extLst>
          </p:cNvPr>
          <p:cNvSpPr/>
          <p:nvPr/>
        </p:nvSpPr>
        <p:spPr>
          <a:xfrm>
            <a:off x="4802481" y="1886320"/>
            <a:ext cx="2240622" cy="29281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5C805-9E0F-274E-EB14-7628FD891E24}"/>
              </a:ext>
            </a:extLst>
          </p:cNvPr>
          <p:cNvSpPr/>
          <p:nvPr/>
        </p:nvSpPr>
        <p:spPr>
          <a:xfrm>
            <a:off x="5039214" y="2112015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Histogram equalization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EB17DB-D7AA-C16F-B703-8BE04B112485}"/>
              </a:ext>
            </a:extLst>
          </p:cNvPr>
          <p:cNvSpPr/>
          <p:nvPr/>
        </p:nvSpPr>
        <p:spPr>
          <a:xfrm>
            <a:off x="5039213" y="2889531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Quantum noise reduction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97E77-A1A5-858B-6E9E-F9A488DB6DD8}"/>
              </a:ext>
            </a:extLst>
          </p:cNvPr>
          <p:cNvSpPr/>
          <p:nvPr/>
        </p:nvSpPr>
        <p:spPr>
          <a:xfrm>
            <a:off x="5039213" y="3717057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Unsharp masking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9CC7D4-BF59-C3A2-CAC4-32F1BC1BF221}"/>
              </a:ext>
            </a:extLst>
          </p:cNvPr>
          <p:cNvSpPr/>
          <p:nvPr/>
        </p:nvSpPr>
        <p:spPr>
          <a:xfrm>
            <a:off x="2084540" y="2839720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Image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BDDFF0-E993-BB89-5698-051880DC87BE}"/>
              </a:ext>
            </a:extLst>
          </p:cNvPr>
          <p:cNvSpPr/>
          <p:nvPr/>
        </p:nvSpPr>
        <p:spPr>
          <a:xfrm>
            <a:off x="7616318" y="2839720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Image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76C7E3E-CDEA-E0A4-2C3E-8B7DE9DE5C8D}"/>
              </a:ext>
            </a:extLst>
          </p:cNvPr>
          <p:cNvSpPr/>
          <p:nvPr/>
        </p:nvSpPr>
        <p:spPr>
          <a:xfrm>
            <a:off x="4378674" y="3093225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EBF528B-387A-E613-704C-BCF434B07DC1}"/>
              </a:ext>
            </a:extLst>
          </p:cNvPr>
          <p:cNvSpPr/>
          <p:nvPr/>
        </p:nvSpPr>
        <p:spPr>
          <a:xfrm>
            <a:off x="7155049" y="3069272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CCFCC65-34D8-5C8B-0E99-B9F9F665A457}"/>
              </a:ext>
            </a:extLst>
          </p:cNvPr>
          <p:cNvSpPr/>
          <p:nvPr/>
        </p:nvSpPr>
        <p:spPr>
          <a:xfrm rot="5400000">
            <a:off x="8553788" y="3883464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A67FE0-1EB8-E14A-4019-28104FEB2883}"/>
              </a:ext>
            </a:extLst>
          </p:cNvPr>
          <p:cNvSpPr/>
          <p:nvPr/>
        </p:nvSpPr>
        <p:spPr>
          <a:xfrm>
            <a:off x="7626756" y="4395035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E0DB73-7CB9-47D7-1E1F-5BC2BB0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3673-B01E-4201-A55E-71DA927A01AD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05-11-2024</a:t>
            </a:fld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F8EA44-E016-7C7D-2FA5-A6033BD6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1.3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DF1732-D609-B4D4-ECD5-003A82E4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10956-23BC-163C-9D70-B0C222C5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1F49-6B8F-49DD-8916-6114A4059D3D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90796-FF34-DBF2-F4E7-A98226A2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195F-1887-7D20-385D-F77A0649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C6F84-1C61-3812-DC5E-DEB1B0E76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38" y="1129943"/>
            <a:ext cx="1935822" cy="193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0D4D2-FB87-0339-7F31-A999E7783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71" y="1129943"/>
            <a:ext cx="1935822" cy="193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8F548-C5E1-98C8-1E2B-2AE4515C1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304" y="1129944"/>
            <a:ext cx="1783402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A1657F-72A6-04F0-36CE-CB461CA1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183" y="1129942"/>
            <a:ext cx="1783401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948B6-632E-0D1D-38D6-1932838A6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699" y="1129943"/>
            <a:ext cx="1783401" cy="1935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89D9E3-4127-70E1-468D-0F03F2EFD54D}"/>
              </a:ext>
            </a:extLst>
          </p:cNvPr>
          <p:cNvSpPr txBox="1"/>
          <p:nvPr/>
        </p:nvSpPr>
        <p:spPr>
          <a:xfrm>
            <a:off x="1105416" y="622110"/>
            <a:ext cx="1079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Grade0                       Grade1                       Grade2                   Grade3                   Garde4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E60CC7-9C48-41FE-FD1B-0F1EFBEC9293}"/>
              </a:ext>
            </a:extLst>
          </p:cNvPr>
          <p:cNvSpPr txBox="1"/>
          <p:nvPr/>
        </p:nvSpPr>
        <p:spPr>
          <a:xfrm>
            <a:off x="4962203" y="3155446"/>
            <a:ext cx="2702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X-rays Images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412519-0CC7-2D98-3DF3-FEE674C15C0C}"/>
              </a:ext>
            </a:extLst>
          </p:cNvPr>
          <p:cNvSpPr txBox="1"/>
          <p:nvPr/>
        </p:nvSpPr>
        <p:spPr>
          <a:xfrm>
            <a:off x="4689025" y="5956240"/>
            <a:ext cx="3464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X-ray Images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77C828D-5A6D-143F-2DFE-6FB6E54E16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399" y="3924762"/>
            <a:ext cx="1796185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615F40-947F-5ECB-EB27-B84D255FB8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37" y="3924763"/>
            <a:ext cx="1935823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532E780-4C51-AE4A-114C-EB88307ABA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304" y="3924763"/>
            <a:ext cx="1783401" cy="193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5112F33-4AC0-969D-1F1F-4DACE75064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207" y="3924763"/>
            <a:ext cx="1979286" cy="193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F6BF869-6F93-1340-77B6-C351C060C1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698" y="3924763"/>
            <a:ext cx="1783401" cy="1935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948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/>
                <a:cs typeface="Times New Roman"/>
              </a:rPr>
              <a:t>Data Preparation:</a:t>
            </a:r>
            <a:endParaRPr lang="en-US" sz="3600" dirty="0">
              <a:latin typeface="Times New Roman"/>
              <a:cs typeface="Times New Roman"/>
            </a:endParaRPr>
          </a:p>
          <a:p>
            <a:br>
              <a:rPr lang="en-US" sz="2400" b="1" dirty="0">
                <a:latin typeface="Times New Roman"/>
                <a:ea typeface="Calibri Light"/>
                <a:cs typeface="Times New Roman"/>
              </a:rPr>
            </a:br>
            <a:r>
              <a:rPr lang="en-US" sz="2800" b="1" dirty="0">
                <a:latin typeface="Times New Roman"/>
                <a:ea typeface="Calibri Light"/>
                <a:cs typeface="Times New Roman"/>
              </a:rPr>
              <a:t>Augmented Dataset: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514893"/>
              </p:ext>
            </p:extLst>
          </p:nvPr>
        </p:nvGraphicFramePr>
        <p:xfrm>
          <a:off x="838200" y="1888337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2400" b="1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 </a:t>
                      </a:r>
                      <a:endParaRPr lang="en-IN" sz="2400" b="1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7097" y="4691270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14017 augmented images of dimensions 224x224.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685DA-2A68-8388-EEC7-507B8346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EC19-F8E8-48CA-B859-40D3ACC9FA53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E13B08-0E15-E6DC-0144-C8F9241F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2F35-DA0D-5452-30C2-C2D5B0F8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7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06" y="2581"/>
            <a:ext cx="10515600" cy="803646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Calibri Light"/>
              </a:rPr>
              <a:t>Literature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B925-2D10-4A35-AE7A-03079EEBFF55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882998"/>
              </p:ext>
            </p:extLst>
          </p:nvPr>
        </p:nvGraphicFramePr>
        <p:xfrm>
          <a:off x="177452" y="803753"/>
          <a:ext cx="11823269" cy="5381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4264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4058478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1490868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769659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82778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15367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Knee osteoarthritis severity prediction using an attentive multi-scale deep convolutional neural network [3]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</a:rPr>
                        <a:t>Multimedia Tools and Applications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The study combines </a:t>
                      </a:r>
                      <a:r>
                        <a:rPr lang="en-IN" sz="1800" b="0" i="0" u="none" strike="noStrike" noProof="0" err="1">
                          <a:latin typeface="Times New Roman"/>
                          <a:cs typeface="Times New Roman"/>
                        </a:rPr>
                        <a:t>HRNet</a:t>
                      </a: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 and attention mechanisms to enhance knee osteoarthritis prediction, offering greater accuracy and efficiency than remaining methods.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248891"/>
                  </a:ext>
                </a:extLst>
              </a:tr>
              <a:tr h="18341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2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Fully automatic knee osteoarthritis severity grading using deep neural networks with a novel ordinal loss [4]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Computerized Medical Imaging and Graphics</a:t>
                      </a:r>
                      <a:endParaRPr lang="en-IN" sz="1800" b="0" i="0" kern="12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  <a:cs typeface="Times New Roman"/>
                        </a:rPr>
                        <a:t>This paper presents a two-stage deep learning approach that integrates a YOLOv2-based knee joint detection with a fine-tuned CNN using a novel ordinal loss function to automatically classify knee osteoarthritis severity, achieving state-of-the-art performance.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639027"/>
                  </a:ext>
                </a:extLst>
              </a:tr>
              <a:tr h="118255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/>
                          <a:cs typeface="Times New Roman"/>
                        </a:rPr>
                        <a:t>3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Classification and Risk Estimation of Osteoarthritis Using Deep Learning Methods [5]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Measurement Sensors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  <a:cs typeface="Times New Roman"/>
                        </a:rPr>
                        <a:t>The study provides a promising approach for automated OA classification and risk estimation, with potential for further refinement in clinical applications.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55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15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10" y="284492"/>
            <a:ext cx="10504557" cy="682168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</a:t>
            </a:r>
            <a:endParaRPr lang="en-US" sz="3600">
              <a:latin typeface="Times New Roman"/>
              <a:cs typeface="Times New Roman"/>
            </a:endParaRPr>
          </a:p>
          <a:p>
            <a:endParaRPr lang="en-US" sz="3200" b="1">
              <a:latin typeface="Times New Roman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8E06-4DDE-4C69-A41A-12E008839D8B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942166"/>
              </p:ext>
            </p:extLst>
          </p:nvPr>
        </p:nvGraphicFramePr>
        <p:xfrm>
          <a:off x="357138" y="842657"/>
          <a:ext cx="11468805" cy="5577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6347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573304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1538039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761115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6213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115386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Automatic Detection of Knee Osteoarthritis Disease with the Developed CNN, NCA and SVM Based Hybrid Model [6]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IN" sz="1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eaLnBrk="1" latinLnBrk="0" hangingPunct="1"/>
                      <a:r>
                        <a:rPr lang="en-US" sz="18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Traitement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 Signal</a:t>
                      </a:r>
                      <a:endParaRPr lang="en-IN" i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The  study proposes an automated deep learning-based ordinal classification approach for early diagnosis and grading of knee osteoarthritis using X-ray images.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889366"/>
                  </a:ext>
                </a:extLst>
              </a:tr>
              <a:tr h="14201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dirty="0">
                          <a:latin typeface="Times New Roman"/>
                          <a:cs typeface="Times New Roman"/>
                        </a:rPr>
                        <a:t>KOA-</a:t>
                      </a:r>
                      <a:r>
                        <a:rPr lang="en-IN" dirty="0" err="1">
                          <a:latin typeface="Times New Roman"/>
                          <a:cs typeface="Times New Roman"/>
                        </a:rPr>
                        <a:t>CCTNet</a:t>
                      </a:r>
                      <a:r>
                        <a:rPr lang="en-IN" dirty="0">
                          <a:latin typeface="Times New Roman"/>
                          <a:cs typeface="Times New Roman"/>
                        </a:rPr>
                        <a:t>: An Enhanced Knee Osteoarthritis Grade Assessment Framework Using Modified Compact Convolutional Transformer Model [7]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IEEE Access</a:t>
                      </a:r>
                      <a:endParaRPr lang="en-IN" sz="180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The KOA-</a:t>
                      </a:r>
                      <a:r>
                        <a:rPr lang="en-US" sz="1800" b="0" i="0" u="none" strike="noStrike" noProof="0" dirty="0" err="1">
                          <a:latin typeface="Times New Roman"/>
                          <a:cs typeface="Times New Roman"/>
                        </a:rPr>
                        <a:t>CCTNet</a:t>
                      </a:r>
                      <a:r>
                        <a:rPr lang="en-US" sz="1800" b="0" i="0" u="none" strike="noStrike" noProof="0" dirty="0">
                          <a:latin typeface="Times New Roman"/>
                          <a:cs typeface="Times New Roman"/>
                        </a:rPr>
                        <a:t> model, based on a modified compact convolutional transformer, showed superior performance over other models in accurately grading knee osteoarthritis from X-ray images.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895014"/>
                  </a:ext>
                </a:extLst>
              </a:tr>
              <a:tr h="221897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Stratifying knee osteoarthritis features through multitask deep hybrid learning: Data from the osteoarthritis initiative[8]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Computer Methods and Programs in Biomedicine, Volume 242, September 2023, Article 107807</a:t>
                      </a:r>
                      <a:r>
                        <a:rPr lang="en-US" sz="1800" b="0" i="1" kern="12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IN" sz="1800" b="0" i="1" kern="12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Replaced the fully connected layers in CNNs with Global Average Pooling (GAP) layers for feature extraction, to reduce the number of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1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0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06" y="2581"/>
            <a:ext cx="10515600" cy="80364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Calibri Light"/>
              </a:rPr>
              <a:t>Literature 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9647F-81A9-4A23-98DB-D0A78CD91AC3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51970"/>
              </p:ext>
            </p:extLst>
          </p:nvPr>
        </p:nvGraphicFramePr>
        <p:xfrm>
          <a:off x="184365" y="875084"/>
          <a:ext cx="11823269" cy="51078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388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3508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224141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769659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916790"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 of the paper</a:t>
                      </a:r>
                      <a:endParaRPr lang="en-IN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095521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 Highly Confident Samples for Automatic Knee Osteoarthritis Severity Assessment: Data From the Osteoarthritis Initiative[9]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Journal of Biomedical and Health </a:t>
                      </a:r>
                      <a:r>
                        <a:rPr lang="en-IN" sz="18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Informaticsvol</a:t>
                      </a:r>
                      <a:r>
                        <a:rPr lang="en-I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26, no. 3, pp. 1239-1250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 deep learning method for knee osteoarthritis (OA) severity assessment, using high-confidence samples and a hybrid loss function to enhance accuracy, excelling in both severity grading and early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558214"/>
                  </a:ext>
                </a:extLst>
              </a:tr>
              <a:tr h="2095521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  <a:cs typeface="Times New Roman"/>
                        </a:rPr>
                        <a:t>Evaluating the efficacy of deep learning models for knee osteoarthritis prediction based on Kellgren-Lawrence grading system .[10]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Elsevier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e-Prime - Advances in Electrical Engineering, Electronics and Energy, 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vol. 5, p. 100266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dirty="0">
                          <a:latin typeface="Times New Roman"/>
                        </a:rPr>
                        <a:t>The study emphasizes the need for accurate, reliable models to automate KOA classification, reducing dependence on radiologists in underserved areas. Increasing dataset size and fine-tuning models could further enhance their clinical effectiveness, improving decision-making.</a:t>
                      </a:r>
                      <a:endParaRPr lang="en-US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909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82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10" y="284492"/>
            <a:ext cx="10504557" cy="6821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Literature :</a:t>
            </a:r>
            <a:endParaRPr lang="en-US" dirty="0"/>
          </a:p>
          <a:p>
            <a:endParaRPr lang="en-US" sz="3200" b="1" dirty="0">
              <a:latin typeface="Times New Roman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9030-1BF9-418B-A4E2-E71751B5B2AF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19786"/>
              </p:ext>
            </p:extLst>
          </p:nvPr>
        </p:nvGraphicFramePr>
        <p:xfrm>
          <a:off x="357138" y="1176684"/>
          <a:ext cx="11468799" cy="49519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6345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3316741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160133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395580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96288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200875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Sequential VGG16+CNN-Based Automated Approach With Adaptive Input for Efficient Detection of Knee Osteoarthritis Stages[11]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1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12, 2024, pp. 62407-62415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combining the feature extraction power of VGG16 and the spatial analysis capabilities of CNN, the hybrid model significantly improves the accuracy of OA detection from X-ray images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093039"/>
                  </a:ext>
                </a:extLst>
              </a:tr>
              <a:tr h="1788211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Automatic Classification of Knee Osteoarthritis Severity Using Gait Data and Radiographic Image[12]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1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8, 2020, pp. 120597-120603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integration of both gait data and radiographic images significantly outperforms the use of radiographic images alone for KOA classification in the deep learning model Inception-ResNet-v2.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88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67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20AB-C85B-6A12-D3BA-2330E1AD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1588-236C-2D3C-A091-4DB7F156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VGG16 has 16 weight layers: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1.13 convolutional layers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3 fully connected layers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3. Max-pooling layers after some of the convolutional layers.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is commonly used as a pretrained model, meaning it can be fine-tuned for specific tasks such as object detection and image classification.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6662EC-EF4C-4FFE-F6B3-74F558E6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ABA4-0DDD-4427-99AE-86CFA0C693B5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468265-4434-A3C4-91DF-86F53944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D5AAB6-5CBB-EFE6-FFAE-00967F59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739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D29D407-C881-B9BF-1F54-B0E0EDED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2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VGG16: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images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EDED1-FB1C-914F-8FA1-2F9D0056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87" y="1231035"/>
            <a:ext cx="6094341" cy="473825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2044639-87F2-0E39-AC89-EA5FE337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D89F-BD18-4E7C-9343-4B429B1F3FD5}" type="datetime1">
              <a:rPr lang="en-IN" smtClean="0"/>
              <a:t>05-11-2024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6BC5C3-E82A-1245-9922-75C24D0A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A051BD-6EDF-8DC1-5A7A-5C57B284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38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9A42-F109-0135-22A0-D5D4C4927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472"/>
            <a:ext cx="10515600" cy="70712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/>
                <a:cs typeface="calibri light"/>
              </a:rPr>
              <a:t>EfficientNetV2B0</a:t>
            </a:r>
          </a:p>
          <a:p>
            <a:endParaRPr lang="en-US" b="1" dirty="0">
              <a:latin typeface="Times New Roman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8E27-D1E1-4F47-4969-AD1AEC7B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017"/>
            <a:ext cx="10515600" cy="4759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 err="1">
                <a:latin typeface="Times New Roman"/>
                <a:ea typeface="+mn-lt"/>
                <a:cs typeface="+mn-lt"/>
              </a:rPr>
              <a:t>EfficientNet</a:t>
            </a:r>
            <a:r>
              <a:rPr lang="en-US" sz="2400" dirty="0">
                <a:latin typeface="Times New Roman"/>
                <a:ea typeface="+mn-lt"/>
                <a:cs typeface="+mn-lt"/>
              </a:rPr>
              <a:t>, introduced by Google AI researchers in 2019, excels in tasks like object detection and image segmentation.</a:t>
            </a:r>
            <a:endParaRPr lang="en-US" sz="2400" dirty="0">
              <a:latin typeface="Times New Roman"/>
              <a:cs typeface="Calibri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It employs compound scaling to optimize model dimensions—width, depth, and resolution.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The architecture achieves efficiency without compromising accuracy, overcoming traditional accuracy-resource trade-offs.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The EfficientNetV2B0 architecture consists of 9 layers in total. These layers include, Conv2D Layers, Global Average Pooling Layer.</a:t>
            </a:r>
            <a:endParaRPr lang="en-US" sz="2400" dirty="0">
              <a:latin typeface="Times New Roman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97E6F-C95D-64BF-AE06-3C073596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CD59-361E-4D59-8E49-4E437D5EC054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3D65B-FA26-FD97-738D-E350C072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D1CF3-E5C5-A355-0A86-E772188E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5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7C47-D86E-2236-8C8D-CE25A580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821"/>
            <a:ext cx="10515600" cy="1027389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b="1">
                <a:latin typeface="Times New Roman"/>
                <a:cs typeface="calibri light"/>
              </a:rPr>
            </a:br>
            <a:r>
              <a:rPr lang="en-US" b="1">
                <a:latin typeface="Times New Roman"/>
                <a:cs typeface="calibri light"/>
              </a:rPr>
              <a:t>EfficientNetV2B0:</a:t>
            </a:r>
          </a:p>
          <a:p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9" name="Content Placeholder 8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69A31D58-18BD-3F6A-AD1F-E10A5B4EB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123" y="1322161"/>
            <a:ext cx="6212217" cy="485480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DDF8D-7F56-D96B-978E-B4C3241E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1C8E-9F3B-443C-98FF-A70A6422F306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B63E9B-4AC2-8BBA-4597-8BA91F04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258EC1-8D9A-565A-8E51-31833991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7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03BC-0A47-60FA-583A-1D362FB6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65" y="277917"/>
            <a:ext cx="10083229" cy="898596"/>
          </a:xfrm>
        </p:spPr>
        <p:txBody>
          <a:bodyPr/>
          <a:lstStyle/>
          <a:p>
            <a:r>
              <a:rPr lang="en-US" b="1" dirty="0">
                <a:latin typeface="Times New Roman"/>
                <a:cs typeface="Calibri Light"/>
              </a:rPr>
              <a:t>RESNET50:</a:t>
            </a:r>
            <a:endParaRPr lang="en-US" b="1" dirty="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00F1-7257-273D-D709-68DCD7E3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65" y="1355900"/>
            <a:ext cx="11298476" cy="4821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ResNet-50 was developed by Microsoft Research Asia and released in 2015.</a:t>
            </a:r>
          </a:p>
          <a:p>
            <a:pPr algn="just"/>
            <a:r>
              <a:rPr lang="en-US" sz="2400" b="1" dirty="0">
                <a:latin typeface="Times New Roman"/>
                <a:ea typeface="+mn-lt"/>
                <a:cs typeface="+mn-lt"/>
              </a:rPr>
              <a:t>50 layers</a:t>
            </a:r>
            <a:r>
              <a:rPr lang="en-US" sz="2400" dirty="0">
                <a:latin typeface="Times New Roman"/>
                <a:ea typeface="+mn-lt"/>
                <a:cs typeface="+mn-lt"/>
              </a:rPr>
              <a:t> in total, consisting of:</a:t>
            </a: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 Conv layer (7x7 convolution)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 Max-pooling layer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16 Residual blocks (each consisting of 3 convolutional layers)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Fully connected (FC) layer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ResNet-50 is a convolutional neural network (CNN) that excels at image classification.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Calibri"/>
              </a:rPr>
              <a:t>Feature Hierarchy in ResNet50 are Low-level features and High-level features.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0E232-70D6-42D2-DA28-4DBD25CE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4945-B031-4996-87E7-5351985AE25F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BBA44-F4AC-FB4E-9A69-AB2298DA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000F0-6485-9640-21EF-296AA2EA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413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043E-0764-001D-6D7E-9F56E87D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Calibri Light"/>
              </a:rPr>
              <a:t>RESNET50:</a:t>
            </a:r>
            <a:endParaRPr lang="en-US" b="1">
              <a:latin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1C8D7-11C4-4C9B-A269-4968625D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973" y="1282700"/>
            <a:ext cx="6114889" cy="515384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50716-88A3-8E5E-9464-667A1909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6067B-BC3D-4797-86DF-3AA294DD01C7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EE81FC-D979-F441-94B1-0C1367C5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A3FA1D-0E4F-B746-CC0C-10FBD2EE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53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70C5-6AFE-F227-AFDC-29EE7CD2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432"/>
            <a:ext cx="10377948" cy="434002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016B72B-E7E3-7087-60E4-1B2247CB8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859858"/>
              </p:ext>
            </p:extLst>
          </p:nvPr>
        </p:nvGraphicFramePr>
        <p:xfrm>
          <a:off x="838199" y="1825625"/>
          <a:ext cx="10720226" cy="2787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24381">
                  <a:extLst>
                    <a:ext uri="{9D8B030D-6E8A-4147-A177-3AD203B41FA5}">
                      <a16:colId xmlns:a16="http://schemas.microsoft.com/office/drawing/2014/main" val="2379092079"/>
                    </a:ext>
                  </a:extLst>
                </a:gridCol>
                <a:gridCol w="1944576">
                  <a:extLst>
                    <a:ext uri="{9D8B030D-6E8A-4147-A177-3AD203B41FA5}">
                      <a16:colId xmlns:a16="http://schemas.microsoft.com/office/drawing/2014/main" val="2182898991"/>
                    </a:ext>
                  </a:extLst>
                </a:gridCol>
                <a:gridCol w="1794223">
                  <a:extLst>
                    <a:ext uri="{9D8B030D-6E8A-4147-A177-3AD203B41FA5}">
                      <a16:colId xmlns:a16="http://schemas.microsoft.com/office/drawing/2014/main" val="1857647232"/>
                    </a:ext>
                  </a:extLst>
                </a:gridCol>
                <a:gridCol w="1913001">
                  <a:extLst>
                    <a:ext uri="{9D8B030D-6E8A-4147-A177-3AD203B41FA5}">
                      <a16:colId xmlns:a16="http://schemas.microsoft.com/office/drawing/2014/main" val="840394415"/>
                    </a:ext>
                  </a:extLst>
                </a:gridCol>
                <a:gridCol w="2144045">
                  <a:extLst>
                    <a:ext uri="{9D8B030D-6E8A-4147-A177-3AD203B41FA5}">
                      <a16:colId xmlns:a16="http://schemas.microsoft.com/office/drawing/2014/main" val="3195993916"/>
                    </a:ext>
                  </a:extLst>
                </a:gridCol>
              </a:tblGrid>
              <a:tr h="699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 score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57342"/>
                  </a:ext>
                </a:extLst>
              </a:tr>
              <a:tr h="699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VGG- 16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0.8231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84996"/>
                  </a:ext>
                </a:extLst>
              </a:tr>
              <a:tr h="75138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0.9087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0.7822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extLst>
                  <a:ext uri="{0D108BD9-81ED-4DB2-BD59-A6C34878D82A}">
                    <a16:rowId xmlns:a16="http://schemas.microsoft.com/office/drawing/2014/main" val="2716406163"/>
                  </a:ext>
                </a:extLst>
              </a:tr>
              <a:tr h="6376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EfficientNetB2V0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0.8708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0.8881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0.8708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0.8486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9013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9D95A2E-7404-9233-50A5-B0F4556A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698D-C6BA-4212-B9B4-2A7CE72D5540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1F0FEE2-8115-823F-D14D-C32A81A6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11D44C-048E-2B53-8F8E-67D67663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49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64A3EE-8437-62F1-3B78-7421057EE478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AB15BAE-207E-4C99-9EC2-E9102282000A}" type="datetime1">
              <a:rPr lang="en-IN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05-11-2024</a:t>
            </a:fld>
            <a:endParaRPr lang="en-GB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273E62B-FD4E-D1CD-C0EE-455D6510520C}"/>
              </a:ext>
            </a:extLst>
          </p:cNvPr>
          <p:cNvSpPr txBox="1"/>
          <p:nvPr/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898989"/>
                </a:solidFill>
                <a:uFillTx/>
                <a:latin typeface="Calibri"/>
              </a:rPr>
              <a:t>Review 1.3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40D2D7-2F28-9FE6-68C1-BC64499EAA4F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63ABE42-A201-4224-9B6E-C58503A7929B}" type="slidenum">
              <a:rPr sz="1200"/>
              <a:t>20</a:t>
            </a:fld>
            <a:endParaRPr lang="en-GB" sz="1200" b="0" i="0" u="none" strike="noStrike" kern="1200" cap="none" spc="0" baseline="0" dirty="0">
              <a:solidFill>
                <a:srgbClr val="898989"/>
              </a:solidFill>
              <a:uFillTx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CA8E83-D6E6-74ED-942E-CDE393C0C31A}"/>
              </a:ext>
            </a:extLst>
          </p:cNvPr>
          <p:cNvSpPr/>
          <p:nvPr/>
        </p:nvSpPr>
        <p:spPr>
          <a:xfrm>
            <a:off x="561084" y="923928"/>
            <a:ext cx="132536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Dataset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6" name="Rectangle: Rounded Corners 5" descr="PREPROCESSING">
            <a:extLst>
              <a:ext uri="{FF2B5EF4-FFF2-40B4-BE49-F238E27FC236}">
                <a16:creationId xmlns:a16="http://schemas.microsoft.com/office/drawing/2014/main" id="{F428B75A-C934-6AEA-5A0C-0EF9B93AC59C}"/>
              </a:ext>
            </a:extLst>
          </p:cNvPr>
          <p:cNvSpPr/>
          <p:nvPr/>
        </p:nvSpPr>
        <p:spPr>
          <a:xfrm>
            <a:off x="240075" y="1970184"/>
            <a:ext cx="1921264" cy="3173004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7" name="Rectangle: Rounded Corners 20">
            <a:extLst>
              <a:ext uri="{FF2B5EF4-FFF2-40B4-BE49-F238E27FC236}">
                <a16:creationId xmlns:a16="http://schemas.microsoft.com/office/drawing/2014/main" id="{4B098572-479F-1A37-B7D0-8A6EDEA1AF31}"/>
              </a:ext>
            </a:extLst>
          </p:cNvPr>
          <p:cNvSpPr/>
          <p:nvPr/>
        </p:nvSpPr>
        <p:spPr>
          <a:xfrm>
            <a:off x="4045479" y="923928"/>
            <a:ext cx="2258632" cy="3955548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0F72CD28-831D-A6E8-E141-26280B8F91D8}"/>
              </a:ext>
            </a:extLst>
          </p:cNvPr>
          <p:cNvSpPr txBox="1"/>
          <p:nvPr/>
        </p:nvSpPr>
        <p:spPr>
          <a:xfrm>
            <a:off x="4288883" y="975180"/>
            <a:ext cx="20152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Total 10000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54FE6443-E3A6-B554-1D45-C7E297B0954D}"/>
              </a:ext>
            </a:extLst>
          </p:cNvPr>
          <p:cNvSpPr/>
          <p:nvPr/>
        </p:nvSpPr>
        <p:spPr>
          <a:xfrm>
            <a:off x="4160455" y="1417630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0 )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0" name="Rectangle 38">
            <a:extLst>
              <a:ext uri="{FF2B5EF4-FFF2-40B4-BE49-F238E27FC236}">
                <a16:creationId xmlns:a16="http://schemas.microsoft.com/office/drawing/2014/main" id="{2FA610C0-4FC8-8901-DA6C-B1A75640DB99}"/>
              </a:ext>
            </a:extLst>
          </p:cNvPr>
          <p:cNvSpPr/>
          <p:nvPr/>
        </p:nvSpPr>
        <p:spPr>
          <a:xfrm>
            <a:off x="4160455" y="2108076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1 )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1" name="Rectangle 39">
            <a:extLst>
              <a:ext uri="{FF2B5EF4-FFF2-40B4-BE49-F238E27FC236}">
                <a16:creationId xmlns:a16="http://schemas.microsoft.com/office/drawing/2014/main" id="{45120E12-EFA0-30A5-768F-23CC8140C695}"/>
              </a:ext>
            </a:extLst>
          </p:cNvPr>
          <p:cNvSpPr/>
          <p:nvPr/>
        </p:nvSpPr>
        <p:spPr>
          <a:xfrm>
            <a:off x="4160455" y="2803248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2 )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2" name="Rectangle 40">
            <a:extLst>
              <a:ext uri="{FF2B5EF4-FFF2-40B4-BE49-F238E27FC236}">
                <a16:creationId xmlns:a16="http://schemas.microsoft.com/office/drawing/2014/main" id="{FE7ACF12-95D3-6546-EA21-6C078DB2A93D}"/>
              </a:ext>
            </a:extLst>
          </p:cNvPr>
          <p:cNvSpPr/>
          <p:nvPr/>
        </p:nvSpPr>
        <p:spPr>
          <a:xfrm>
            <a:off x="4160455" y="3513728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3 )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3" name="Rectangle 41">
            <a:extLst>
              <a:ext uri="{FF2B5EF4-FFF2-40B4-BE49-F238E27FC236}">
                <a16:creationId xmlns:a16="http://schemas.microsoft.com/office/drawing/2014/main" id="{04710508-6387-F31E-4796-865565FF25B6}"/>
              </a:ext>
            </a:extLst>
          </p:cNvPr>
          <p:cNvSpPr/>
          <p:nvPr/>
        </p:nvSpPr>
        <p:spPr>
          <a:xfrm>
            <a:off x="4160455" y="4165786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4 )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4" name="Rectangle 52">
            <a:extLst>
              <a:ext uri="{FF2B5EF4-FFF2-40B4-BE49-F238E27FC236}">
                <a16:creationId xmlns:a16="http://schemas.microsoft.com/office/drawing/2014/main" id="{44E095AD-E396-6C87-E27C-F3305EEB75C9}"/>
              </a:ext>
            </a:extLst>
          </p:cNvPr>
          <p:cNvSpPr/>
          <p:nvPr/>
        </p:nvSpPr>
        <p:spPr>
          <a:xfrm>
            <a:off x="7039334" y="1509555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 8000 images 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3078393E-E853-6ADE-7677-889FFE152884}"/>
              </a:ext>
            </a:extLst>
          </p:cNvPr>
          <p:cNvSpPr/>
          <p:nvPr/>
        </p:nvSpPr>
        <p:spPr>
          <a:xfrm>
            <a:off x="9297966" y="1509555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Validation 2000 images 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2E9EA304-D232-9CE2-F595-C54E5261BDCA}"/>
              </a:ext>
            </a:extLst>
          </p:cNvPr>
          <p:cNvSpPr/>
          <p:nvPr/>
        </p:nvSpPr>
        <p:spPr>
          <a:xfrm>
            <a:off x="406194" y="2561636"/>
            <a:ext cx="1613047" cy="80823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Quantum Noise Reduction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A389F4F1-9DE9-E8FD-1A36-ACAA30A24BD2}"/>
              </a:ext>
            </a:extLst>
          </p:cNvPr>
          <p:cNvSpPr/>
          <p:nvPr/>
        </p:nvSpPr>
        <p:spPr>
          <a:xfrm>
            <a:off x="406194" y="3543364"/>
            <a:ext cx="161304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Histogram Equalization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FF458C49-208A-5183-0BDB-B5022AD5B1BF}"/>
              </a:ext>
            </a:extLst>
          </p:cNvPr>
          <p:cNvSpPr/>
          <p:nvPr/>
        </p:nvSpPr>
        <p:spPr>
          <a:xfrm>
            <a:off x="406185" y="4332719"/>
            <a:ext cx="161304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Unsharp Masking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F94B7D42-3D5F-4C83-FC74-950AED9B7CDA}"/>
              </a:ext>
            </a:extLst>
          </p:cNvPr>
          <p:cNvSpPr txBox="1"/>
          <p:nvPr/>
        </p:nvSpPr>
        <p:spPr>
          <a:xfrm>
            <a:off x="416445" y="2081512"/>
            <a:ext cx="1756882" cy="3231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5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PREPROCESSING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3159A019-8386-E688-FEB0-8930F667A334}"/>
              </a:ext>
            </a:extLst>
          </p:cNvPr>
          <p:cNvSpPr/>
          <p:nvPr/>
        </p:nvSpPr>
        <p:spPr>
          <a:xfrm>
            <a:off x="2359087" y="2803248"/>
            <a:ext cx="1521113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Augmentation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1" name="Rectangle 66">
            <a:extLst>
              <a:ext uri="{FF2B5EF4-FFF2-40B4-BE49-F238E27FC236}">
                <a16:creationId xmlns:a16="http://schemas.microsoft.com/office/drawing/2014/main" id="{5E9356D3-84F8-5D1B-DB99-E717D8C57AEF}"/>
              </a:ext>
            </a:extLst>
          </p:cNvPr>
          <p:cNvSpPr/>
          <p:nvPr/>
        </p:nvSpPr>
        <p:spPr>
          <a:xfrm>
            <a:off x="8065602" y="2581195"/>
            <a:ext cx="1953926" cy="70264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ResNet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2" name="Rectangle 73">
            <a:extLst>
              <a:ext uri="{FF2B5EF4-FFF2-40B4-BE49-F238E27FC236}">
                <a16:creationId xmlns:a16="http://schemas.microsoft.com/office/drawing/2014/main" id="{D2015AF3-DE3F-E842-1AA5-748B1BD91CAB}"/>
              </a:ext>
            </a:extLst>
          </p:cNvPr>
          <p:cNvSpPr/>
          <p:nvPr/>
        </p:nvSpPr>
        <p:spPr>
          <a:xfrm>
            <a:off x="8065602" y="3460025"/>
            <a:ext cx="1953926" cy="88552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Convolutional Block Attention Module(CBAM)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BE8F6CD8-E6A1-EF9C-8A21-9155EA7F8AE5}"/>
              </a:ext>
            </a:extLst>
          </p:cNvPr>
          <p:cNvSpPr/>
          <p:nvPr/>
        </p:nvSpPr>
        <p:spPr>
          <a:xfrm>
            <a:off x="8065602" y="4582067"/>
            <a:ext cx="1953926" cy="6906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SVM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244303D-3E9B-FE56-AD16-6C7FE3C32C97}"/>
              </a:ext>
            </a:extLst>
          </p:cNvPr>
          <p:cNvSpPr/>
          <p:nvPr/>
        </p:nvSpPr>
        <p:spPr>
          <a:xfrm>
            <a:off x="8065602" y="5499869"/>
            <a:ext cx="1953926" cy="7700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Output Prediction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AD57815F-1BE8-0805-771E-76954DC0D08F}"/>
              </a:ext>
            </a:extLst>
          </p:cNvPr>
          <p:cNvSpPr txBox="1"/>
          <p:nvPr/>
        </p:nvSpPr>
        <p:spPr>
          <a:xfrm>
            <a:off x="9982203" y="4625958"/>
            <a:ext cx="163787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Machine learning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classifier</a:t>
            </a:r>
            <a:endParaRPr lang="en-IN" sz="16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6" name="Arrow: Right 111">
            <a:extLst>
              <a:ext uri="{FF2B5EF4-FFF2-40B4-BE49-F238E27FC236}">
                <a16:creationId xmlns:a16="http://schemas.microsoft.com/office/drawing/2014/main" id="{5BAAE198-254C-448F-531C-08EE1FD0CCE5}"/>
              </a:ext>
            </a:extLst>
          </p:cNvPr>
          <p:cNvSpPr/>
          <p:nvPr/>
        </p:nvSpPr>
        <p:spPr>
          <a:xfrm rot="5400013">
            <a:off x="1017316" y="1497550"/>
            <a:ext cx="390777" cy="48463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cxnSp>
        <p:nvCxnSpPr>
          <p:cNvPr id="27" name="Connector: Elbow 113">
            <a:extLst>
              <a:ext uri="{FF2B5EF4-FFF2-40B4-BE49-F238E27FC236}">
                <a16:creationId xmlns:a16="http://schemas.microsoft.com/office/drawing/2014/main" id="{18FEC2D3-B7CA-6921-1E4B-2002AEB4415D}"/>
              </a:ext>
            </a:extLst>
          </p:cNvPr>
          <p:cNvCxnSpPr>
            <a:stCxn id="7" idx="0"/>
            <a:endCxn id="14" idx="0"/>
          </p:cNvCxnSpPr>
          <p:nvPr/>
        </p:nvCxnSpPr>
        <p:spPr>
          <a:xfrm rot="16200000" flipH="1">
            <a:off x="6256038" y="-157316"/>
            <a:ext cx="585627" cy="2748115"/>
          </a:xfrm>
          <a:prstGeom prst="bentConnector3">
            <a:avLst>
              <a:gd name="adj1" fmla="val -39035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8" name="Connector: Elbow 120">
            <a:extLst>
              <a:ext uri="{FF2B5EF4-FFF2-40B4-BE49-F238E27FC236}">
                <a16:creationId xmlns:a16="http://schemas.microsoft.com/office/drawing/2014/main" id="{C65B51D6-4929-F0D8-1EA8-3D981510C96D}"/>
              </a:ext>
            </a:extLst>
          </p:cNvPr>
          <p:cNvCxnSpPr>
            <a:stCxn id="7" idx="0"/>
            <a:endCxn id="15" idx="0"/>
          </p:cNvCxnSpPr>
          <p:nvPr/>
        </p:nvCxnSpPr>
        <p:spPr>
          <a:xfrm rot="16200000" flipH="1">
            <a:off x="7385354" y="-1286632"/>
            <a:ext cx="585627" cy="5006747"/>
          </a:xfrm>
          <a:prstGeom prst="bentConnector3">
            <a:avLst>
              <a:gd name="adj1" fmla="val -39035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9" name="Straight Arrow Connector 129">
            <a:extLst>
              <a:ext uri="{FF2B5EF4-FFF2-40B4-BE49-F238E27FC236}">
                <a16:creationId xmlns:a16="http://schemas.microsoft.com/office/drawing/2014/main" id="{FD12CD68-64F0-C83B-F217-97CFF4AD4F29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9042565" y="3283838"/>
            <a:ext cx="0" cy="176187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0" name="Straight Arrow Connector 134">
            <a:extLst>
              <a:ext uri="{FF2B5EF4-FFF2-40B4-BE49-F238E27FC236}">
                <a16:creationId xmlns:a16="http://schemas.microsoft.com/office/drawing/2014/main" id="{E3CAAC5D-C98A-615B-17CD-1B76B644B22A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9042565" y="4345548"/>
            <a:ext cx="0" cy="236519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1" name="Straight Arrow Connector 136">
            <a:extLst>
              <a:ext uri="{FF2B5EF4-FFF2-40B4-BE49-F238E27FC236}">
                <a16:creationId xmlns:a16="http://schemas.microsoft.com/office/drawing/2014/main" id="{B714FF9A-568C-EBD2-A2AA-AEEAAFEED23E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9042565" y="5272676"/>
            <a:ext cx="0" cy="227193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2" name="Connector: Elbow 138">
            <a:extLst>
              <a:ext uri="{FF2B5EF4-FFF2-40B4-BE49-F238E27FC236}">
                <a16:creationId xmlns:a16="http://schemas.microsoft.com/office/drawing/2014/main" id="{B34A9ABA-5B3D-225D-15B0-A90004D46D42}"/>
              </a:ext>
            </a:extLst>
          </p:cNvPr>
          <p:cNvCxnSpPr>
            <a:stCxn id="14" idx="2"/>
            <a:endCxn id="21" idx="0"/>
          </p:cNvCxnSpPr>
          <p:nvPr/>
        </p:nvCxnSpPr>
        <p:spPr>
          <a:xfrm rot="16200000" flipH="1">
            <a:off x="8298280" y="1836909"/>
            <a:ext cx="368915" cy="1119655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3" name="Connector: Elbow 140">
            <a:extLst>
              <a:ext uri="{FF2B5EF4-FFF2-40B4-BE49-F238E27FC236}">
                <a16:creationId xmlns:a16="http://schemas.microsoft.com/office/drawing/2014/main" id="{A837E6D2-A785-B6E8-441E-7CFFA82CDC6C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 rot="5400000">
            <a:off x="9427597" y="1827249"/>
            <a:ext cx="368915" cy="1138977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34" name="Rectangle 141">
            <a:extLst>
              <a:ext uri="{FF2B5EF4-FFF2-40B4-BE49-F238E27FC236}">
                <a16:creationId xmlns:a16="http://schemas.microsoft.com/office/drawing/2014/main" id="{849F2F6E-2DD1-8227-B5BD-1A48DAEDC70C}"/>
              </a:ext>
            </a:extLst>
          </p:cNvPr>
          <p:cNvSpPr/>
          <p:nvPr/>
        </p:nvSpPr>
        <p:spPr>
          <a:xfrm>
            <a:off x="10497595" y="2574292"/>
            <a:ext cx="1637873" cy="70954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Grad CAM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35" name="Straight Arrow Connector 143">
            <a:extLst>
              <a:ext uri="{FF2B5EF4-FFF2-40B4-BE49-F238E27FC236}">
                <a16:creationId xmlns:a16="http://schemas.microsoft.com/office/drawing/2014/main" id="{7E8BBA16-CAE7-C000-0147-8D2F67C268C0}"/>
              </a:ext>
            </a:extLst>
          </p:cNvPr>
          <p:cNvCxnSpPr>
            <a:stCxn id="21" idx="3"/>
            <a:endCxn id="34" idx="1"/>
          </p:cNvCxnSpPr>
          <p:nvPr/>
        </p:nvCxnSpPr>
        <p:spPr>
          <a:xfrm flipV="1">
            <a:off x="10019528" y="2929065"/>
            <a:ext cx="478067" cy="3452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36" name="TextBox 8">
            <a:extLst>
              <a:ext uri="{FF2B5EF4-FFF2-40B4-BE49-F238E27FC236}">
                <a16:creationId xmlns:a16="http://schemas.microsoft.com/office/drawing/2014/main" id="{6CD01CBA-1BDA-FCF0-F7F6-B30F86AF85C4}"/>
              </a:ext>
            </a:extLst>
          </p:cNvPr>
          <p:cNvSpPr txBox="1"/>
          <p:nvPr/>
        </p:nvSpPr>
        <p:spPr>
          <a:xfrm>
            <a:off x="10462034" y="3256562"/>
            <a:ext cx="1783528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Feature Extraction</a:t>
            </a:r>
            <a:endParaRPr lang="en-IN" sz="16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37" name="Rectangle 48">
            <a:extLst>
              <a:ext uri="{FF2B5EF4-FFF2-40B4-BE49-F238E27FC236}">
                <a16:creationId xmlns:a16="http://schemas.microsoft.com/office/drawing/2014/main" id="{7D6442AE-6C87-DD30-58D6-ACBE0379CFB9}"/>
              </a:ext>
            </a:extLst>
          </p:cNvPr>
          <p:cNvSpPr/>
          <p:nvPr/>
        </p:nvSpPr>
        <p:spPr>
          <a:xfrm>
            <a:off x="5976143" y="5014898"/>
            <a:ext cx="1921264" cy="129822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(To be given after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Training model)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38" name="Connector: Elbow 170">
            <a:extLst>
              <a:ext uri="{FF2B5EF4-FFF2-40B4-BE49-F238E27FC236}">
                <a16:creationId xmlns:a16="http://schemas.microsoft.com/office/drawing/2014/main" id="{8D9650D0-7B24-7874-1EE3-3E73E5A25521}"/>
              </a:ext>
            </a:extLst>
          </p:cNvPr>
          <p:cNvCxnSpPr>
            <a:stCxn id="37" idx="0"/>
            <a:endCxn id="21" idx="1"/>
          </p:cNvCxnSpPr>
          <p:nvPr/>
        </p:nvCxnSpPr>
        <p:spPr>
          <a:xfrm rot="5400000" flipH="1" flipV="1">
            <a:off x="6459998" y="3409295"/>
            <a:ext cx="2082381" cy="1128827"/>
          </a:xfrm>
          <a:prstGeom prst="bentConnector2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9" name="Straight Arrow Connector 172">
            <a:extLst>
              <a:ext uri="{FF2B5EF4-FFF2-40B4-BE49-F238E27FC236}">
                <a16:creationId xmlns:a16="http://schemas.microsoft.com/office/drawing/2014/main" id="{0B703237-95A3-C058-2415-015F22C1624A}"/>
              </a:ext>
            </a:extLst>
          </p:cNvPr>
          <p:cNvCxnSpPr>
            <a:endCxn id="20" idx="1"/>
          </p:cNvCxnSpPr>
          <p:nvPr/>
        </p:nvCxnSpPr>
        <p:spPr>
          <a:xfrm>
            <a:off x="2161339" y="3092519"/>
            <a:ext cx="197748" cy="3547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40" name="Straight Arrow Connector 174">
            <a:extLst>
              <a:ext uri="{FF2B5EF4-FFF2-40B4-BE49-F238E27FC236}">
                <a16:creationId xmlns:a16="http://schemas.microsoft.com/office/drawing/2014/main" id="{6DFA07FA-570E-8AE4-7279-793BAD411DDF}"/>
              </a:ext>
            </a:extLst>
          </p:cNvPr>
          <p:cNvCxnSpPr>
            <a:stCxn id="20" idx="3"/>
          </p:cNvCxnSpPr>
          <p:nvPr/>
        </p:nvCxnSpPr>
        <p:spPr>
          <a:xfrm>
            <a:off x="3880201" y="3096066"/>
            <a:ext cx="156390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41" name="Title 1">
            <a:extLst>
              <a:ext uri="{FF2B5EF4-FFF2-40B4-BE49-F238E27FC236}">
                <a16:creationId xmlns:a16="http://schemas.microsoft.com/office/drawing/2014/main" id="{F6A7B0DC-E14A-F339-EE13-0F05EF692B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450" y="118533"/>
            <a:ext cx="4031754" cy="606512"/>
          </a:xfrm>
        </p:spPr>
        <p:txBody>
          <a:bodyPr/>
          <a:lstStyle/>
          <a:p>
            <a:pPr lvl="0"/>
            <a:r>
              <a:rPr lang="en-US" sz="3600" b="1">
                <a:latin typeface="Times New Roman"/>
                <a:cs typeface="Times New Roman"/>
              </a:rPr>
              <a:t>Methodology:</a:t>
            </a:r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D9E863AF-BD67-BE7C-9A9D-48A2D7BA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7F6D-7AA4-407B-BC8A-2DBC8BBB3579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47203D16-5B08-C705-18F2-6F4E56838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1.3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54FF4878-F271-CF15-1809-A36C2506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0AEA-7438-50A6-8C5E-24812ABED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194"/>
            <a:ext cx="10515600" cy="54958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residual connections that allow gradients to flow directly through the network layers, effectively mitigating the vanishing gradient problem and enabling the training of much deeper neural networks.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CBAM: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Attention assigns importance scores to each feature channel by using global average and max pooling, followed by fully connected layers, to amplify informative channels.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Attention highlights key regions within feature maps by pooling across channels, concatenating results, and passing them through a convolutional layer, creating a spatial attention map.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and spatial attention weights are applied to the original feature map, enhancing focus on critical channels and spatial areas.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sequential application of Channel and Spatial Attention helps the model filter out irrelevant information, improving classification accuracy.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337BF-8458-F380-2B58-ADDF6B43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EA6D-7368-4FFB-88BD-4994632AB8AD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5631-03AF-720F-9B26-A742EBF1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5EC-059D-9025-7310-7C7ACE21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81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1230-E38E-2F3B-A104-2AA52DEC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0"/>
            <a:ext cx="10515600" cy="36512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47A02-094B-561C-1752-F9287EA7F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497"/>
            <a:ext cx="10515600" cy="50174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SVMs excel with limited data, making them ideal for medical imaging where data collection and labeling can be challenging.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SVMs handle high-dimensional data effectively, leveraging features extracted from networks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CBAM for optimal classification.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SVMs create decision boundaries that maximize class separation, improving classification accuracy for features that are more linearly separable.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4FC20-E642-D302-1E98-63BC23B3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EA6D-7368-4FFB-88BD-4994632AB8AD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D153-E0D8-FCAC-2249-0E78D98D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2402-ED72-FA66-A4A5-FEAE09A3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5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EF06CC-8455-E1DB-8564-D0A5375A20D5}"/>
              </a:ext>
            </a:extLst>
          </p:cNvPr>
          <p:cNvSpPr/>
          <p:nvPr/>
        </p:nvSpPr>
        <p:spPr>
          <a:xfrm>
            <a:off x="5172235" y="927648"/>
            <a:ext cx="243306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Convolutional Layers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5F2D6-CCB7-11AC-D9F5-B31D4BAADB22}"/>
              </a:ext>
            </a:extLst>
          </p:cNvPr>
          <p:cNvSpPr/>
          <p:nvPr/>
        </p:nvSpPr>
        <p:spPr>
          <a:xfrm>
            <a:off x="8019836" y="927648"/>
            <a:ext cx="263652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+ CBAM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DD3EE-C586-023F-80E7-D777CD11C5A9}"/>
              </a:ext>
            </a:extLst>
          </p:cNvPr>
          <p:cNvSpPr/>
          <p:nvPr/>
        </p:nvSpPr>
        <p:spPr>
          <a:xfrm>
            <a:off x="8019836" y="3129795"/>
            <a:ext cx="263652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(Additional Residual Blocks with CBAM)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41C7F-D3D3-35E2-8B4A-04F590653543}"/>
              </a:ext>
            </a:extLst>
          </p:cNvPr>
          <p:cNvSpPr/>
          <p:nvPr/>
        </p:nvSpPr>
        <p:spPr>
          <a:xfrm>
            <a:off x="8019836" y="5392635"/>
            <a:ext cx="263652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32536-A8A0-9AFA-72C4-99B97AAC9CD1}"/>
              </a:ext>
            </a:extLst>
          </p:cNvPr>
          <p:cNvSpPr/>
          <p:nvPr/>
        </p:nvSpPr>
        <p:spPr>
          <a:xfrm>
            <a:off x="8019836" y="4261215"/>
            <a:ext cx="263652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D9EE5-0ED0-2B4F-08F6-2C919A051232}"/>
              </a:ext>
            </a:extLst>
          </p:cNvPr>
          <p:cNvSpPr/>
          <p:nvPr/>
        </p:nvSpPr>
        <p:spPr>
          <a:xfrm>
            <a:off x="8019836" y="2028721"/>
            <a:ext cx="263652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+ CBAM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F367D-DCE7-9563-21D8-44426F7C2E48}"/>
              </a:ext>
            </a:extLst>
          </p:cNvPr>
          <p:cNvSpPr/>
          <p:nvPr/>
        </p:nvSpPr>
        <p:spPr>
          <a:xfrm>
            <a:off x="5172235" y="5392635"/>
            <a:ext cx="243306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54266D-092F-4CFA-E918-8B7D267432A0}"/>
              </a:ext>
            </a:extLst>
          </p:cNvPr>
          <p:cNvSpPr/>
          <p:nvPr/>
        </p:nvSpPr>
        <p:spPr>
          <a:xfrm>
            <a:off x="2720338" y="5392635"/>
            <a:ext cx="1887477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Class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4D6801-386E-7773-2C0C-5FCD912D178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605301" y="1384848"/>
            <a:ext cx="4145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A85931-4422-A890-13C4-4A7130727E7F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9338096" y="1842048"/>
            <a:ext cx="0" cy="186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68DCDD-5637-6240-BF13-E21B1D22C800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9338096" y="2943121"/>
            <a:ext cx="0" cy="186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A2111F-501A-A0A0-63EA-2788EB9FB3DA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9338096" y="4044195"/>
            <a:ext cx="0" cy="217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9F1B08-2BE7-6281-9219-90688B01F70E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flipH="1">
            <a:off x="4607815" y="5849835"/>
            <a:ext cx="564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7638FDF-C8BF-C337-E252-D236498C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27DD-1994-4FB8-B0AC-C30072F70ACC}" type="datetime1">
              <a:rPr lang="en-IN" smtClean="0"/>
              <a:t>05-11-2024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3AB5AA7-CAA4-4CDE-0DC8-8E280653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1146857-FE56-74D9-F42F-66CF04F8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23</a:t>
            </a:fld>
            <a:endParaRPr lang="en-GB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C99EBE-F197-7886-C06C-9DBEA86B9655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>
            <a:off x="9338096" y="5175615"/>
            <a:ext cx="0" cy="217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FC9B0C6-16F7-460E-8EF0-C405AC00F6BB}"/>
              </a:ext>
            </a:extLst>
          </p:cNvPr>
          <p:cNvCxnSpPr>
            <a:cxnSpLocks/>
            <a:stCxn id="10" idx="1"/>
            <a:endCxn id="14" idx="3"/>
          </p:cNvCxnSpPr>
          <p:nvPr/>
        </p:nvCxnSpPr>
        <p:spPr>
          <a:xfrm flipH="1">
            <a:off x="7605301" y="5849835"/>
            <a:ext cx="4145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4F6A1BB-A57D-D057-CA26-CCCF7DBFB738}"/>
              </a:ext>
            </a:extLst>
          </p:cNvPr>
          <p:cNvSpPr txBox="1"/>
          <p:nvPr/>
        </p:nvSpPr>
        <p:spPr>
          <a:xfrm>
            <a:off x="253799" y="112328"/>
            <a:ext cx="7304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Block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ADF91-027C-7065-A0B0-F58C6797C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975" y="927648"/>
            <a:ext cx="2133600" cy="2133600"/>
          </a:xfrm>
          <a:prstGeom prst="rect">
            <a:avLst/>
          </a:prstGeom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2CBE35B-F41C-74F9-7697-8DC8B9969B7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25575" y="1384848"/>
            <a:ext cx="1446660" cy="883134"/>
          </a:xfrm>
          <a:prstGeom prst="bentConnector3">
            <a:avLst>
              <a:gd name="adj1" fmla="val -8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FA13302-343C-A8B1-6351-62B2BC44C2E5}"/>
              </a:ext>
            </a:extLst>
          </p:cNvPr>
          <p:cNvSpPr txBox="1"/>
          <p:nvPr/>
        </p:nvSpPr>
        <p:spPr>
          <a:xfrm>
            <a:off x="1530476" y="312979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5172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FA1A-22BA-272E-5EB0-5AC3DB49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Proposed Model: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71E2A-6633-B9E5-3DFB-3314CC53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046-89D2-42C5-82EC-0165E1F771DC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65B3D-9596-C13F-07D5-E7C17C97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A919-0FC8-9CD3-5055-A1110D5D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24</a:t>
            </a:fld>
            <a:endParaRPr lang="en-GB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58A7AF3-AA95-44EA-AE50-7710C5F62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568682"/>
              </p:ext>
            </p:extLst>
          </p:nvPr>
        </p:nvGraphicFramePr>
        <p:xfrm>
          <a:off x="838200" y="1690688"/>
          <a:ext cx="4533900" cy="4486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946737943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674483091"/>
                    </a:ext>
                  </a:extLst>
                </a:gridCol>
              </a:tblGrid>
              <a:tr h="112156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0.6014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655315"/>
                  </a:ext>
                </a:extLst>
              </a:tr>
              <a:tr h="112156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7489"/>
                  </a:ext>
                </a:extLst>
              </a:tr>
              <a:tr h="112156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007850"/>
                  </a:ext>
                </a:extLst>
              </a:tr>
              <a:tr h="112156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41453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E3F8F30-C379-DCF5-DCC4-BB344BDF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85" y="1690688"/>
            <a:ext cx="4533900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1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B46F-504B-2361-EE21-EFF461AD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432835-C5FB-2968-D624-4B21C5660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312" y="1825625"/>
            <a:ext cx="6136626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55F92-2022-B2AA-8169-4F3BA7CE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046-89D2-42C5-82EC-0165E1F771DC}" type="datetime1">
              <a:rPr lang="en-IN" smtClean="0"/>
              <a:t>05-11-2024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EA126-CE54-DF20-E0A9-F9F7C59D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EFCA-67B0-1520-99F1-2C422AA9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362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1F7009-90EE-B63C-5F53-9EF6A7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Calibri" panose="020F0502020204030204"/>
              </a:rPr>
              <a:t>Timeline:</a:t>
            </a:r>
            <a:br>
              <a:rPr lang="en-US" sz="4400" b="1">
                <a:latin typeface="Times New Roman"/>
                <a:cs typeface="Calibri" panose="020F0502020204030204"/>
              </a:rPr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D24F0-4CBA-2212-FE6D-115407DCE278}"/>
              </a:ext>
            </a:extLst>
          </p:cNvPr>
          <p:cNvGraphicFramePr>
            <a:graphicFrameLocks noGrp="1"/>
          </p:cNvGraphicFramePr>
          <p:nvPr/>
        </p:nvGraphicFramePr>
        <p:xfrm>
          <a:off x="1181528" y="1510301"/>
          <a:ext cx="9246742" cy="456172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{93296810-A885-4BE3-A3E7-6D5BEEA58F35}</a:tableStyleId>
              </a:tblPr>
              <a:tblGrid>
                <a:gridCol w="1727173">
                  <a:extLst>
                    <a:ext uri="{9D8B030D-6E8A-4147-A177-3AD203B41FA5}">
                      <a16:colId xmlns:a16="http://schemas.microsoft.com/office/drawing/2014/main" val="283917520"/>
                    </a:ext>
                  </a:extLst>
                </a:gridCol>
                <a:gridCol w="1914090">
                  <a:extLst>
                    <a:ext uri="{9D8B030D-6E8A-4147-A177-3AD203B41FA5}">
                      <a16:colId xmlns:a16="http://schemas.microsoft.com/office/drawing/2014/main" val="523545415"/>
                    </a:ext>
                  </a:extLst>
                </a:gridCol>
                <a:gridCol w="5605479">
                  <a:extLst>
                    <a:ext uri="{9D8B030D-6E8A-4147-A177-3AD203B41FA5}">
                      <a16:colId xmlns:a16="http://schemas.microsoft.com/office/drawing/2014/main" val="2943249166"/>
                    </a:ext>
                  </a:extLst>
                </a:gridCol>
              </a:tblGrid>
              <a:tr h="604895">
                <a:tc>
                  <a:txBody>
                    <a:bodyPr/>
                    <a:lstStyle/>
                    <a:p>
                      <a:pPr marL="25400" marR="635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6265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Data preparation, Data Preprocessing, Literature survey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1664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Literature survey, Analysis of state-of-the-art models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8708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Building of classification model 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5423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Validation and performance comparison, Paper draft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5578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="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84357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990" marR="31115" algn="ctr">
                        <a:lnSpc>
                          <a:spcPts val="1305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</a:t>
                      </a:r>
                      <a:r>
                        <a:rPr lang="en-US" sz="1800" b="0" spc="-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800" b="0" spc="-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lang="en-US" sz="1800" b="0" spc="-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Dissertation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0540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4E688E-AB1F-2BC6-30F0-69F55E83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D4A8-01D0-4749-9F4C-844039AF5017}" type="datetime1">
              <a:rPr lang="en-IN" smtClean="0"/>
              <a:t>05-11-2024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95A81-6E72-4C6A-FDF1-D7A3626F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6BB526-9123-BFA4-59AE-336BA578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339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206"/>
            <a:ext cx="10868989" cy="6048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US" dirty="0"/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Deep learning model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ResNet+CBAM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classifier for classification of Knee Osteoarthritis.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D1C7C5-2F8E-4E02-46DC-03364FE8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193D-05F3-4793-9352-33C2493A2023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371839-AABC-6164-5508-619295EA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EC25C-209D-00FF-A0D3-07B52B08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3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Mobasheri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C. S.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Thudium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A.-C. Bay-Jensen, T.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Maleitzke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S. Geissler, G. N.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Duda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and T. Winkler, "Biomarkers for osteoarthritis: Current status and future prospects," </a:t>
            </a: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Best Practice &amp; Research Clinical Rheumatology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37, p. 101852, June 2023.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Chen,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Pingjun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(2018), “Knee Osteoarthritis Severity Grading Dataset”, Mendeley Data, V1. [Online]. Available: https://tinyurl.com/4h7pwaaa. [Accessed Sept. 12, 2024].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R. K. Jain, P. K. Sharma, S. Gaj, A. Sur, and P. Ghosh, "Knee osteoarthritis severity prediction using an attentive multi-scale deep convolutional neural network," 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Multimedia Tools and Applications,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vol. 83, pp. 6925–6942, June 2023.</a:t>
            </a: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P. Chen, L. Gao, X. Shi, K. Allen, and L. Yang, "Fully automatic knee osteoarthritis severity grading using deep neural networks with a novel ordinal loss," 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Computerized Medical Imaging and Graphics,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vol. 75, pp. 84-92, June 2019.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R. Patil and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Salunkhe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"Classification and Risk Estimation of Osteoarthritis Using Deep Learning Methods,"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Measurement: Sensors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24, pp. 101279, Oct. 2024.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S. Aslan, "Automatic Detection of Knee Osteoarthritis Disease with the Developed CNN, NCA and SVM Based Hybrid Model," in </a:t>
            </a:r>
            <a:r>
              <a:rPr lang="en-US" sz="1800" i="1" dirty="0" err="1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Traitement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du Signal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40, no. 1, pp. 317-326, Feb. 2023.</a:t>
            </a:r>
          </a:p>
          <a:p>
            <a:pPr marL="457200" indent="-457200" algn="just">
              <a:buAutoNum type="arabicPeriod"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BEC9F-FDC8-EF2B-7B51-ADF0203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7F618-8177-43AE-82F2-D585D7FE0B53}" type="datetime1">
              <a:rPr lang="en-IN" smtClean="0"/>
              <a:t>05-11-2024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31F8E-999A-F403-87E3-7614A43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7071A-BA8D-A85E-86F2-9973F473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219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buFont typeface="+mj-lt"/>
              <a:buAutoNum type="arabicPeriod" startAt="7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M. Jahan, M. Z. Hasan, I. J. Samia, K. Fatema, M. A. H. Rony, M. S.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Arefin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and A. Moustafa, "KOA-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CCTNet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An Enhanced Knee Osteoarthritis Grade Assessment Framework Using Modified Compact Convolutional Transformer Model," 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IEEE Access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12, pp. 107719-107738, July 2024.</a:t>
            </a:r>
          </a:p>
          <a:p>
            <a:pPr marL="457200" indent="-457200" algn="just">
              <a:buFont typeface="+mj-lt"/>
              <a:buAutoNum type="arabicPeriod" startAt="7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Y. X. Teoh, A.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Othmani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K. W. Lai, and S. L. Goh, "Stratifying knee osteoarthritis features through multitask deep hybrid learning: Data from the osteoarthritis initiative," 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Computer Methods and Programs in Biomedicine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242, p. 107807, Sep. 2023.</a:t>
            </a:r>
          </a:p>
          <a:p>
            <a:pPr marL="457200" indent="-457200" algn="just">
              <a:buAutoNum type="arabicPeriod" startAt="7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Wang, Z. Bi, Y. Xie, T. Wu, X. Zeng, S. Chen, and D. Zhou, "Learning From Highly Confident Samples for Automatic Knee Osteoarthritis Severity Assessment: Data From the Osteoarthritis Initiative,"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26, no. 3, pp. 1239-1250, Mar. 2022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AutoNum type="arabicPeriod" startAt="7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V. K. Vijaya, V. Kalpana, and G. H. Kumar, "Evaluating the efficacy of deep learning models for knee osteoarthritis prediction based on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Kellgren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-Lawrence grading system," </a:t>
            </a:r>
            <a:r>
              <a:rPr lang="en-US" sz="1800" i="1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e-Prime - Advances in Electrical Engineering, Electronics and Energy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5, p. 100266, Aug. 2023.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U. Rehman and V.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Gruhn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Sequential VGG16+CNN-Based Automated Approach With Adaptive Input    for Efficient Detection of Knee Osteoarthritis Stages,"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62407-62415, Apr. 2024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B. Kwon, H.-S. Han, M. C. Lee, H. C. Kim, Y. Ku, and D. H. Ro, "Machine Learning-Based Automatic   Classification of Knee Osteoarthritis Severity Using Gait Data and Radiographic Images,"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 8, pp. 120597-120603, July 2020.</a:t>
            </a: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7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7"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7"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7"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7"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0A8E6-228A-D525-5ACE-2499ABD8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B1470-0363-4296-9567-837063F5FB65}" type="datetime1">
              <a:rPr lang="en-IN" smtClean="0"/>
              <a:t>05-11-2024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8650D-831A-CFE9-240F-9993D952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8A1FB-C6C7-C027-E5F0-0628B2AD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328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141E-5603-44AA-49C0-86C77AC8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54C5-4F83-4642-BEEC-C4FAF4516615}" type="datetime1">
              <a:rPr lang="en-IN" smtClean="0"/>
              <a:t>05-11-2024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F6AD5F-E057-5461-C2EE-5A5418B7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4A33E-5AE9-6AFE-D7FE-83EA89F1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7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954471CF6E4B92D942EA5A5E5B33" ma:contentTypeVersion="17" ma:contentTypeDescription="Create a new document." ma:contentTypeScope="" ma:versionID="01d505aff77c6c89ab90b4d5083a56f3">
  <xsd:schema xmlns:xsd="http://www.w3.org/2001/XMLSchema" xmlns:xs="http://www.w3.org/2001/XMLSchema" xmlns:p="http://schemas.microsoft.com/office/2006/metadata/properties" xmlns:ns3="dbdb81f7-2227-4c73-b16a-24b7a7702482" xmlns:ns4="ae7007f0-7324-48c8-804c-dce53b0f277f" targetNamespace="http://schemas.microsoft.com/office/2006/metadata/properties" ma:root="true" ma:fieldsID="4271ed9168971c0bea95670fb201c535" ns3:_="" ns4:_="">
    <xsd:import namespace="dbdb81f7-2227-4c73-b16a-24b7a7702482"/>
    <xsd:import namespace="ae7007f0-7324-48c8-804c-dce53b0f27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b81f7-2227-4c73-b16a-24b7a7702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007f0-7324-48c8-804c-dce53b0f27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db81f7-2227-4c73-b16a-24b7a7702482" xsi:nil="true"/>
  </documentManagement>
</p:properties>
</file>

<file path=customXml/itemProps1.xml><?xml version="1.0" encoding="utf-8"?>
<ds:datastoreItem xmlns:ds="http://schemas.openxmlformats.org/officeDocument/2006/customXml" ds:itemID="{8B1F559E-DB2E-4BA8-89D9-D001E21EFB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8E041C-78B4-47B3-A032-231EFCBD2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db81f7-2227-4c73-b16a-24b7a7702482"/>
    <ds:schemaRef ds:uri="ae7007f0-7324-48c8-804c-dce53b0f27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F15DAA-F179-40A9-A685-DB8C2399458C}">
  <ds:schemaRefs>
    <ds:schemaRef ds:uri="dbdb81f7-2227-4c73-b16a-24b7a7702482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ae7007f0-7324-48c8-804c-dce53b0f277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881</TotalTime>
  <Words>2572</Words>
  <Application>Microsoft Office PowerPoint</Application>
  <PresentationFormat>Widescreen</PresentationFormat>
  <Paragraphs>438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Introduction:</vt:lpstr>
      <vt:lpstr>PowerPoint Presentation</vt:lpstr>
      <vt:lpstr>Data Preparation:</vt:lpstr>
      <vt:lpstr>Data Preparation: </vt:lpstr>
      <vt:lpstr>Data Preprocessing:</vt:lpstr>
      <vt:lpstr>PowerPoint Presentation</vt:lpstr>
      <vt:lpstr>Data Preparation:  Augmented Dataset:</vt:lpstr>
      <vt:lpstr>Literature</vt:lpstr>
      <vt:lpstr>Literature </vt:lpstr>
      <vt:lpstr>Literature :</vt:lpstr>
      <vt:lpstr>Literature : </vt:lpstr>
      <vt:lpstr>VGG16:</vt:lpstr>
      <vt:lpstr>VGG16: Confusion matrix images :</vt:lpstr>
      <vt:lpstr>EfficientNetV2B0 </vt:lpstr>
      <vt:lpstr> EfficientNetV2B0: </vt:lpstr>
      <vt:lpstr>RESNET50:</vt:lpstr>
      <vt:lpstr>RESNET50:</vt:lpstr>
      <vt:lpstr>Results:</vt:lpstr>
      <vt:lpstr>Methodology:</vt:lpstr>
      <vt:lpstr>PowerPoint Presentation</vt:lpstr>
      <vt:lpstr>PowerPoint Presentation</vt:lpstr>
      <vt:lpstr>PowerPoint Presentation</vt:lpstr>
      <vt:lpstr>Results for Proposed Model:</vt:lpstr>
      <vt:lpstr>Confusion Matrix:</vt:lpstr>
      <vt:lpstr>Timeline: </vt:lpstr>
      <vt:lpstr>PowerPoint Presentation</vt:lpstr>
      <vt:lpstr>References: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sys</dc:creator>
  <cp:lastModifiedBy>santhosh dulam</cp:lastModifiedBy>
  <cp:revision>78</cp:revision>
  <dcterms:created xsi:type="dcterms:W3CDTF">2023-09-07T11:44:27Z</dcterms:created>
  <dcterms:modified xsi:type="dcterms:W3CDTF">2024-11-05T08:16:39Z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0x0101001066954471CF6E4B92D942EA5A5E5B33</vt:lpwstr>
  </property>
</Properties>
</file>