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71" r:id="rId2"/>
    <p:sldId id="259" r:id="rId3"/>
    <p:sldId id="258" r:id="rId4"/>
    <p:sldId id="273" r:id="rId5"/>
    <p:sldId id="292" r:id="rId6"/>
    <p:sldId id="293" r:id="rId7"/>
    <p:sldId id="290" r:id="rId8"/>
    <p:sldId id="282" r:id="rId9"/>
    <p:sldId id="286" r:id="rId10"/>
    <p:sldId id="289" r:id="rId11"/>
    <p:sldId id="288" r:id="rId12"/>
    <p:sldId id="287" r:id="rId13"/>
    <p:sldId id="297" r:id="rId14"/>
    <p:sldId id="298" r:id="rId15"/>
    <p:sldId id="277" r:id="rId16"/>
    <p:sldId id="295" r:id="rId17"/>
    <p:sldId id="296" r:id="rId18"/>
    <p:sldId id="266" r:id="rId19"/>
    <p:sldId id="275" r:id="rId20"/>
    <p:sldId id="267" r:id="rId21"/>
    <p:sldId id="268" r:id="rId22"/>
    <p:sldId id="294" r:id="rId23"/>
    <p:sldId id="272" r:id="rId2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2D4FAA-DD5A-7822-CEA2-C9418D646446}" name="santhosh dulam" initials="sd" userId="74bee7ff40ce727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lam Santhosh Satya Sai Naga Hanuman - [CB.EN.U4ECE21012]" userId="a5cf65a5-931b-49da-bc9d-22d01ac3e727" providerId="ADAL" clId="{0A104539-2BE0-439F-9EE5-4F7955EF2D2B}"/>
    <pc:docChg chg="delSld">
      <pc:chgData name="Dulam Santhosh Satya Sai Naga Hanuman - [CB.EN.U4ECE21012]" userId="a5cf65a5-931b-49da-bc9d-22d01ac3e727" providerId="ADAL" clId="{0A104539-2BE0-439F-9EE5-4F7955EF2D2B}" dt="2024-11-22T06:02:24.650" v="2" actId="47"/>
      <pc:docMkLst>
        <pc:docMk/>
      </pc:docMkLst>
      <pc:sldChg chg="del">
        <pc:chgData name="Dulam Santhosh Satya Sai Naga Hanuman - [CB.EN.U4ECE21012]" userId="a5cf65a5-931b-49da-bc9d-22d01ac3e727" providerId="ADAL" clId="{0A104539-2BE0-439F-9EE5-4F7955EF2D2B}" dt="2024-11-22T06:02:17.593" v="0" actId="47"/>
        <pc:sldMkLst>
          <pc:docMk/>
          <pc:sldMk cId="622020787" sldId="280"/>
        </pc:sldMkLst>
      </pc:sldChg>
      <pc:sldChg chg="del">
        <pc:chgData name="Dulam Santhosh Satya Sai Naga Hanuman - [CB.EN.U4ECE21012]" userId="a5cf65a5-931b-49da-bc9d-22d01ac3e727" providerId="ADAL" clId="{0A104539-2BE0-439F-9EE5-4F7955EF2D2B}" dt="2024-11-22T06:02:20.664" v="1" actId="47"/>
        <pc:sldMkLst>
          <pc:docMk/>
          <pc:sldMk cId="2800119033" sldId="299"/>
        </pc:sldMkLst>
      </pc:sldChg>
      <pc:sldChg chg="del">
        <pc:chgData name="Dulam Santhosh Satya Sai Naga Hanuman - [CB.EN.U4ECE21012]" userId="a5cf65a5-931b-49da-bc9d-22d01ac3e727" providerId="ADAL" clId="{0A104539-2BE0-439F-9EE5-4F7955EF2D2B}" dt="2024-11-22T06:02:24.650" v="2" actId="47"/>
        <pc:sldMkLst>
          <pc:docMk/>
          <pc:sldMk cId="556572252"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25C80-AC60-40B6-81DE-B4027C0AC7D9}" type="datetimeFigureOut">
              <a:rPr lang="en-IN" smtClean="0"/>
              <a:t>22-11-2024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CF06E-422B-44E5-BC2F-D1B1B4933504}" type="slidenum">
              <a:rPr lang="en-IN" smtClean="0"/>
              <a:t>‹#›</a:t>
            </a:fld>
            <a:endParaRPr lang="en-IN"/>
          </a:p>
        </p:txBody>
      </p:sp>
    </p:spTree>
    <p:extLst>
      <p:ext uri="{BB962C8B-B14F-4D97-AF65-F5344CB8AC3E}">
        <p14:creationId xmlns:p14="http://schemas.microsoft.com/office/powerpoint/2010/main" val="376628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BBCF06E-422B-44E5-BC2F-D1B1B4933504}" type="slidenum">
              <a:rPr lang="en-IN" smtClean="0"/>
              <a:t>1</a:t>
            </a:fld>
            <a:endParaRPr lang="en-IN"/>
          </a:p>
        </p:txBody>
      </p:sp>
    </p:spTree>
    <p:extLst>
      <p:ext uri="{BB962C8B-B14F-4D97-AF65-F5344CB8AC3E}">
        <p14:creationId xmlns:p14="http://schemas.microsoft.com/office/powerpoint/2010/main" val="349017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ensemble model achieved 98% accuracy and a 0.99 Quadratic Weighted Kappa score for classifying knee osteoarthritis severity from X-ray images.</a:t>
            </a:r>
            <a:endParaRPr lang="en-US"/>
          </a:p>
        </p:txBody>
      </p:sp>
      <p:sp>
        <p:nvSpPr>
          <p:cNvPr id="4" name="Slide Number Placeholder 3"/>
          <p:cNvSpPr>
            <a:spLocks noGrp="1"/>
          </p:cNvSpPr>
          <p:nvPr>
            <p:ph type="sldNum" sz="quarter" idx="5"/>
          </p:nvPr>
        </p:nvSpPr>
        <p:spPr/>
        <p:txBody>
          <a:bodyPr/>
          <a:lstStyle/>
          <a:p>
            <a:fld id="{8BBCF06E-422B-44E5-BC2F-D1B1B4933504}" type="slidenum">
              <a:rPr lang="en-IN" smtClean="0"/>
              <a:t>15</a:t>
            </a:fld>
            <a:endParaRPr lang="en-IN"/>
          </a:p>
        </p:txBody>
      </p:sp>
    </p:spTree>
    <p:extLst>
      <p:ext uri="{BB962C8B-B14F-4D97-AF65-F5344CB8AC3E}">
        <p14:creationId xmlns:p14="http://schemas.microsoft.com/office/powerpoint/2010/main" val="93590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BCF06E-422B-44E5-BC2F-D1B1B4933504}" type="slidenum">
              <a:rPr lang="en-IN" smtClean="0"/>
              <a:t>16</a:t>
            </a:fld>
            <a:endParaRPr lang="en-IN"/>
          </a:p>
        </p:txBody>
      </p:sp>
    </p:spTree>
    <p:extLst>
      <p:ext uri="{BB962C8B-B14F-4D97-AF65-F5344CB8AC3E}">
        <p14:creationId xmlns:p14="http://schemas.microsoft.com/office/powerpoint/2010/main" val="4132996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BBCF06E-422B-44E5-BC2F-D1B1B4933504}" type="slidenum">
              <a:rPr lang="en-IN" smtClean="0"/>
              <a:t>22</a:t>
            </a:fld>
            <a:endParaRPr lang="en-IN"/>
          </a:p>
        </p:txBody>
      </p:sp>
    </p:spTree>
    <p:extLst>
      <p:ext uri="{BB962C8B-B14F-4D97-AF65-F5344CB8AC3E}">
        <p14:creationId xmlns:p14="http://schemas.microsoft.com/office/powerpoint/2010/main" val="35057109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BDA3F3E9-4CBC-41B1-84B3-4EAEDE286AE9}" type="datetime1">
              <a:rPr lang="en-IN" smtClean="0"/>
              <a:t>22-11-2024</a:t>
            </a:fld>
            <a:endParaRPr lang="en-GB"/>
          </a:p>
        </p:txBody>
      </p:sp>
      <p:sp>
        <p:nvSpPr>
          <p:cNvPr id="5" name="Footer Placeholder 4"/>
          <p:cNvSpPr>
            <a:spLocks noGrp="1"/>
          </p:cNvSpPr>
          <p:nvPr>
            <p:ph type="ftr" sz="quarter" idx="11"/>
          </p:nvPr>
        </p:nvSpPr>
        <p:spPr/>
        <p:txBody>
          <a:bodyPr/>
          <a:lstStyle/>
          <a:p>
            <a:r>
              <a:rPr lang="en-GB"/>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pic>
        <p:nvPicPr>
          <p:cNvPr id="7" name="Picture 6">
            <a:extLst>
              <a:ext uri="{FF2B5EF4-FFF2-40B4-BE49-F238E27FC236}">
                <a16:creationId xmlns:a16="http://schemas.microsoft.com/office/drawing/2014/main" id="{763C0B48-B307-7FEA-E6CB-F8FAF629E858}"/>
              </a:ext>
            </a:extLst>
          </p:cNvPr>
          <p:cNvPicPr>
            <a:picLocks noChangeAspect="1"/>
          </p:cNvPicPr>
          <p:nvPr userDrawn="1"/>
        </p:nvPicPr>
        <p:blipFill>
          <a:blip r:embed="rId2" cstate="print">
            <a:clrChange>
              <a:clrFrom>
                <a:srgbClr val="FFFEFD"/>
              </a:clrFrom>
              <a:clrTo>
                <a:srgbClr val="FFFEFD">
                  <a:alpha val="0"/>
                </a:srgbClr>
              </a:clrTo>
            </a:clrChange>
            <a:extLst>
              <a:ext uri="{28A0092B-C50C-407E-A947-70E740481C1C}">
                <a14:useLocalDpi xmlns:a14="http://schemas.microsoft.com/office/drawing/2010/main" val="0"/>
              </a:ext>
            </a:extLst>
          </a:blip>
          <a:srcRect/>
          <a:stretch>
            <a:fillRect/>
          </a:stretch>
        </p:blipFill>
        <p:spPr bwMode="auto">
          <a:xfrm>
            <a:off x="10850576" y="1350"/>
            <a:ext cx="1341424" cy="360000"/>
          </a:xfrm>
          <a:prstGeom prst="rect">
            <a:avLst/>
          </a:prstGeom>
          <a:noFill/>
          <a:ln>
            <a:noFill/>
          </a:ln>
        </p:spPr>
      </p:pic>
    </p:spTree>
    <p:extLst>
      <p:ext uri="{BB962C8B-B14F-4D97-AF65-F5344CB8AC3E}">
        <p14:creationId xmlns:p14="http://schemas.microsoft.com/office/powerpoint/2010/main" val="238538789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p:cNvSpPr>
            <a:spLocks noGrp="1"/>
          </p:cNvSpPr>
          <p:nvPr>
            <p:ph type="ftr" sz="quarter" idx="11"/>
          </p:nvPr>
        </p:nvSpPr>
        <p:spPr/>
        <p:txBody>
          <a:bodyPr/>
          <a:lstStyle/>
          <a:p>
            <a:r>
              <a:rPr lang="en-GB"/>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pic>
        <p:nvPicPr>
          <p:cNvPr id="7" name="Picture 6">
            <a:extLst>
              <a:ext uri="{FF2B5EF4-FFF2-40B4-BE49-F238E27FC236}">
                <a16:creationId xmlns:a16="http://schemas.microsoft.com/office/drawing/2014/main" id="{74BA07F5-002F-432B-8E65-16015ED9B45F}"/>
              </a:ext>
            </a:extLst>
          </p:cNvPr>
          <p:cNvPicPr>
            <a:picLocks noChangeAspect="1"/>
          </p:cNvPicPr>
          <p:nvPr userDrawn="1"/>
        </p:nvPicPr>
        <p:blipFill>
          <a:blip r:embed="rId2" cstate="print">
            <a:clrChange>
              <a:clrFrom>
                <a:srgbClr val="FFFEFD"/>
              </a:clrFrom>
              <a:clrTo>
                <a:srgbClr val="FFFEFD">
                  <a:alpha val="0"/>
                </a:srgbClr>
              </a:clrTo>
            </a:clrChange>
            <a:extLst>
              <a:ext uri="{28A0092B-C50C-407E-A947-70E740481C1C}">
                <a14:useLocalDpi xmlns:a14="http://schemas.microsoft.com/office/drawing/2010/main" val="0"/>
              </a:ext>
            </a:extLst>
          </a:blip>
          <a:srcRect/>
          <a:stretch>
            <a:fillRect/>
          </a:stretch>
        </p:blipFill>
        <p:spPr bwMode="auto">
          <a:xfrm>
            <a:off x="10850576" y="1350"/>
            <a:ext cx="1341424" cy="360000"/>
          </a:xfrm>
          <a:prstGeom prst="rect">
            <a:avLst/>
          </a:prstGeom>
          <a:noFill/>
          <a:ln>
            <a:noFill/>
          </a:ln>
        </p:spPr>
      </p:pic>
    </p:spTree>
    <p:extLst>
      <p:ext uri="{BB962C8B-B14F-4D97-AF65-F5344CB8AC3E}">
        <p14:creationId xmlns:p14="http://schemas.microsoft.com/office/powerpoint/2010/main" val="9491384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83FAA31-27AD-4770-B447-028D44271E20}" type="datetime1">
              <a:rPr lang="en-IN" smtClean="0"/>
              <a:t>22-11-2024</a:t>
            </a:fld>
            <a:endParaRPr lang="en-GB"/>
          </a:p>
        </p:txBody>
      </p:sp>
      <p:sp>
        <p:nvSpPr>
          <p:cNvPr id="5" name="Footer Placeholder 4"/>
          <p:cNvSpPr>
            <a:spLocks noGrp="1"/>
          </p:cNvSpPr>
          <p:nvPr>
            <p:ph type="ftr" sz="quarter" idx="11"/>
          </p:nvPr>
        </p:nvSpPr>
        <p:spPr/>
        <p:txBody>
          <a:bodyPr/>
          <a:lstStyle/>
          <a:p>
            <a:r>
              <a:rPr lang="en-GB"/>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1E49A0F6-8B1B-457C-8BD0-88B757EEF1EE}" type="datetime1">
              <a:rPr lang="en-IN" smtClean="0"/>
              <a:t>22-11-2024</a:t>
            </a:fld>
            <a:endParaRPr lang="en-GB"/>
          </a:p>
        </p:txBody>
      </p:sp>
      <p:sp>
        <p:nvSpPr>
          <p:cNvPr id="6" name="Footer Placeholder 5"/>
          <p:cNvSpPr>
            <a:spLocks noGrp="1"/>
          </p:cNvSpPr>
          <p:nvPr>
            <p:ph type="ftr" sz="quarter" idx="11"/>
          </p:nvPr>
        </p:nvSpPr>
        <p:spPr/>
        <p:txBody>
          <a:bodyPr/>
          <a:lstStyle/>
          <a:p>
            <a:r>
              <a:rPr lang="en-GB"/>
              <a:t>Review 1.1</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E26319DB-C24A-496E-94C1-FF5F25EFA7FD}" type="datetime1">
              <a:rPr lang="en-IN" smtClean="0"/>
              <a:t>22-11-2024</a:t>
            </a:fld>
            <a:endParaRPr lang="en-GB"/>
          </a:p>
        </p:txBody>
      </p:sp>
      <p:sp>
        <p:nvSpPr>
          <p:cNvPr id="8" name="Footer Placeholder 7"/>
          <p:cNvSpPr>
            <a:spLocks noGrp="1"/>
          </p:cNvSpPr>
          <p:nvPr>
            <p:ph type="ftr" sz="quarter" idx="11"/>
          </p:nvPr>
        </p:nvSpPr>
        <p:spPr/>
        <p:txBody>
          <a:bodyPr/>
          <a:lstStyle/>
          <a:p>
            <a:r>
              <a:rPr lang="en-GB"/>
              <a:t>Review 1.1</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E9D969D2-C697-4AF2-9913-6C0867471C21}" type="datetime1">
              <a:rPr lang="en-IN" smtClean="0"/>
              <a:t>22-11-2024</a:t>
            </a:fld>
            <a:endParaRPr lang="en-GB"/>
          </a:p>
        </p:txBody>
      </p:sp>
      <p:sp>
        <p:nvSpPr>
          <p:cNvPr id="4" name="Footer Placeholder 3"/>
          <p:cNvSpPr>
            <a:spLocks noGrp="1"/>
          </p:cNvSpPr>
          <p:nvPr>
            <p:ph type="ftr" sz="quarter" idx="11"/>
          </p:nvPr>
        </p:nvSpPr>
        <p:spPr/>
        <p:txBody>
          <a:bodyPr/>
          <a:lstStyle/>
          <a:p>
            <a:r>
              <a:rPr lang="en-GB"/>
              <a:t>Review 1.1</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22CB7E-E347-4969-8956-00BA444471B7}" type="datetime1">
              <a:rPr lang="en-IN" smtClean="0"/>
              <a:t>22-11-2024</a:t>
            </a:fld>
            <a:endParaRPr lang="en-GB"/>
          </a:p>
        </p:txBody>
      </p:sp>
      <p:sp>
        <p:nvSpPr>
          <p:cNvPr id="3" name="Footer Placeholder 2"/>
          <p:cNvSpPr>
            <a:spLocks noGrp="1"/>
          </p:cNvSpPr>
          <p:nvPr>
            <p:ph type="ftr" sz="quarter" idx="11"/>
          </p:nvPr>
        </p:nvSpPr>
        <p:spPr/>
        <p:txBody>
          <a:bodyPr/>
          <a:lstStyle/>
          <a:p>
            <a:r>
              <a:rPr lang="en-GB"/>
              <a:t>Review 1.1</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pic>
        <p:nvPicPr>
          <p:cNvPr id="5" name="Picture 4">
            <a:extLst>
              <a:ext uri="{FF2B5EF4-FFF2-40B4-BE49-F238E27FC236}">
                <a16:creationId xmlns:a16="http://schemas.microsoft.com/office/drawing/2014/main" id="{E917A3F8-83EB-71E6-1467-2B1445E0C689}"/>
              </a:ext>
            </a:extLst>
          </p:cNvPr>
          <p:cNvPicPr>
            <a:picLocks noChangeAspect="1"/>
          </p:cNvPicPr>
          <p:nvPr userDrawn="1"/>
        </p:nvPicPr>
        <p:blipFill>
          <a:blip r:embed="rId2" cstate="print">
            <a:clrChange>
              <a:clrFrom>
                <a:srgbClr val="FFFEFD"/>
              </a:clrFrom>
              <a:clrTo>
                <a:srgbClr val="FFFEFD">
                  <a:alpha val="0"/>
                </a:srgbClr>
              </a:clrTo>
            </a:clrChange>
            <a:extLst>
              <a:ext uri="{28A0092B-C50C-407E-A947-70E740481C1C}">
                <a14:useLocalDpi xmlns:a14="http://schemas.microsoft.com/office/drawing/2010/main" val="0"/>
              </a:ext>
            </a:extLst>
          </a:blip>
          <a:srcRect/>
          <a:stretch>
            <a:fillRect/>
          </a:stretch>
        </p:blipFill>
        <p:spPr bwMode="auto">
          <a:xfrm>
            <a:off x="10850576" y="0"/>
            <a:ext cx="1341424" cy="360000"/>
          </a:xfrm>
          <a:prstGeom prst="rect">
            <a:avLst/>
          </a:prstGeom>
          <a:noFill/>
          <a:ln>
            <a:noFill/>
          </a:ln>
        </p:spPr>
      </p:pic>
    </p:spTree>
    <p:extLst>
      <p:ext uri="{BB962C8B-B14F-4D97-AF65-F5344CB8AC3E}">
        <p14:creationId xmlns:p14="http://schemas.microsoft.com/office/powerpoint/2010/main" val="314638898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5F0E53B-329A-4394-A0FA-D027CF382850}" type="datetime1">
              <a:rPr lang="en-IN" smtClean="0"/>
              <a:t>22-11-2024</a:t>
            </a:fld>
            <a:endParaRPr lang="en-GB"/>
          </a:p>
        </p:txBody>
      </p:sp>
      <p:sp>
        <p:nvSpPr>
          <p:cNvPr id="6" name="Footer Placeholder 5"/>
          <p:cNvSpPr>
            <a:spLocks noGrp="1"/>
          </p:cNvSpPr>
          <p:nvPr>
            <p:ph type="ftr" sz="quarter" idx="11"/>
          </p:nvPr>
        </p:nvSpPr>
        <p:spPr/>
        <p:txBody>
          <a:bodyPr/>
          <a:lstStyle/>
          <a:p>
            <a:r>
              <a:rPr lang="en-GB"/>
              <a:t>Review 1.1</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026F92E0-F3EF-4517-801B-C7D3FB32339A}" type="datetime1">
              <a:rPr lang="en-IN" smtClean="0"/>
              <a:t>22-11-2024</a:t>
            </a:fld>
            <a:endParaRPr lang="en-GB"/>
          </a:p>
        </p:txBody>
      </p:sp>
      <p:sp>
        <p:nvSpPr>
          <p:cNvPr id="6" name="Footer Placeholder 5"/>
          <p:cNvSpPr>
            <a:spLocks noGrp="1"/>
          </p:cNvSpPr>
          <p:nvPr>
            <p:ph type="ftr" sz="quarter" idx="11"/>
          </p:nvPr>
        </p:nvSpPr>
        <p:spPr/>
        <p:txBody>
          <a:bodyPr/>
          <a:lstStyle/>
          <a:p>
            <a:r>
              <a:rPr lang="en-GB"/>
              <a:t>Review 1.1</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003D1281-7A2B-42B8-BDF1-3AA80612E30A}" type="datetime1">
              <a:rPr lang="en-IN" smtClean="0"/>
              <a:t>22-11-2024</a:t>
            </a:fld>
            <a:endParaRPr lang="en-GB"/>
          </a:p>
        </p:txBody>
      </p:sp>
      <p:sp>
        <p:nvSpPr>
          <p:cNvPr id="5" name="Footer Placeholder 4"/>
          <p:cNvSpPr>
            <a:spLocks noGrp="1"/>
          </p:cNvSpPr>
          <p:nvPr>
            <p:ph type="ftr" sz="quarter" idx="11"/>
          </p:nvPr>
        </p:nvSpPr>
        <p:spPr/>
        <p:txBody>
          <a:bodyPr/>
          <a:lstStyle/>
          <a:p>
            <a:r>
              <a:rPr lang="en-GB"/>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23C24C16-8957-4572-98A0-5577787794A0}" type="datetime1">
              <a:rPr lang="en-IN" smtClean="0"/>
              <a:t>22-11-2024</a:t>
            </a:fld>
            <a:endParaRPr lang="en-GB"/>
          </a:p>
        </p:txBody>
      </p:sp>
      <p:sp>
        <p:nvSpPr>
          <p:cNvPr id="5" name="Footer Placeholder 4"/>
          <p:cNvSpPr>
            <a:spLocks noGrp="1"/>
          </p:cNvSpPr>
          <p:nvPr>
            <p:ph type="ftr" sz="quarter" idx="11"/>
          </p:nvPr>
        </p:nvSpPr>
        <p:spPr/>
        <p:txBody>
          <a:bodyPr/>
          <a:lstStyle/>
          <a:p>
            <a:r>
              <a:rPr lang="en-GB"/>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E7E91-2316-44FC-8846-8D2740F7E104}" type="datetime1">
              <a:rPr lang="en-IN" smtClean="0"/>
              <a:t>22-11-2024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Review 1.1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71727439_Knee_osteoarthritis_severity_prediction_using_an_attentive_multi-scale_deep_convolutional_neural_network" TargetMode="External"/><Relationship Id="rId2" Type="http://schemas.openxmlformats.org/officeDocument/2006/relationships/slide" Target="slide21.xml"/><Relationship Id="rId1" Type="http://schemas.openxmlformats.org/officeDocument/2006/relationships/slideLayout" Target="../slideLayouts/slideLayout2.xml"/><Relationship Id="rId6" Type="http://schemas.openxmlformats.org/officeDocument/2006/relationships/hyperlink" Target="https://www.sciencedirect.com/science/article/abs/pii/S1746809421007308" TargetMode="External"/><Relationship Id="rId5" Type="http://schemas.openxmlformats.org/officeDocument/2006/relationships/hyperlink" Target="https://www.sciencedirect.com/science/article/pii/S2665917424002551?ref=pdf_download&amp;fr=RR-2&amp;rr=8c310c1a9ab13b46#sec3" TargetMode="External"/><Relationship Id="rId4" Type="http://schemas.openxmlformats.org/officeDocument/2006/relationships/hyperlink" Target="https://www.researchgate.net/publication/333773037_Fully_Automatic_Knee_Osteoarthritis_Severity_Grading_Using_Deep_Neural_Networks_with_a_Novel_Ordinal_Loss" TargetMode="External"/></Relationships>
</file>

<file path=ppt/slides/_rels/slide15.xml.rels><?xml version="1.0" encoding="UTF-8" standalone="yes"?>
<Relationships xmlns="http://schemas.openxmlformats.org/package/2006/relationships"><Relationship Id="rId3" Type="http://schemas.openxmlformats.org/officeDocument/2006/relationships/slide" Target="slide22.xml"/><Relationship Id="rId7" Type="http://schemas.openxmlformats.org/officeDocument/2006/relationships/hyperlink" Target="https://doi.org/10.1016/j.compbiomed.2023.10757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oi.org/10.1016/j.bspc.2024.106670" TargetMode="External"/><Relationship Id="rId5" Type="http://schemas.openxmlformats.org/officeDocument/2006/relationships/hyperlink" Target="https://www.researchgate.net/publication/369467473_Automatic_Detection_of_Knee_Osteoarthritis_Disease_with_the_Developed_CNN_NCA_and_SVM_Based_Hybrid_Model" TargetMode="External"/><Relationship Id="rId4" Type="http://schemas.openxmlformats.org/officeDocument/2006/relationships/hyperlink" Target="https://www.researchgate.net/publication/370832181_Knee_Osteoarthritis_Detection_and_Classification_using_X-rays" TargetMode="External"/></Relationships>
</file>

<file path=ppt/slides/_rels/slide1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link.springer.com/article/10.1186/s43019-024-00228-3" TargetMode="External"/><Relationship Id="rId4" Type="http://schemas.openxmlformats.org/officeDocument/2006/relationships/hyperlink" Target="https://www.google.com/search?q=M.+Jahan%2C+M.+Z.+Hasan%2C+I.+J.+Samia%2C+K.+Fatema%2C+M.+A.+H.+Rony%2C+M.+S.+Arefin%2C+and+A.+Moustafa%2C+%22KOA-CCTNet%3A+An+Enhanced+Knee+Osteoarthritis+Grade+Assessment+Framework+Using+Modified+Compact+Convolutional+Transformer+Model%2C%22+IEEE+Access%2C+vol.+12%2C+pp.+107719-107738%2C+2024.&amp;oq=M.+Jahan%2C+M.+Z.+Hasan%2C+I.+J.+Samia%2C+K.+Fatema%2C+M.+A.+H.+Rony%2C+M.+S.+Arefin%2C+and+A.+Moustafa%2C+%22KOA-CCTNet%3A+An+Enhanced+Knee+Osteoarthritis+Grade+Assessment+Framework+Using+Modified+Compact+Convolutional+Transformer+Model%2C%22+IEEE+Access%2C+vol.+12%2C+pp.+107719-107738%2C+2024.&amp;gs_lcrp=EgZjaHJvbWUyBggAEEUYOTIGCAEQLhhA0gEHMjQ3ajBqMagCALACAA&amp;sourceid=chrome&amp;ie=UTF-8"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5B647-8643-3214-4D28-BF115DA725C7}"/>
              </a:ext>
            </a:extLst>
          </p:cNvPr>
          <p:cNvSpPr>
            <a:spLocks noGrp="1"/>
          </p:cNvSpPr>
          <p:nvPr>
            <p:ph idx="1"/>
          </p:nvPr>
        </p:nvSpPr>
        <p:spPr>
          <a:xfrm>
            <a:off x="838199" y="505733"/>
            <a:ext cx="11006855" cy="6038622"/>
          </a:xfrm>
        </p:spPr>
        <p:txBody>
          <a:bodyPr vert="horz" lIns="91440" tIns="45720" rIns="91440" bIns="45720" rtlCol="0" anchor="t">
            <a:normAutofit/>
          </a:bodyPr>
          <a:lstStyle/>
          <a:p>
            <a:pPr marL="0" indent="0" algn="ctr">
              <a:buNone/>
            </a:pPr>
            <a:r>
              <a:rPr lang="en-US" b="1">
                <a:solidFill>
                  <a:srgbClr val="C00000"/>
                </a:solidFill>
                <a:cs typeface="Calibri" panose="020F0502020204030204"/>
              </a:rPr>
              <a:t>Review 1.1</a:t>
            </a:r>
          </a:p>
          <a:p>
            <a:pPr marL="0" indent="0" algn="ctr">
              <a:buNone/>
            </a:pPr>
            <a:r>
              <a:rPr lang="en-US" b="1" u="sng" err="1"/>
              <a:t>B.Tech</a:t>
            </a:r>
            <a:r>
              <a:rPr lang="en-US" b="1" u="sng"/>
              <a:t> Project  (19ECE495)</a:t>
            </a:r>
            <a:endParaRPr lang="en-IN"/>
          </a:p>
          <a:p>
            <a:pPr marL="0" indent="0" algn="ctr">
              <a:buNone/>
            </a:pPr>
            <a:r>
              <a:rPr lang="en-US">
                <a:cs typeface="Calibri"/>
              </a:rPr>
              <a:t>Batch ID: </a:t>
            </a:r>
            <a:r>
              <a:rPr lang="en-US" b="1">
                <a:solidFill>
                  <a:srgbClr val="C00000"/>
                </a:solidFill>
                <a:cs typeface="Calibri"/>
              </a:rPr>
              <a:t>041</a:t>
            </a:r>
            <a:endParaRPr lang="en-US" b="1">
              <a:solidFill>
                <a:srgbClr val="C00000"/>
              </a:solidFill>
              <a:ea typeface="Calibri"/>
              <a:cs typeface="Calibri"/>
            </a:endParaRPr>
          </a:p>
          <a:p>
            <a:pPr marL="0" indent="0" algn="ctr">
              <a:buNone/>
            </a:pPr>
            <a:endParaRPr lang="en-US" b="1">
              <a:latin typeface="Times New Roman"/>
              <a:cs typeface="Calibri" panose="020F0502020204030204"/>
            </a:endParaRPr>
          </a:p>
          <a:p>
            <a:pPr marL="0" indent="0" algn="ctr">
              <a:buNone/>
            </a:pPr>
            <a:r>
              <a:rPr lang="en-US" sz="3200" b="1">
                <a:ea typeface="+mn-lt"/>
                <a:cs typeface="+mn-lt"/>
              </a:rPr>
              <a:t>Multi-Class Classification and Detection of Knee Osteoarthritis From X- rays</a:t>
            </a:r>
            <a:endParaRPr lang="en-US" sz="2000">
              <a:cs typeface="Calibri"/>
            </a:endParaRPr>
          </a:p>
          <a:p>
            <a:pPr marL="0" indent="0">
              <a:buNone/>
            </a:pPr>
            <a:endParaRPr lang="en-US" sz="2000">
              <a:latin typeface="Times New Roman"/>
              <a:cs typeface="Calibri"/>
            </a:endParaRPr>
          </a:p>
          <a:p>
            <a:pPr marL="0" indent="0" algn="r">
              <a:lnSpc>
                <a:spcPct val="150000"/>
              </a:lnSpc>
              <a:buNone/>
            </a:pPr>
            <a:r>
              <a:rPr lang="en-US" sz="2000">
                <a:cs typeface="Calibri"/>
              </a:rPr>
              <a:t>MENTOR: Dr. Devi Vijayan </a:t>
            </a:r>
            <a:endParaRPr lang="en-US" sz="2000">
              <a:ea typeface="Calibri"/>
              <a:cs typeface="Calibri"/>
            </a:endParaRPr>
          </a:p>
          <a:p>
            <a:pPr marL="0" indent="0" algn="r">
              <a:spcBef>
                <a:spcPts val="0"/>
              </a:spcBef>
              <a:buNone/>
            </a:pPr>
            <a:r>
              <a:rPr lang="en-US" sz="1600">
                <a:cs typeface="Calibri"/>
              </a:rPr>
              <a:t>Dept. of Elec. and </a:t>
            </a:r>
            <a:r>
              <a:rPr lang="en-US" sz="1600" err="1">
                <a:cs typeface="Calibri"/>
              </a:rPr>
              <a:t>Commn</a:t>
            </a:r>
            <a:r>
              <a:rPr lang="en-US" sz="1600">
                <a:cs typeface="Calibri"/>
              </a:rPr>
              <a:t>. </a:t>
            </a:r>
            <a:r>
              <a:rPr lang="en-US" sz="1600" err="1">
                <a:cs typeface="Calibri"/>
              </a:rPr>
              <a:t>Engg</a:t>
            </a:r>
            <a:r>
              <a:rPr lang="en-US" sz="1600">
                <a:cs typeface="Calibri"/>
              </a:rPr>
              <a:t>. </a:t>
            </a:r>
            <a:endParaRPr lang="en-US" sz="1600">
              <a:ea typeface="Calibri"/>
              <a:cs typeface="Calibri"/>
            </a:endParaRPr>
          </a:p>
          <a:p>
            <a:pPr marL="0" indent="0" algn="r">
              <a:spcBef>
                <a:spcPts val="0"/>
              </a:spcBef>
              <a:buNone/>
            </a:pPr>
            <a:r>
              <a:rPr lang="en-US" sz="1600">
                <a:cs typeface="Calibri"/>
              </a:rPr>
              <a:t>Amrita School of Engineering, Coimbatore</a:t>
            </a:r>
            <a:endParaRPr lang="en-US" sz="1600">
              <a:ea typeface="Calibri"/>
              <a:cs typeface="Calibri"/>
            </a:endParaRPr>
          </a:p>
          <a:p>
            <a:pPr marL="0" indent="0" algn="ctr">
              <a:buNone/>
            </a:pPr>
            <a:endParaRPr lang="en-US" sz="2000">
              <a:latin typeface="Times New Roman"/>
              <a:cs typeface="Calibri"/>
            </a:endParaRPr>
          </a:p>
        </p:txBody>
      </p:sp>
      <p:sp>
        <p:nvSpPr>
          <p:cNvPr id="4" name="Slide Number Placeholder 3">
            <a:extLst>
              <a:ext uri="{FF2B5EF4-FFF2-40B4-BE49-F238E27FC236}">
                <a16:creationId xmlns:a16="http://schemas.microsoft.com/office/drawing/2014/main" id="{BD192D94-AEFD-6A06-AFD5-A7CBC3B72AC8}"/>
              </a:ext>
            </a:extLst>
          </p:cNvPr>
          <p:cNvSpPr>
            <a:spLocks noGrp="1"/>
          </p:cNvSpPr>
          <p:nvPr>
            <p:ph type="sldNum" sz="quarter" idx="12"/>
          </p:nvPr>
        </p:nvSpPr>
        <p:spPr/>
        <p:txBody>
          <a:bodyPr/>
          <a:lstStyle/>
          <a:p>
            <a:fld id="{330EA680-D336-4FF7-8B7A-9848BB0A1C32}" type="slidenum">
              <a:rPr lang="en-GB" smtClean="0"/>
              <a:t>1</a:t>
            </a:fld>
            <a:endParaRPr lang="en-GB"/>
          </a:p>
        </p:txBody>
      </p:sp>
      <p:graphicFrame>
        <p:nvGraphicFramePr>
          <p:cNvPr id="5" name="Table 4">
            <a:extLst>
              <a:ext uri="{FF2B5EF4-FFF2-40B4-BE49-F238E27FC236}">
                <a16:creationId xmlns:a16="http://schemas.microsoft.com/office/drawing/2014/main" id="{374A2F5B-6245-B893-CD53-3C56A25658BF}"/>
              </a:ext>
            </a:extLst>
          </p:cNvPr>
          <p:cNvGraphicFramePr>
            <a:graphicFrameLocks noGrp="1"/>
          </p:cNvGraphicFramePr>
          <p:nvPr>
            <p:extLst>
              <p:ext uri="{D42A27DB-BD31-4B8C-83A1-F6EECF244321}">
                <p14:modId xmlns:p14="http://schemas.microsoft.com/office/powerpoint/2010/main" val="1380554846"/>
              </p:ext>
            </p:extLst>
          </p:nvPr>
        </p:nvGraphicFramePr>
        <p:xfrm>
          <a:off x="838198" y="3947828"/>
          <a:ext cx="6013161" cy="1504405"/>
        </p:xfrm>
        <a:graphic>
          <a:graphicData uri="http://schemas.openxmlformats.org/drawingml/2006/table">
            <a:tbl>
              <a:tblPr firstRow="1" bandRow="1">
                <a:tableStyleId>{2D5ABB26-0587-4C30-8999-92F81FD0307C}</a:tableStyleId>
              </a:tblPr>
              <a:tblGrid>
                <a:gridCol w="3004457">
                  <a:extLst>
                    <a:ext uri="{9D8B030D-6E8A-4147-A177-3AD203B41FA5}">
                      <a16:colId xmlns:a16="http://schemas.microsoft.com/office/drawing/2014/main" val="753663392"/>
                    </a:ext>
                  </a:extLst>
                </a:gridCol>
                <a:gridCol w="428533">
                  <a:extLst>
                    <a:ext uri="{9D8B030D-6E8A-4147-A177-3AD203B41FA5}">
                      <a16:colId xmlns:a16="http://schemas.microsoft.com/office/drawing/2014/main" val="1657209611"/>
                    </a:ext>
                  </a:extLst>
                </a:gridCol>
                <a:gridCol w="2580171">
                  <a:extLst>
                    <a:ext uri="{9D8B030D-6E8A-4147-A177-3AD203B41FA5}">
                      <a16:colId xmlns:a16="http://schemas.microsoft.com/office/drawing/2014/main" val="2318253839"/>
                    </a:ext>
                  </a:extLst>
                </a:gridCol>
              </a:tblGrid>
              <a:tr h="391885">
                <a:tc>
                  <a:txBody>
                    <a:bodyPr/>
                    <a:lstStyle/>
                    <a:p>
                      <a:r>
                        <a:rPr lang="en-US">
                          <a:latin typeface="+mn-lt"/>
                        </a:rPr>
                        <a:t>CB.EN.U4ECE21008</a:t>
                      </a:r>
                    </a:p>
                  </a:txBody>
                  <a:tcPr/>
                </a:tc>
                <a:tc>
                  <a:txBody>
                    <a:bodyPr/>
                    <a:lstStyle/>
                    <a:p>
                      <a:pPr lvl="0">
                        <a:buNone/>
                      </a:pPr>
                      <a:r>
                        <a:rPr lang="en-US">
                          <a:latin typeface="+mn-lt"/>
                        </a:rPr>
                        <a:t>-</a:t>
                      </a:r>
                    </a:p>
                  </a:txBody>
                  <a:tcPr/>
                </a:tc>
                <a:tc>
                  <a:txBody>
                    <a:bodyPr/>
                    <a:lstStyle/>
                    <a:p>
                      <a:r>
                        <a:rPr lang="en-US">
                          <a:latin typeface="+mn-lt"/>
                        </a:rPr>
                        <a:t>C RISHI VARDHAN REDDY </a:t>
                      </a:r>
                    </a:p>
                  </a:txBody>
                  <a:tcPr/>
                </a:tc>
                <a:extLst>
                  <a:ext uri="{0D108BD9-81ED-4DB2-BD59-A6C34878D82A}">
                    <a16:rowId xmlns:a16="http://schemas.microsoft.com/office/drawing/2014/main" val="2402029942"/>
                  </a:ext>
                </a:extLst>
              </a:tr>
              <a:tr h="370840">
                <a:tc>
                  <a:txBody>
                    <a:bodyPr/>
                    <a:lstStyle/>
                    <a:p>
                      <a:r>
                        <a:rPr lang="en-US">
                          <a:latin typeface="+mn-lt"/>
                        </a:rPr>
                        <a:t>CB.EN.U4ECE21011</a:t>
                      </a:r>
                    </a:p>
                  </a:txBody>
                  <a:tcPr/>
                </a:tc>
                <a:tc>
                  <a:txBody>
                    <a:bodyPr/>
                    <a:lstStyle/>
                    <a:p>
                      <a:pPr lvl="0">
                        <a:buNone/>
                      </a:pPr>
                      <a:r>
                        <a:rPr lang="en-US">
                          <a:latin typeface="+mn-lt"/>
                        </a:rPr>
                        <a:t>-</a:t>
                      </a:r>
                    </a:p>
                  </a:txBody>
                  <a:tcPr/>
                </a:tc>
                <a:tc>
                  <a:txBody>
                    <a:bodyPr/>
                    <a:lstStyle/>
                    <a:p>
                      <a:r>
                        <a:rPr lang="en-US">
                          <a:latin typeface="+mn-lt"/>
                        </a:rPr>
                        <a:t>D M SHAAHID</a:t>
                      </a:r>
                    </a:p>
                  </a:txBody>
                  <a:tcPr/>
                </a:tc>
                <a:extLst>
                  <a:ext uri="{0D108BD9-81ED-4DB2-BD59-A6C34878D82A}">
                    <a16:rowId xmlns:a16="http://schemas.microsoft.com/office/drawing/2014/main" val="402005440"/>
                  </a:ext>
                </a:extLst>
              </a:tr>
              <a:tr h="370840">
                <a:tc>
                  <a:txBody>
                    <a:bodyPr/>
                    <a:lstStyle/>
                    <a:p>
                      <a:r>
                        <a:rPr lang="en-US">
                          <a:latin typeface="+mn-lt"/>
                        </a:rPr>
                        <a:t>CB.EN.U4ECE21012</a:t>
                      </a:r>
                    </a:p>
                  </a:txBody>
                  <a:tcPr/>
                </a:tc>
                <a:tc>
                  <a:txBody>
                    <a:bodyPr/>
                    <a:lstStyle/>
                    <a:p>
                      <a:pPr lvl="0">
                        <a:buNone/>
                      </a:pPr>
                      <a:r>
                        <a:rPr lang="en-US">
                          <a:latin typeface="+mn-lt"/>
                        </a:rPr>
                        <a:t>-</a:t>
                      </a:r>
                    </a:p>
                  </a:txBody>
                  <a:tcPr/>
                </a:tc>
                <a:tc>
                  <a:txBody>
                    <a:bodyPr/>
                    <a:lstStyle/>
                    <a:p>
                      <a:r>
                        <a:rPr lang="en-US">
                          <a:latin typeface="+mn-lt"/>
                        </a:rPr>
                        <a:t>DULAM SANTHOSH</a:t>
                      </a:r>
                    </a:p>
                  </a:txBody>
                  <a:tcPr/>
                </a:tc>
                <a:extLst>
                  <a:ext uri="{0D108BD9-81ED-4DB2-BD59-A6C34878D82A}">
                    <a16:rowId xmlns:a16="http://schemas.microsoft.com/office/drawing/2014/main" val="3530267722"/>
                  </a:ext>
                </a:extLst>
              </a:tr>
              <a:tr h="370840">
                <a:tc>
                  <a:txBody>
                    <a:bodyPr/>
                    <a:lstStyle/>
                    <a:p>
                      <a:r>
                        <a:rPr lang="en-US">
                          <a:latin typeface="+mn-lt"/>
                        </a:rPr>
                        <a:t>CB.EN.U4ECE21033</a:t>
                      </a:r>
                    </a:p>
                  </a:txBody>
                  <a:tcPr/>
                </a:tc>
                <a:tc>
                  <a:txBody>
                    <a:bodyPr/>
                    <a:lstStyle/>
                    <a:p>
                      <a:pPr lvl="0">
                        <a:buNone/>
                      </a:pPr>
                      <a:r>
                        <a:rPr lang="en-US">
                          <a:latin typeface="+mn-lt"/>
                        </a:rPr>
                        <a:t>-</a:t>
                      </a:r>
                    </a:p>
                  </a:txBody>
                  <a:tcPr/>
                </a:tc>
                <a:tc>
                  <a:txBody>
                    <a:bodyPr/>
                    <a:lstStyle/>
                    <a:p>
                      <a:r>
                        <a:rPr lang="en-US">
                          <a:latin typeface="+mn-lt"/>
                        </a:rPr>
                        <a:t>NUKALA SUMANTH</a:t>
                      </a:r>
                    </a:p>
                  </a:txBody>
                  <a:tcPr/>
                </a:tc>
                <a:extLst>
                  <a:ext uri="{0D108BD9-81ED-4DB2-BD59-A6C34878D82A}">
                    <a16:rowId xmlns:a16="http://schemas.microsoft.com/office/drawing/2014/main" val="2972241696"/>
                  </a:ext>
                </a:extLst>
              </a:tr>
            </a:tbl>
          </a:graphicData>
        </a:graphic>
      </p:graphicFrame>
      <p:sp>
        <p:nvSpPr>
          <p:cNvPr id="6" name="Date Placeholder 5"/>
          <p:cNvSpPr>
            <a:spLocks noGrp="1"/>
          </p:cNvSpPr>
          <p:nvPr>
            <p:ph type="dt" sz="half" idx="10"/>
          </p:nvPr>
        </p:nvSpPr>
        <p:spPr/>
        <p:txBody>
          <a:bodyPr/>
          <a:lstStyle/>
          <a:p>
            <a:fld id="{C55D4EFD-CD81-42D4-BAB5-37A6CA7A15CB}" type="datetime1">
              <a:rPr lang="en-IN" smtClean="0"/>
              <a:t>22-11-2024</a:t>
            </a:fld>
            <a:endParaRPr lang="en-GB"/>
          </a:p>
        </p:txBody>
      </p:sp>
      <p:sp>
        <p:nvSpPr>
          <p:cNvPr id="2" name="Footer Placeholder 1">
            <a:extLst>
              <a:ext uri="{FF2B5EF4-FFF2-40B4-BE49-F238E27FC236}">
                <a16:creationId xmlns:a16="http://schemas.microsoft.com/office/drawing/2014/main" id="{46DE8F17-CE76-0256-937E-776FB1DD8E1B}"/>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253796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47F2A1-5DDE-7069-23D5-29A12342A2C6}"/>
              </a:ext>
            </a:extLst>
          </p:cNvPr>
          <p:cNvSpPr>
            <a:spLocks noGrp="1"/>
          </p:cNvSpPr>
          <p:nvPr>
            <p:ph idx="1"/>
          </p:nvPr>
        </p:nvSpPr>
        <p:spPr>
          <a:xfrm>
            <a:off x="650310" y="407137"/>
            <a:ext cx="11339383" cy="5957716"/>
          </a:xfrm>
        </p:spPr>
        <p:txBody>
          <a:bodyPr vert="horz" lIns="91440" tIns="45720" rIns="91440" bIns="45720" rtlCol="0" anchor="t">
            <a:normAutofit/>
          </a:bodyPr>
          <a:lstStyle/>
          <a:p>
            <a:pPr algn="just">
              <a:buNone/>
            </a:pPr>
            <a:r>
              <a:rPr lang="en-US" sz="3600" b="1" dirty="0">
                <a:latin typeface="Times New Roman"/>
                <a:cs typeface="Times New Roman"/>
              </a:rPr>
              <a:t>Motivation:</a:t>
            </a:r>
            <a:endParaRPr lang="en-US" dirty="0"/>
          </a:p>
          <a:p>
            <a:pPr algn="just">
              <a:buNone/>
            </a:pPr>
            <a:endParaRPr lang="en-US" sz="3600" dirty="0">
              <a:latin typeface="Times New Roman"/>
              <a:cs typeface="Times New Roman"/>
            </a:endParaRPr>
          </a:p>
          <a:p>
            <a:pPr algn="just"/>
            <a:r>
              <a:rPr lang="en-US" sz="2400" dirty="0">
                <a:latin typeface="Calibri"/>
                <a:ea typeface="+mn-lt"/>
                <a:cs typeface="+mn-lt"/>
              </a:rPr>
              <a:t>A study shows that KOA affects 1 in 5 individuals in the general population and 1 in 3 people over the age of 50. </a:t>
            </a:r>
            <a:r>
              <a:rPr lang="en-US" sz="2400" dirty="0">
                <a:latin typeface="Calibri"/>
                <a:ea typeface="+mn-lt"/>
                <a:cs typeface="+mn-lt"/>
                <a:hlinkClick r:id="rId2" action="ppaction://hlinksldjump"/>
              </a:rPr>
              <a:t>[1]</a:t>
            </a:r>
            <a:endParaRPr lang="en-US" sz="2400" dirty="0">
              <a:latin typeface="Calibri"/>
              <a:ea typeface="+mn-lt"/>
              <a:cs typeface="+mn-lt"/>
            </a:endParaRPr>
          </a:p>
          <a:p>
            <a:pPr algn="just"/>
            <a:r>
              <a:rPr lang="en-US" sz="2400" dirty="0">
                <a:latin typeface="Calibri"/>
                <a:ea typeface="+mn-lt"/>
                <a:cs typeface="+mn-lt"/>
              </a:rPr>
              <a:t>The early and accurate detection of knee osteoarthritis through advanced AI-driven methods can drastically improve patient outcomes by enabling timely interventions.</a:t>
            </a:r>
            <a:endParaRPr lang="en-US" sz="2400" dirty="0">
              <a:latin typeface="Calibri"/>
              <a:ea typeface="Calibri" panose="020F0502020204030204"/>
              <a:cs typeface="Calibri" panose="020F0502020204030204"/>
            </a:endParaRPr>
          </a:p>
          <a:p>
            <a:pPr algn="just"/>
            <a:r>
              <a:rPr lang="en-US" sz="2400" dirty="0">
                <a:latin typeface="Calibri"/>
                <a:ea typeface="+mn-lt"/>
                <a:cs typeface="+mn-lt"/>
              </a:rPr>
              <a:t>Reducing the risk of severe joint damage and enhancing the quality of life for millions of individuals affected by this debilitating</a:t>
            </a:r>
            <a:r>
              <a:rPr lang="en-US" sz="2400" dirty="0">
                <a:solidFill>
                  <a:srgbClr val="FF0000"/>
                </a:solidFill>
                <a:latin typeface="Calibri"/>
                <a:ea typeface="+mn-lt"/>
                <a:cs typeface="+mn-lt"/>
              </a:rPr>
              <a:t> </a:t>
            </a:r>
            <a:r>
              <a:rPr lang="en-US" sz="2400" dirty="0">
                <a:latin typeface="Calibri"/>
                <a:ea typeface="+mn-lt"/>
                <a:cs typeface="+mn-lt"/>
              </a:rPr>
              <a:t>condition.</a:t>
            </a:r>
            <a:endParaRPr lang="en-US" sz="2400" dirty="0">
              <a:latin typeface="Calibri"/>
              <a:ea typeface="Calibri"/>
              <a:cs typeface="Times New Roman"/>
            </a:endParaRPr>
          </a:p>
          <a:p>
            <a:pPr algn="just"/>
            <a:r>
              <a:rPr lang="en-US" sz="2400" dirty="0">
                <a:latin typeface="Calibri"/>
                <a:ea typeface="+mn-lt"/>
                <a:cs typeface="+mn-lt"/>
              </a:rPr>
              <a:t>Current methods for diagnosing knee osteoarthritis often misclassify early stages of the disease, leading to delayed or inappropriate treatment.</a:t>
            </a:r>
            <a:endParaRPr lang="en-US" sz="2400" dirty="0">
              <a:latin typeface="Calibri"/>
              <a:ea typeface="Calibri"/>
              <a:cs typeface="Times New Roman"/>
            </a:endParaRPr>
          </a:p>
          <a:p>
            <a:pPr algn="just"/>
            <a:r>
              <a:rPr lang="en-US" sz="2400" dirty="0">
                <a:latin typeface="Calibri"/>
                <a:ea typeface="+mn-lt"/>
                <a:cs typeface="+mn-lt"/>
              </a:rPr>
              <a:t>By developing an automated, accurate grading system, this project provides a reliable tool that can support clinicians in making better-informed decisions, ultimately improving patient care.</a:t>
            </a:r>
            <a:endParaRPr lang="en-US" sz="2400" dirty="0">
              <a:latin typeface="Calibri"/>
              <a:ea typeface="Calibri"/>
              <a:cs typeface="Calibri"/>
            </a:endParaRPr>
          </a:p>
          <a:p>
            <a:pPr algn="just"/>
            <a:endParaRPr lang="en-US" sz="2400" dirty="0">
              <a:latin typeface="Times New Roman"/>
              <a:cs typeface="Calibri" panose="020F0502020204030204"/>
            </a:endParaRPr>
          </a:p>
          <a:p>
            <a:pPr algn="just"/>
            <a:endParaRPr lang="en-US" sz="2000" dirty="0">
              <a:latin typeface="Times New Roman"/>
              <a:cs typeface="Calibri" panose="020F0502020204030204"/>
            </a:endParaRPr>
          </a:p>
          <a:p>
            <a:pPr algn="just"/>
            <a:endParaRPr lang="en-US" sz="2000" dirty="0">
              <a:latin typeface="Times New Roman"/>
              <a:cs typeface="Calibri" panose="020F0502020204030204"/>
            </a:endParaRPr>
          </a:p>
          <a:p>
            <a:pPr algn="just"/>
            <a:endParaRPr lang="en-US" sz="2000" dirty="0">
              <a:latin typeface="Times New Roman"/>
              <a:cs typeface="Calibri" panose="020F0502020204030204"/>
            </a:endParaRPr>
          </a:p>
          <a:p>
            <a:pPr algn="just"/>
            <a:endParaRPr lang="en-US" sz="2000" dirty="0">
              <a:latin typeface="Times New Roman"/>
              <a:cs typeface="Calibri" panose="020F0502020204030204"/>
            </a:endParaRPr>
          </a:p>
          <a:p>
            <a:pPr algn="just"/>
            <a:endParaRPr lang="en-US" sz="2000" dirty="0">
              <a:latin typeface="Times New Roman"/>
              <a:cs typeface="Calibri" panose="020F0502020204030204"/>
            </a:endParaRPr>
          </a:p>
          <a:p>
            <a:pPr algn="just">
              <a:buNone/>
            </a:pPr>
            <a:endParaRPr lang="en-US" sz="2000" b="1" dirty="0">
              <a:latin typeface="Times New Roman"/>
              <a:cs typeface="Calibri" panose="020F0502020204030204"/>
            </a:endParaRPr>
          </a:p>
          <a:p>
            <a:pPr marL="0" indent="0" algn="just">
              <a:buNone/>
            </a:pPr>
            <a:endParaRPr lang="en-US" sz="2400" dirty="0">
              <a:latin typeface="Times New Roman"/>
              <a:cs typeface="Calibri" panose="020F0502020204030204"/>
            </a:endParaRPr>
          </a:p>
        </p:txBody>
      </p:sp>
      <p:sp>
        <p:nvSpPr>
          <p:cNvPr id="5" name="Slide Number Placeholder 4">
            <a:extLst>
              <a:ext uri="{FF2B5EF4-FFF2-40B4-BE49-F238E27FC236}">
                <a16:creationId xmlns:a16="http://schemas.microsoft.com/office/drawing/2014/main" id="{D0C43EFB-A9E7-DEB1-FEFD-AC026D6105F8}"/>
              </a:ext>
            </a:extLst>
          </p:cNvPr>
          <p:cNvSpPr>
            <a:spLocks noGrp="1"/>
          </p:cNvSpPr>
          <p:nvPr>
            <p:ph type="sldNum" sz="quarter" idx="12"/>
          </p:nvPr>
        </p:nvSpPr>
        <p:spPr/>
        <p:txBody>
          <a:bodyPr/>
          <a:lstStyle/>
          <a:p>
            <a:fld id="{330EA680-D336-4FF7-8B7A-9848BB0A1C32}" type="slidenum">
              <a:rPr lang="en-GB" smtClean="0"/>
              <a:t>2</a:t>
            </a:fld>
            <a:endParaRPr lang="en-US"/>
          </a:p>
        </p:txBody>
      </p:sp>
      <p:sp>
        <p:nvSpPr>
          <p:cNvPr id="6" name="Date Placeholder 5"/>
          <p:cNvSpPr>
            <a:spLocks noGrp="1"/>
          </p:cNvSpPr>
          <p:nvPr>
            <p:ph type="dt" sz="half" idx="10"/>
          </p:nvPr>
        </p:nvSpPr>
        <p:spPr/>
        <p:txBody>
          <a:bodyPr/>
          <a:lstStyle/>
          <a:p>
            <a:fld id="{DF12E05B-ABB9-4750-8456-E3D8B381E87F}" type="datetime1">
              <a:rPr lang="en-IN" smtClean="0"/>
              <a:t>22-11-2024</a:t>
            </a:fld>
            <a:endParaRPr lang="en-GB"/>
          </a:p>
        </p:txBody>
      </p:sp>
      <p:sp>
        <p:nvSpPr>
          <p:cNvPr id="2" name="Footer Placeholder 1">
            <a:extLst>
              <a:ext uri="{FF2B5EF4-FFF2-40B4-BE49-F238E27FC236}">
                <a16:creationId xmlns:a16="http://schemas.microsoft.com/office/drawing/2014/main" id="{9DF1E7F5-D0D1-3CDD-664E-52D45DFF3062}"/>
              </a:ext>
            </a:extLst>
          </p:cNvPr>
          <p:cNvSpPr>
            <a:spLocks noGrp="1"/>
          </p:cNvSpPr>
          <p:nvPr>
            <p:ph type="ftr" sz="quarter" idx="11"/>
          </p:nvPr>
        </p:nvSpPr>
        <p:spPr/>
        <p:txBody>
          <a:bodyPr/>
          <a:lstStyle/>
          <a:p>
            <a:r>
              <a:rPr lang="en-GB" dirty="0"/>
              <a:t>Review 1.1</a:t>
            </a:r>
          </a:p>
        </p:txBody>
      </p:sp>
    </p:spTree>
    <p:extLst>
      <p:ext uri="{BB962C8B-B14F-4D97-AF65-F5344CB8AC3E}">
        <p14:creationId xmlns:p14="http://schemas.microsoft.com/office/powerpoint/2010/main" val="13596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4F371A-7026-894E-8875-4FBCD18ECF69}"/>
              </a:ext>
            </a:extLst>
          </p:cNvPr>
          <p:cNvSpPr>
            <a:spLocks noGrp="1"/>
          </p:cNvSpPr>
          <p:nvPr>
            <p:ph idx="1"/>
          </p:nvPr>
        </p:nvSpPr>
        <p:spPr>
          <a:xfrm>
            <a:off x="838200" y="504109"/>
            <a:ext cx="10515600" cy="5858325"/>
          </a:xfrm>
        </p:spPr>
        <p:txBody>
          <a:bodyPr vert="horz" lIns="91440" tIns="45720" rIns="91440" bIns="45720" rtlCol="0" anchor="t">
            <a:normAutofit/>
          </a:bodyPr>
          <a:lstStyle/>
          <a:p>
            <a:pPr marL="0" indent="0" algn="just">
              <a:buNone/>
            </a:pPr>
            <a:r>
              <a:rPr lang="en-US" sz="3600" b="1">
                <a:latin typeface="Times New Roman"/>
                <a:cs typeface="Times New Roman"/>
              </a:rPr>
              <a:t>Problem Statement:</a:t>
            </a:r>
            <a:endParaRPr lang="en-US" sz="3600">
              <a:latin typeface="Times New Roman"/>
              <a:cs typeface="Times New Roman"/>
            </a:endParaRPr>
          </a:p>
          <a:p>
            <a:pPr marL="0" indent="0" algn="just">
              <a:buNone/>
            </a:pPr>
            <a:endParaRPr lang="en-US" sz="3600" b="1">
              <a:latin typeface="Times New Roman"/>
              <a:ea typeface="Calibri"/>
              <a:cs typeface="Times New Roman"/>
            </a:endParaRPr>
          </a:p>
          <a:p>
            <a:pPr algn="just"/>
            <a:r>
              <a:rPr lang="en-US" sz="2400">
                <a:latin typeface="Calibri"/>
                <a:ea typeface="Calibri"/>
                <a:cs typeface="Calibri"/>
              </a:rPr>
              <a:t>Knee osteoarthritis (OA) is a common joint disorder characterized by the degeneration of cartilage and underlying bone in the knee joint. </a:t>
            </a:r>
            <a:endParaRPr lang="en-US">
              <a:ea typeface="Calibri" panose="020F0502020204030204"/>
              <a:cs typeface="Calibri" panose="020F0502020204030204"/>
            </a:endParaRPr>
          </a:p>
          <a:p>
            <a:pPr algn="just"/>
            <a:r>
              <a:rPr lang="en-US" sz="2400">
                <a:latin typeface="Calibri"/>
                <a:ea typeface="Calibri"/>
                <a:cs typeface="Calibri"/>
              </a:rPr>
              <a:t>Early detection and accurate classification of knee OA severity are crucial for effective management and treatment. </a:t>
            </a:r>
          </a:p>
          <a:p>
            <a:pPr algn="just"/>
            <a:r>
              <a:rPr lang="en-US" sz="2400">
                <a:latin typeface="Calibri"/>
                <a:ea typeface="Calibri"/>
                <a:cs typeface="Calibri"/>
              </a:rPr>
              <a:t>Traditional diagnostic methods, such as physical examinations and X-ray imaging, can be subjective and time-consuming.</a:t>
            </a:r>
          </a:p>
          <a:p>
            <a:pPr algn="just"/>
            <a:r>
              <a:rPr lang="en-US" sz="2400">
                <a:latin typeface="Calibri"/>
                <a:ea typeface="Calibri"/>
                <a:cs typeface="Calibri"/>
              </a:rPr>
              <a:t>The goal is to develop an automated method for predicting knee OA severity using X-ray images, specifically classifying severity based on the Kellgren-Lawrence (KL) grading system.</a:t>
            </a:r>
          </a:p>
        </p:txBody>
      </p:sp>
      <p:sp>
        <p:nvSpPr>
          <p:cNvPr id="2" name="Slide Number Placeholder 1">
            <a:extLst>
              <a:ext uri="{FF2B5EF4-FFF2-40B4-BE49-F238E27FC236}">
                <a16:creationId xmlns:a16="http://schemas.microsoft.com/office/drawing/2014/main" id="{53E6377D-3FBF-C512-9A99-D2F70F2606C8}"/>
              </a:ext>
            </a:extLst>
          </p:cNvPr>
          <p:cNvSpPr>
            <a:spLocks noGrp="1"/>
          </p:cNvSpPr>
          <p:nvPr>
            <p:ph type="sldNum" sz="quarter" idx="12"/>
          </p:nvPr>
        </p:nvSpPr>
        <p:spPr/>
        <p:txBody>
          <a:bodyPr/>
          <a:lstStyle/>
          <a:p>
            <a:fld id="{330EA680-D336-4FF7-8B7A-9848BB0A1C32}" type="slidenum">
              <a:rPr lang="en-GB" smtClean="0"/>
              <a:t>3</a:t>
            </a:fld>
            <a:endParaRPr lang="en-US"/>
          </a:p>
        </p:txBody>
      </p:sp>
      <p:sp>
        <p:nvSpPr>
          <p:cNvPr id="7" name="Date Placeholder 6"/>
          <p:cNvSpPr>
            <a:spLocks noGrp="1"/>
          </p:cNvSpPr>
          <p:nvPr>
            <p:ph type="dt" sz="half" idx="10"/>
          </p:nvPr>
        </p:nvSpPr>
        <p:spPr/>
        <p:txBody>
          <a:bodyPr/>
          <a:lstStyle/>
          <a:p>
            <a:fld id="{B0E205EF-141D-4D34-BAE5-67D9162B3215}" type="datetime1">
              <a:rPr lang="en-IN" smtClean="0"/>
              <a:t>22-11-2024</a:t>
            </a:fld>
            <a:endParaRPr lang="en-GB"/>
          </a:p>
        </p:txBody>
      </p:sp>
      <p:sp>
        <p:nvSpPr>
          <p:cNvPr id="4" name="Footer Placeholder 3">
            <a:extLst>
              <a:ext uri="{FF2B5EF4-FFF2-40B4-BE49-F238E27FC236}">
                <a16:creationId xmlns:a16="http://schemas.microsoft.com/office/drawing/2014/main" id="{0C15D857-BCE4-1367-35A7-B406378A2089}"/>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257760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4F371A-7026-894E-8875-4FBCD18ECF69}"/>
              </a:ext>
            </a:extLst>
          </p:cNvPr>
          <p:cNvSpPr>
            <a:spLocks noGrp="1"/>
          </p:cNvSpPr>
          <p:nvPr>
            <p:ph idx="1"/>
          </p:nvPr>
        </p:nvSpPr>
        <p:spPr>
          <a:xfrm>
            <a:off x="838200" y="448891"/>
            <a:ext cx="10515600" cy="5957716"/>
          </a:xfrm>
        </p:spPr>
        <p:txBody>
          <a:bodyPr vert="horz" lIns="91440" tIns="45720" rIns="91440" bIns="45720" rtlCol="0" anchor="t">
            <a:normAutofit/>
          </a:bodyPr>
          <a:lstStyle/>
          <a:p>
            <a:pPr marL="0" indent="0" algn="just">
              <a:buNone/>
            </a:pPr>
            <a:r>
              <a:rPr lang="en-US" sz="3600" b="1">
                <a:latin typeface="Times New Roman"/>
                <a:ea typeface="Calibri"/>
                <a:cs typeface="Times New Roman"/>
              </a:rPr>
              <a:t>Objective:</a:t>
            </a:r>
            <a:endParaRPr lang="en-US" sz="3600">
              <a:latin typeface="Times New Roman"/>
              <a:ea typeface="Calibri"/>
              <a:cs typeface="Times New Roman"/>
            </a:endParaRPr>
          </a:p>
          <a:p>
            <a:pPr algn="just"/>
            <a:endParaRPr lang="en-US" sz="2000">
              <a:latin typeface="Calibri"/>
              <a:ea typeface="Calibri"/>
              <a:cs typeface="Times New Roman"/>
            </a:endParaRPr>
          </a:p>
          <a:p>
            <a:pPr algn="just">
              <a:buFont typeface="Arial" panose="02070309020205020404" pitchFamily="49" charset="0"/>
              <a:buChar char="•"/>
            </a:pPr>
            <a:r>
              <a:rPr lang="en-US" sz="2400">
                <a:latin typeface="Calibri"/>
                <a:ea typeface="+mn-lt"/>
                <a:cs typeface="+mn-lt"/>
              </a:rPr>
              <a:t>Develop a Computer-Aided-Diagnosis (CAD) system to assist medical professionals in early and accurate Knee-OA diagnosis. </a:t>
            </a:r>
          </a:p>
          <a:p>
            <a:pPr algn="just">
              <a:buFont typeface="Arial" panose="02070309020205020404" pitchFamily="49" charset="0"/>
              <a:buChar char="•"/>
            </a:pPr>
            <a:r>
              <a:rPr lang="en-US" sz="2400">
                <a:latin typeface="Calibri"/>
                <a:ea typeface="+mn-lt"/>
                <a:cs typeface="+mn-lt"/>
              </a:rPr>
              <a:t>Utilize deep learning models to automatically classify knee osteoarthritis severity into five grades (G-0 to G-4) according to the Kellgren and Lawrence system. </a:t>
            </a:r>
          </a:p>
          <a:p>
            <a:pPr algn="just">
              <a:buFont typeface="Arial" panose="02070309020205020404" pitchFamily="49" charset="0"/>
              <a:buChar char="•"/>
            </a:pPr>
            <a:r>
              <a:rPr lang="en-US" sz="2400">
                <a:latin typeface="Calibri"/>
                <a:ea typeface="+mn-lt"/>
                <a:cs typeface="+mn-lt"/>
              </a:rPr>
              <a:t>Implement Grad-CAM to visualize and interpret key regions in knee X-rays that influence the model's predictions, improving transparency and clinical decision-making. </a:t>
            </a:r>
          </a:p>
          <a:p>
            <a:pPr algn="just">
              <a:buFont typeface="Arial" panose="02070309020205020404" pitchFamily="49" charset="0"/>
              <a:buChar char="•"/>
            </a:pPr>
            <a:r>
              <a:rPr lang="en-US" sz="2400">
                <a:latin typeface="Calibri"/>
                <a:ea typeface="+mn-lt"/>
                <a:cs typeface="+mn-lt"/>
              </a:rPr>
              <a:t>Validate and compare the deep learning model's performance against state-of-the-art models.</a:t>
            </a:r>
            <a:endParaRPr lang="en-US" sz="2400">
              <a:latin typeface="Calibri"/>
              <a:ea typeface="Calibri" panose="020F0502020204030204"/>
              <a:cs typeface="Calibri"/>
            </a:endParaRPr>
          </a:p>
          <a:p>
            <a:pPr marL="0" indent="0" algn="just">
              <a:buNone/>
            </a:pPr>
            <a:endParaRPr lang="en-US" sz="2000">
              <a:latin typeface="Calibri"/>
              <a:ea typeface="Calibri"/>
              <a:cs typeface="Calibri"/>
            </a:endParaRPr>
          </a:p>
        </p:txBody>
      </p:sp>
      <p:sp>
        <p:nvSpPr>
          <p:cNvPr id="2" name="Slide Number Placeholder 1">
            <a:extLst>
              <a:ext uri="{FF2B5EF4-FFF2-40B4-BE49-F238E27FC236}">
                <a16:creationId xmlns:a16="http://schemas.microsoft.com/office/drawing/2014/main" id="{53E6377D-3FBF-C512-9A99-D2F70F2606C8}"/>
              </a:ext>
            </a:extLst>
          </p:cNvPr>
          <p:cNvSpPr>
            <a:spLocks noGrp="1"/>
          </p:cNvSpPr>
          <p:nvPr>
            <p:ph type="sldNum" sz="quarter" idx="12"/>
          </p:nvPr>
        </p:nvSpPr>
        <p:spPr/>
        <p:txBody>
          <a:bodyPr/>
          <a:lstStyle/>
          <a:p>
            <a:fld id="{330EA680-D336-4FF7-8B7A-9848BB0A1C32}" type="slidenum">
              <a:rPr lang="en-GB" smtClean="0"/>
              <a:t>4</a:t>
            </a:fld>
            <a:endParaRPr lang="en-US"/>
          </a:p>
        </p:txBody>
      </p:sp>
      <p:sp>
        <p:nvSpPr>
          <p:cNvPr id="5" name="Date Placeholder 4"/>
          <p:cNvSpPr>
            <a:spLocks noGrp="1"/>
          </p:cNvSpPr>
          <p:nvPr>
            <p:ph type="dt" sz="half" idx="10"/>
          </p:nvPr>
        </p:nvSpPr>
        <p:spPr/>
        <p:txBody>
          <a:bodyPr/>
          <a:lstStyle/>
          <a:p>
            <a:fld id="{425A018C-C94A-4E63-A94B-ECD708BCB93A}" type="datetime1">
              <a:rPr lang="en-IN" smtClean="0"/>
              <a:t>22-11-2024</a:t>
            </a:fld>
            <a:endParaRPr lang="en-GB"/>
          </a:p>
        </p:txBody>
      </p:sp>
      <p:sp>
        <p:nvSpPr>
          <p:cNvPr id="4" name="Footer Placeholder 3">
            <a:extLst>
              <a:ext uri="{FF2B5EF4-FFF2-40B4-BE49-F238E27FC236}">
                <a16:creationId xmlns:a16="http://schemas.microsoft.com/office/drawing/2014/main" id="{61A99A9C-AB29-B9C1-0B73-B8B6A4861B7B}"/>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3002987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5FD7-63D7-9EA5-FAFF-6A17F8CE3C52}"/>
              </a:ext>
            </a:extLst>
          </p:cNvPr>
          <p:cNvSpPr>
            <a:spLocks noGrp="1"/>
          </p:cNvSpPr>
          <p:nvPr>
            <p:ph type="title"/>
          </p:nvPr>
        </p:nvSpPr>
        <p:spPr/>
        <p:txBody>
          <a:bodyPr>
            <a:normAutofit/>
          </a:bodyPr>
          <a:lstStyle/>
          <a:p>
            <a:r>
              <a:rPr lang="en-IN" sz="3600" b="1">
                <a:latin typeface="Times New Roman"/>
                <a:cs typeface="Times New Roman"/>
              </a:rPr>
              <a:t>Data Preparation:</a:t>
            </a:r>
          </a:p>
        </p:txBody>
      </p:sp>
      <p:sp>
        <p:nvSpPr>
          <p:cNvPr id="3" name="Content Placeholder 2">
            <a:extLst>
              <a:ext uri="{FF2B5EF4-FFF2-40B4-BE49-F238E27FC236}">
                <a16:creationId xmlns:a16="http://schemas.microsoft.com/office/drawing/2014/main" id="{2A3E0343-97B3-0790-D576-41C038097D98}"/>
              </a:ext>
            </a:extLst>
          </p:cNvPr>
          <p:cNvSpPr>
            <a:spLocks noGrp="1"/>
          </p:cNvSpPr>
          <p:nvPr>
            <p:ph idx="1"/>
          </p:nvPr>
        </p:nvSpPr>
        <p:spPr>
          <a:xfrm>
            <a:off x="838200" y="1689554"/>
            <a:ext cx="10515600" cy="4351338"/>
          </a:xfrm>
        </p:spPr>
        <p:txBody>
          <a:bodyPr vert="horz" lIns="91440" tIns="45720" rIns="91440" bIns="45720" rtlCol="0" anchor="t">
            <a:normAutofit/>
          </a:bodyPr>
          <a:lstStyle/>
          <a:p>
            <a:pPr marL="0" indent="0" algn="just">
              <a:buNone/>
            </a:pPr>
            <a:r>
              <a:rPr lang="en-US" b="1" dirty="0"/>
              <a:t>Dataset</a:t>
            </a:r>
            <a:r>
              <a:rPr lang="en-US" b="1" dirty="0">
                <a:hlinkClick r:id="rId2" action="ppaction://hlinksldjump"/>
              </a:rPr>
              <a:t>[2]</a:t>
            </a:r>
            <a:r>
              <a:rPr lang="en-US" b="1" dirty="0"/>
              <a:t>:</a:t>
            </a:r>
            <a:endParaRPr lang="en-US" b="1" dirty="0">
              <a:ea typeface="Calibri"/>
              <a:cs typeface="Calibri"/>
            </a:endParaRPr>
          </a:p>
          <a:p>
            <a:pPr algn="just">
              <a:buFont typeface="Arial" panose="020B0604020202020204" pitchFamily="34" charset="0"/>
              <a:buChar char="•"/>
            </a:pPr>
            <a:r>
              <a:rPr lang="en-US" sz="2400" dirty="0"/>
              <a:t>The dataset used in the study is based on the Osteoarthritis Initiative (OAI) dataset.</a:t>
            </a:r>
            <a:endParaRPr lang="en-US" sz="2400" dirty="0">
              <a:ea typeface="Calibri"/>
              <a:cs typeface="Calibri"/>
            </a:endParaRPr>
          </a:p>
          <a:p>
            <a:pPr algn="just">
              <a:buFont typeface="Arial" panose="020B0604020202020204" pitchFamily="34" charset="0"/>
              <a:buChar char="•"/>
            </a:pPr>
            <a:r>
              <a:rPr lang="en-US" sz="2400" dirty="0"/>
              <a:t>The dataset contains 8,260 X-ray images of knee joints, graded according to the </a:t>
            </a:r>
            <a:r>
              <a:rPr lang="en-US" sz="2400" dirty="0" err="1"/>
              <a:t>Kellgren</a:t>
            </a:r>
            <a:r>
              <a:rPr lang="en-US" sz="2400" dirty="0"/>
              <a:t>-Lawrence (KL)</a:t>
            </a:r>
            <a:r>
              <a:rPr lang="en-US" sz="2400" b="1" dirty="0"/>
              <a:t> </a:t>
            </a:r>
            <a:r>
              <a:rPr lang="en-US" sz="2400" dirty="0"/>
              <a:t>grading scheme. The distribution of the dataset across KL grades is as follows:</a:t>
            </a:r>
            <a:endParaRPr lang="en-US" sz="2400" dirty="0">
              <a:ea typeface="Calibri"/>
              <a:cs typeface="Calibri"/>
            </a:endParaRPr>
          </a:p>
          <a:p>
            <a:pPr marL="742950" lvl="1" indent="-285750" algn="just">
              <a:buFont typeface="Arial" panose="020B0604020202020204" pitchFamily="34" charset="0"/>
              <a:buChar char="•"/>
            </a:pPr>
            <a:r>
              <a:rPr lang="en-US" dirty="0"/>
              <a:t>Grade 0: 3,253 images</a:t>
            </a:r>
            <a:endParaRPr lang="en-US" dirty="0">
              <a:ea typeface="Calibri"/>
              <a:cs typeface="Calibri"/>
            </a:endParaRPr>
          </a:p>
          <a:p>
            <a:pPr marL="742950" lvl="1" indent="-285750" algn="just">
              <a:buFont typeface="Arial" panose="020B0604020202020204" pitchFamily="34" charset="0"/>
              <a:buChar char="•"/>
            </a:pPr>
            <a:r>
              <a:rPr lang="en-US" dirty="0"/>
              <a:t>Grade 1: 1,495 images</a:t>
            </a:r>
            <a:endParaRPr lang="en-US" dirty="0">
              <a:ea typeface="Calibri"/>
              <a:cs typeface="Calibri"/>
            </a:endParaRPr>
          </a:p>
          <a:p>
            <a:pPr marL="742950" lvl="1" indent="-285750" algn="just">
              <a:buFont typeface="Arial" panose="020B0604020202020204" pitchFamily="34" charset="0"/>
              <a:buChar char="•"/>
            </a:pPr>
            <a:r>
              <a:rPr lang="en-US" dirty="0"/>
              <a:t>Grade 2: 2,175 images</a:t>
            </a:r>
            <a:endParaRPr lang="en-US" dirty="0">
              <a:ea typeface="Calibri"/>
              <a:cs typeface="Calibri"/>
            </a:endParaRPr>
          </a:p>
          <a:p>
            <a:pPr marL="742950" lvl="1" indent="-285750" algn="just">
              <a:buFont typeface="Arial" panose="020B0604020202020204" pitchFamily="34" charset="0"/>
              <a:buChar char="•"/>
            </a:pPr>
            <a:r>
              <a:rPr lang="en-US" dirty="0"/>
              <a:t>Grade 3: 1,086 images</a:t>
            </a:r>
            <a:endParaRPr lang="en-US" dirty="0">
              <a:ea typeface="Calibri"/>
              <a:cs typeface="Calibri"/>
            </a:endParaRPr>
          </a:p>
          <a:p>
            <a:pPr marL="742950" lvl="1" indent="-285750" algn="just">
              <a:buFont typeface="Arial" panose="020B0604020202020204" pitchFamily="34" charset="0"/>
              <a:buChar char="•"/>
            </a:pPr>
            <a:r>
              <a:rPr lang="en-US" dirty="0"/>
              <a:t>Grade 4: 251 images</a:t>
            </a:r>
            <a:endParaRPr lang="en-US" dirty="0">
              <a:ea typeface="Calibri"/>
              <a:cs typeface="Calibri"/>
            </a:endParaRPr>
          </a:p>
          <a:p>
            <a:pPr algn="just">
              <a:buFont typeface="Arial" panose="020B0604020202020204" pitchFamily="34" charset="0"/>
              <a:buChar char="•"/>
            </a:pPr>
            <a:endParaRPr lang="en-US" sz="2400" dirty="0">
              <a:ea typeface="Calibri"/>
              <a:cs typeface="Calibri"/>
            </a:endParaRPr>
          </a:p>
          <a:p>
            <a:pPr algn="just"/>
            <a:endParaRPr lang="en-IN" sz="2400" dirty="0">
              <a:ea typeface="Calibri"/>
              <a:cs typeface="Calibri"/>
            </a:endParaRPr>
          </a:p>
        </p:txBody>
      </p:sp>
      <p:sp>
        <p:nvSpPr>
          <p:cNvPr id="4" name="Date Placeholder 3">
            <a:extLst>
              <a:ext uri="{FF2B5EF4-FFF2-40B4-BE49-F238E27FC236}">
                <a16:creationId xmlns:a16="http://schemas.microsoft.com/office/drawing/2014/main" id="{FA1D7562-4508-269F-73BB-13BA52421DEB}"/>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AD296E0B-C619-55F7-CCDF-50105BDBB275}"/>
              </a:ext>
            </a:extLst>
          </p:cNvPr>
          <p:cNvSpPr>
            <a:spLocks noGrp="1"/>
          </p:cNvSpPr>
          <p:nvPr>
            <p:ph type="ftr" sz="quarter" idx="11"/>
          </p:nvPr>
        </p:nvSpPr>
        <p:spPr/>
        <p:txBody>
          <a:bodyPr/>
          <a:lstStyle/>
          <a:p>
            <a:r>
              <a:rPr lang="en-GB" dirty="0"/>
              <a:t>Review 1.1</a:t>
            </a:r>
          </a:p>
        </p:txBody>
      </p:sp>
      <p:sp>
        <p:nvSpPr>
          <p:cNvPr id="6" name="Slide Number Placeholder 5">
            <a:extLst>
              <a:ext uri="{FF2B5EF4-FFF2-40B4-BE49-F238E27FC236}">
                <a16:creationId xmlns:a16="http://schemas.microsoft.com/office/drawing/2014/main" id="{1231918E-3121-7229-61E1-7BE818F16D63}"/>
              </a:ext>
            </a:extLst>
          </p:cNvPr>
          <p:cNvSpPr>
            <a:spLocks noGrp="1"/>
          </p:cNvSpPr>
          <p:nvPr>
            <p:ph type="sldNum" sz="quarter" idx="12"/>
          </p:nvPr>
        </p:nvSpPr>
        <p:spPr/>
        <p:txBody>
          <a:bodyPr/>
          <a:lstStyle/>
          <a:p>
            <a:fld id="{330EA680-D336-4FF7-8B7A-9848BB0A1C32}" type="slidenum">
              <a:rPr lang="en-GB" smtClean="0"/>
              <a:t>5</a:t>
            </a:fld>
            <a:endParaRPr lang="en-GB"/>
          </a:p>
        </p:txBody>
      </p:sp>
    </p:spTree>
    <p:extLst>
      <p:ext uri="{BB962C8B-B14F-4D97-AF65-F5344CB8AC3E}">
        <p14:creationId xmlns:p14="http://schemas.microsoft.com/office/powerpoint/2010/main" val="29764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7030-7B24-A190-331A-0A3590D6642A}"/>
              </a:ext>
            </a:extLst>
          </p:cNvPr>
          <p:cNvSpPr>
            <a:spLocks noGrp="1"/>
          </p:cNvSpPr>
          <p:nvPr>
            <p:ph type="title"/>
          </p:nvPr>
        </p:nvSpPr>
        <p:spPr/>
        <p:txBody>
          <a:bodyPr/>
          <a:lstStyle/>
          <a:p>
            <a:r>
              <a:rPr lang="en-IN" sz="3600" b="1">
                <a:latin typeface="Times New Roman"/>
                <a:cs typeface="Times New Roman"/>
              </a:rPr>
              <a:t>Data Preparation:</a:t>
            </a:r>
            <a:endParaRPr lang="en-US" sz="3600">
              <a:latin typeface="Times New Roman"/>
              <a:cs typeface="Times New Roman"/>
            </a:endParaRPr>
          </a:p>
          <a:p>
            <a:endParaRPr lang="en-US">
              <a:ea typeface="Calibri Light"/>
              <a:cs typeface="Calibri Light"/>
            </a:endParaRPr>
          </a:p>
        </p:txBody>
      </p:sp>
      <p:graphicFrame>
        <p:nvGraphicFramePr>
          <p:cNvPr id="8" name="Content Placeholder 7">
            <a:extLst>
              <a:ext uri="{FF2B5EF4-FFF2-40B4-BE49-F238E27FC236}">
                <a16:creationId xmlns:a16="http://schemas.microsoft.com/office/drawing/2014/main" id="{3133D5A3-221C-C03E-51FC-7B1523D2522B}"/>
              </a:ext>
            </a:extLst>
          </p:cNvPr>
          <p:cNvGraphicFramePr>
            <a:graphicFrameLocks noGrp="1"/>
          </p:cNvGraphicFramePr>
          <p:nvPr>
            <p:ph idx="1"/>
            <p:extLst>
              <p:ext uri="{D42A27DB-BD31-4B8C-83A1-F6EECF244321}">
                <p14:modId xmlns:p14="http://schemas.microsoft.com/office/powerpoint/2010/main" val="3754488098"/>
              </p:ext>
            </p:extLst>
          </p:nvPr>
        </p:nvGraphicFramePr>
        <p:xfrm>
          <a:off x="838200" y="1689554"/>
          <a:ext cx="10545368" cy="2602793"/>
        </p:xfrm>
        <a:graphic>
          <a:graphicData uri="http://schemas.openxmlformats.org/drawingml/2006/table">
            <a:tbl>
              <a:tblPr bandRow="1">
                <a:tableStyleId>{5C22544A-7EE6-4342-B048-85BDC9FD1C3A}</a:tableStyleId>
              </a:tblPr>
              <a:tblGrid>
                <a:gridCol w="2105247">
                  <a:extLst>
                    <a:ext uri="{9D8B030D-6E8A-4147-A177-3AD203B41FA5}">
                      <a16:colId xmlns:a16="http://schemas.microsoft.com/office/drawing/2014/main" val="1489245980"/>
                    </a:ext>
                  </a:extLst>
                </a:gridCol>
                <a:gridCol w="1397117">
                  <a:extLst>
                    <a:ext uri="{9D8B030D-6E8A-4147-A177-3AD203B41FA5}">
                      <a16:colId xmlns:a16="http://schemas.microsoft.com/office/drawing/2014/main" val="2858326710"/>
                    </a:ext>
                  </a:extLst>
                </a:gridCol>
                <a:gridCol w="1760751">
                  <a:extLst>
                    <a:ext uri="{9D8B030D-6E8A-4147-A177-3AD203B41FA5}">
                      <a16:colId xmlns:a16="http://schemas.microsoft.com/office/drawing/2014/main" val="1732439194"/>
                    </a:ext>
                  </a:extLst>
                </a:gridCol>
                <a:gridCol w="1760751">
                  <a:extLst>
                    <a:ext uri="{9D8B030D-6E8A-4147-A177-3AD203B41FA5}">
                      <a16:colId xmlns:a16="http://schemas.microsoft.com/office/drawing/2014/main" val="1044167292"/>
                    </a:ext>
                  </a:extLst>
                </a:gridCol>
                <a:gridCol w="1760751">
                  <a:extLst>
                    <a:ext uri="{9D8B030D-6E8A-4147-A177-3AD203B41FA5}">
                      <a16:colId xmlns:a16="http://schemas.microsoft.com/office/drawing/2014/main" val="203154715"/>
                    </a:ext>
                  </a:extLst>
                </a:gridCol>
                <a:gridCol w="1760751">
                  <a:extLst>
                    <a:ext uri="{9D8B030D-6E8A-4147-A177-3AD203B41FA5}">
                      <a16:colId xmlns:a16="http://schemas.microsoft.com/office/drawing/2014/main" val="793901075"/>
                    </a:ext>
                  </a:extLst>
                </a:gridCol>
              </a:tblGrid>
              <a:tr h="516753">
                <a:tc>
                  <a:txBody>
                    <a:bodyPr/>
                    <a:lstStyle/>
                    <a:p>
                      <a:pPr algn="l" fontAlgn="auto"/>
                      <a:endParaRPr lang="en-IN" sz="2400" b="1" i="0" u="none" strike="noStrike">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ctr"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0</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ctr"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1</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ctr"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2</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ctr"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3</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ctr"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4</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585917044"/>
                  </a:ext>
                </a:extLst>
              </a:tr>
              <a:tr h="516753">
                <a:tc>
                  <a:txBody>
                    <a:bodyPr/>
                    <a:lstStyle/>
                    <a:p>
                      <a:pPr algn="ctr" fontAlgn="base"/>
                      <a:r>
                        <a:rPr lang="en-IN" sz="2400" b="1" i="0" u="none" strike="noStrike">
                          <a:solidFill>
                            <a:srgbClr val="000000"/>
                          </a:solidFill>
                          <a:effectLst/>
                          <a:latin typeface="Times New Roman"/>
                          <a:cs typeface="Times New Roman"/>
                        </a:rPr>
                        <a:t>TEST</a:t>
                      </a:r>
                      <a:endParaRPr lang="en-IN" sz="2400" b="1"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639</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296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447</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223</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51</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3671904929"/>
                  </a:ext>
                </a:extLst>
              </a:tr>
              <a:tr h="516753">
                <a:tc>
                  <a:txBody>
                    <a:bodyPr/>
                    <a:lstStyle/>
                    <a:p>
                      <a:pPr algn="ctr" fontAlgn="base"/>
                      <a:r>
                        <a:rPr lang="en-IN" sz="2400" b="1" i="0" u="none" strike="noStrike">
                          <a:solidFill>
                            <a:srgbClr val="000000"/>
                          </a:solidFill>
                          <a:effectLst/>
                          <a:latin typeface="Times New Roman"/>
                          <a:cs typeface="Times New Roman"/>
                        </a:rPr>
                        <a:t>TRAIN </a:t>
                      </a:r>
                      <a:endParaRPr lang="en-IN" sz="2400" b="1"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2286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1046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1516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757</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173</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extLst>
                  <a:ext uri="{0D108BD9-81ED-4DB2-BD59-A6C34878D82A}">
                    <a16:rowId xmlns:a16="http://schemas.microsoft.com/office/drawing/2014/main" val="2428819021"/>
                  </a:ext>
                </a:extLst>
              </a:tr>
              <a:tr h="535781">
                <a:tc>
                  <a:txBody>
                    <a:bodyPr/>
                    <a:lstStyle/>
                    <a:p>
                      <a:pPr algn="ctr" fontAlgn="base"/>
                      <a:r>
                        <a:rPr lang="en-IN" sz="2400" b="1" i="0" u="none" strike="noStrike">
                          <a:solidFill>
                            <a:srgbClr val="000000"/>
                          </a:solidFill>
                          <a:effectLst/>
                          <a:latin typeface="Times New Roman"/>
                          <a:cs typeface="Times New Roman"/>
                        </a:rPr>
                        <a:t>EVALUATION</a:t>
                      </a:r>
                      <a:endParaRPr lang="en-IN" sz="2400" b="1"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328</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153</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212</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106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a:cs typeface="Times New Roman"/>
                        </a:rPr>
                        <a:t>27</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1256478660"/>
                  </a:ext>
                </a:extLst>
              </a:tr>
              <a:tr h="516753">
                <a:tc>
                  <a:txBody>
                    <a:bodyPr/>
                    <a:lstStyle/>
                    <a:p>
                      <a:pPr algn="ctr" fontAlgn="base"/>
                      <a:r>
                        <a:rPr lang="en-IN" sz="2400" b="1" i="0" u="none" strike="noStrike">
                          <a:solidFill>
                            <a:srgbClr val="000000"/>
                          </a:solidFill>
                          <a:effectLst/>
                          <a:latin typeface="Times New Roman"/>
                          <a:cs typeface="Times New Roman"/>
                        </a:rPr>
                        <a:t>TOTAL</a:t>
                      </a:r>
                      <a:endParaRPr lang="en-IN" sz="2400" b="1"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3253</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1495</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2175</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1086</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a:cs typeface="Times New Roman"/>
                        </a:rPr>
                        <a:t>251</a:t>
                      </a:r>
                      <a:endParaRPr lang="en-IN" sz="2400" b="0" i="0">
                        <a:solidFill>
                          <a:srgbClr val="000000"/>
                        </a:solidFill>
                        <a:effectLst/>
                        <a:latin typeface="Times New Roman"/>
                        <a:cs typeface="Times New Roman"/>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extLst>
                  <a:ext uri="{0D108BD9-81ED-4DB2-BD59-A6C34878D82A}">
                    <a16:rowId xmlns:a16="http://schemas.microsoft.com/office/drawing/2014/main" val="4070883021"/>
                  </a:ext>
                </a:extLst>
              </a:tr>
            </a:tbl>
          </a:graphicData>
        </a:graphic>
      </p:graphicFrame>
      <p:sp>
        <p:nvSpPr>
          <p:cNvPr id="4" name="Date Placeholder 3">
            <a:extLst>
              <a:ext uri="{FF2B5EF4-FFF2-40B4-BE49-F238E27FC236}">
                <a16:creationId xmlns:a16="http://schemas.microsoft.com/office/drawing/2014/main" id="{7B6A9F36-96BE-3F05-02B5-7C0BF21A3C66}"/>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7CD99471-9EA4-EC1B-3F92-17CDE0AD8B9C}"/>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2D07A5C5-7F79-AEAB-CF17-C5F740C3227F}"/>
              </a:ext>
            </a:extLst>
          </p:cNvPr>
          <p:cNvSpPr>
            <a:spLocks noGrp="1"/>
          </p:cNvSpPr>
          <p:nvPr>
            <p:ph type="sldNum" sz="quarter" idx="12"/>
          </p:nvPr>
        </p:nvSpPr>
        <p:spPr/>
        <p:txBody>
          <a:bodyPr/>
          <a:lstStyle/>
          <a:p>
            <a:fld id="{330EA680-D336-4FF7-8B7A-9848BB0A1C32}" type="slidenum">
              <a:rPr lang="en-GB" smtClean="0"/>
              <a:t>6</a:t>
            </a:fld>
            <a:endParaRPr lang="en-GB"/>
          </a:p>
        </p:txBody>
      </p:sp>
      <p:sp>
        <p:nvSpPr>
          <p:cNvPr id="10" name="TextBox 9">
            <a:extLst>
              <a:ext uri="{FF2B5EF4-FFF2-40B4-BE49-F238E27FC236}">
                <a16:creationId xmlns:a16="http://schemas.microsoft.com/office/drawing/2014/main" id="{62B2F8F8-ACD2-87F4-BC92-F73FAA247BC2}"/>
              </a:ext>
            </a:extLst>
          </p:cNvPr>
          <p:cNvSpPr txBox="1"/>
          <p:nvPr/>
        </p:nvSpPr>
        <p:spPr>
          <a:xfrm>
            <a:off x="837097" y="4691270"/>
            <a:ext cx="1002085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a:latin typeface="Times New Roman"/>
              <a:cs typeface="Times New Roman"/>
            </a:endParaRPr>
          </a:p>
          <a:p>
            <a:r>
              <a:rPr lang="en-US" sz="2400">
                <a:latin typeface="Times New Roman"/>
                <a:cs typeface="Times New Roman"/>
              </a:rPr>
              <a:t>• </a:t>
            </a:r>
            <a:r>
              <a:rPr lang="en-US" sz="2600"/>
              <a:t>The image dimensions are 224x224 pixels.</a:t>
            </a:r>
            <a:endParaRPr lang="en-US">
              <a:ea typeface="Calibri"/>
              <a:cs typeface="Calibri"/>
            </a:endParaRPr>
          </a:p>
        </p:txBody>
      </p:sp>
    </p:spTree>
    <p:extLst>
      <p:ext uri="{BB962C8B-B14F-4D97-AF65-F5344CB8AC3E}">
        <p14:creationId xmlns:p14="http://schemas.microsoft.com/office/powerpoint/2010/main" val="4006999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5A50B-C114-B9B1-482E-DDE295FC6485}"/>
              </a:ext>
            </a:extLst>
          </p:cNvPr>
          <p:cNvSpPr>
            <a:spLocks noGrp="1"/>
          </p:cNvSpPr>
          <p:nvPr>
            <p:ph type="title"/>
          </p:nvPr>
        </p:nvSpPr>
        <p:spPr/>
        <p:txBody>
          <a:bodyPr>
            <a:normAutofit/>
          </a:bodyPr>
          <a:lstStyle/>
          <a:p>
            <a:r>
              <a:rPr lang="en-US" sz="3600" b="1">
                <a:latin typeface="Times New Roman"/>
                <a:cs typeface="Times New Roman"/>
              </a:rPr>
              <a:t>Data Preprocessing:</a:t>
            </a:r>
            <a:endParaRPr lang="en-IN" sz="3600">
              <a:latin typeface="Times New Roman"/>
              <a:cs typeface="Times New Roman"/>
            </a:endParaRPr>
          </a:p>
        </p:txBody>
      </p:sp>
      <p:sp>
        <p:nvSpPr>
          <p:cNvPr id="4" name="Date Placeholder 3">
            <a:extLst>
              <a:ext uri="{FF2B5EF4-FFF2-40B4-BE49-F238E27FC236}">
                <a16:creationId xmlns:a16="http://schemas.microsoft.com/office/drawing/2014/main" id="{0A588ED7-0095-697A-6CE0-BF09734C4B28}"/>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A67D333B-BE01-D4FA-E02F-BAADB1D633F1}"/>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5D448CA5-7B32-47AF-5731-10499B59E08D}"/>
              </a:ext>
            </a:extLst>
          </p:cNvPr>
          <p:cNvSpPr>
            <a:spLocks noGrp="1"/>
          </p:cNvSpPr>
          <p:nvPr>
            <p:ph type="sldNum" sz="quarter" idx="12"/>
          </p:nvPr>
        </p:nvSpPr>
        <p:spPr/>
        <p:txBody>
          <a:bodyPr/>
          <a:lstStyle/>
          <a:p>
            <a:fld id="{330EA680-D336-4FF7-8B7A-9848BB0A1C32}" type="slidenum">
              <a:rPr lang="en-GB" smtClean="0"/>
              <a:t>7</a:t>
            </a:fld>
            <a:endParaRPr lang="en-GB"/>
          </a:p>
        </p:txBody>
      </p:sp>
      <p:sp>
        <p:nvSpPr>
          <p:cNvPr id="11" name="Rectangle: Rounded Corners 10">
            <a:extLst>
              <a:ext uri="{FF2B5EF4-FFF2-40B4-BE49-F238E27FC236}">
                <a16:creationId xmlns:a16="http://schemas.microsoft.com/office/drawing/2014/main" id="{A5D268A9-9397-6A34-6C3A-6212457BFFD9}"/>
              </a:ext>
            </a:extLst>
          </p:cNvPr>
          <p:cNvSpPr/>
          <p:nvPr/>
        </p:nvSpPr>
        <p:spPr>
          <a:xfrm>
            <a:off x="4802481" y="1886320"/>
            <a:ext cx="2240622" cy="292813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0FB5C805-9E0F-274E-EB14-7628FD891E24}"/>
              </a:ext>
            </a:extLst>
          </p:cNvPr>
          <p:cNvSpPr/>
          <p:nvPr/>
        </p:nvSpPr>
        <p:spPr>
          <a:xfrm>
            <a:off x="5039214" y="2112015"/>
            <a:ext cx="1767155" cy="6447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b="1">
              <a:latin typeface="Times New Roman" panose="02020603050405020304" pitchFamily="18" charset="0"/>
              <a:ea typeface="+mn-lt"/>
              <a:cs typeface="Times New Roman" panose="02020603050405020304" pitchFamily="18" charset="0"/>
            </a:endParaRPr>
          </a:p>
          <a:p>
            <a:pPr algn="ctr"/>
            <a:r>
              <a:rPr lang="en-US" sz="1800" b="1">
                <a:latin typeface="Times New Roman" panose="02020603050405020304" pitchFamily="18" charset="0"/>
                <a:ea typeface="+mn-lt"/>
                <a:cs typeface="Times New Roman" panose="02020603050405020304" pitchFamily="18" charset="0"/>
              </a:rPr>
              <a:t>Histogram equalization</a:t>
            </a:r>
          </a:p>
          <a:p>
            <a:pPr algn="ctr"/>
            <a:endParaRPr lang="en-IN" b="1">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1EB17DB-D7AA-C16F-B703-8BE04B112485}"/>
              </a:ext>
            </a:extLst>
          </p:cNvPr>
          <p:cNvSpPr/>
          <p:nvPr/>
        </p:nvSpPr>
        <p:spPr>
          <a:xfrm>
            <a:off x="5039213" y="2889531"/>
            <a:ext cx="1767155" cy="6447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a:latin typeface="Times New Roman" panose="02020603050405020304" pitchFamily="18" charset="0"/>
                <a:ea typeface="+mn-lt"/>
                <a:cs typeface="Times New Roman" panose="02020603050405020304" pitchFamily="18" charset="0"/>
              </a:rPr>
              <a:t>Quantum noise reduction</a:t>
            </a:r>
            <a:endParaRPr lang="en-IN" b="1">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B497E77-A1A5-858B-6E9E-F9A488DB6DD8}"/>
              </a:ext>
            </a:extLst>
          </p:cNvPr>
          <p:cNvSpPr/>
          <p:nvPr/>
        </p:nvSpPr>
        <p:spPr>
          <a:xfrm>
            <a:off x="5039213" y="3717057"/>
            <a:ext cx="1767155" cy="6447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a:latin typeface="Times New Roman" panose="02020603050405020304" pitchFamily="18" charset="0"/>
                <a:ea typeface="+mn-lt"/>
                <a:cs typeface="Times New Roman" panose="02020603050405020304" pitchFamily="18" charset="0"/>
              </a:rPr>
              <a:t>Unsharp masking</a:t>
            </a:r>
            <a:endParaRPr lang="en-IN" b="1">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A69CC7D4-BF59-C3A2-CAC4-32F1BC1BF221}"/>
              </a:ext>
            </a:extLst>
          </p:cNvPr>
          <p:cNvSpPr/>
          <p:nvPr/>
        </p:nvSpPr>
        <p:spPr>
          <a:xfrm>
            <a:off x="2084540" y="2839720"/>
            <a:ext cx="2240622" cy="82936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a:latin typeface="Times New Roman" panose="02020603050405020304" pitchFamily="18" charset="0"/>
                <a:cs typeface="Times New Roman" panose="02020603050405020304" pitchFamily="18" charset="0"/>
              </a:rPr>
              <a:t>Normal Image</a:t>
            </a:r>
          </a:p>
        </p:txBody>
      </p:sp>
      <p:sp>
        <p:nvSpPr>
          <p:cNvPr id="18" name="Rectangle: Rounded Corners 17">
            <a:extLst>
              <a:ext uri="{FF2B5EF4-FFF2-40B4-BE49-F238E27FC236}">
                <a16:creationId xmlns:a16="http://schemas.microsoft.com/office/drawing/2014/main" id="{A1BDDFF0-E993-BB89-5698-051880DC87BE}"/>
              </a:ext>
            </a:extLst>
          </p:cNvPr>
          <p:cNvSpPr/>
          <p:nvPr/>
        </p:nvSpPr>
        <p:spPr>
          <a:xfrm>
            <a:off x="7616318" y="2839720"/>
            <a:ext cx="2240622" cy="82936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a:t>Processed Image</a:t>
            </a:r>
          </a:p>
        </p:txBody>
      </p:sp>
      <p:sp>
        <p:nvSpPr>
          <p:cNvPr id="22" name="Arrow: Right 21">
            <a:extLst>
              <a:ext uri="{FF2B5EF4-FFF2-40B4-BE49-F238E27FC236}">
                <a16:creationId xmlns:a16="http://schemas.microsoft.com/office/drawing/2014/main" id="{C76C7E3E-CDEA-E0A4-2C3E-8B7DE9DE5C8D}"/>
              </a:ext>
            </a:extLst>
          </p:cNvPr>
          <p:cNvSpPr/>
          <p:nvPr/>
        </p:nvSpPr>
        <p:spPr>
          <a:xfrm>
            <a:off x="4378674" y="3093225"/>
            <a:ext cx="345467" cy="322352"/>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Arrow: Right 22">
            <a:extLst>
              <a:ext uri="{FF2B5EF4-FFF2-40B4-BE49-F238E27FC236}">
                <a16:creationId xmlns:a16="http://schemas.microsoft.com/office/drawing/2014/main" id="{8EBF528B-387A-E613-704C-BCF434B07DC1}"/>
              </a:ext>
            </a:extLst>
          </p:cNvPr>
          <p:cNvSpPr/>
          <p:nvPr/>
        </p:nvSpPr>
        <p:spPr>
          <a:xfrm>
            <a:off x="7155049" y="3069272"/>
            <a:ext cx="345467" cy="322352"/>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Arrow: Right 2">
            <a:extLst>
              <a:ext uri="{FF2B5EF4-FFF2-40B4-BE49-F238E27FC236}">
                <a16:creationId xmlns:a16="http://schemas.microsoft.com/office/drawing/2014/main" id="{8CCFCC65-34D8-5C8B-0E99-B9F9F665A457}"/>
              </a:ext>
            </a:extLst>
          </p:cNvPr>
          <p:cNvSpPr/>
          <p:nvPr/>
        </p:nvSpPr>
        <p:spPr>
          <a:xfrm rot="5400000">
            <a:off x="8553788" y="3883464"/>
            <a:ext cx="345467" cy="322352"/>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3A67FE0-1EB8-E14A-4019-28104FEB2883}"/>
              </a:ext>
            </a:extLst>
          </p:cNvPr>
          <p:cNvSpPr/>
          <p:nvPr/>
        </p:nvSpPr>
        <p:spPr>
          <a:xfrm>
            <a:off x="7626756" y="4395035"/>
            <a:ext cx="2240622" cy="82936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a:t>Augmented Image</a:t>
            </a:r>
          </a:p>
        </p:txBody>
      </p:sp>
    </p:spTree>
    <p:extLst>
      <p:ext uri="{BB962C8B-B14F-4D97-AF65-F5344CB8AC3E}">
        <p14:creationId xmlns:p14="http://schemas.microsoft.com/office/powerpoint/2010/main" val="1369819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3290E0-A0E4-5CA3-0F34-DA444577D655}"/>
              </a:ext>
            </a:extLst>
          </p:cNvPr>
          <p:cNvSpPr>
            <a:spLocks noGrp="1"/>
          </p:cNvSpPr>
          <p:nvPr>
            <p:ph idx="1"/>
          </p:nvPr>
        </p:nvSpPr>
        <p:spPr>
          <a:xfrm>
            <a:off x="838200" y="791110"/>
            <a:ext cx="10515600" cy="5565240"/>
          </a:xfrm>
        </p:spPr>
        <p:txBody>
          <a:bodyPr vert="horz" lIns="91440" tIns="45720" rIns="91440" bIns="45720" rtlCol="0" anchor="t">
            <a:normAutofit/>
          </a:bodyPr>
          <a:lstStyle/>
          <a:p>
            <a:r>
              <a:rPr lang="en-US" b="1"/>
              <a:t>Grade0(Normal):</a:t>
            </a:r>
          </a:p>
          <a:p>
            <a:pPr marL="0" indent="0">
              <a:buNone/>
            </a:pPr>
            <a:r>
              <a:rPr lang="en-US"/>
              <a:t>    Normal Image                                                  Processed Image                                                 </a:t>
            </a:r>
            <a:br>
              <a:rPr lang="en-US"/>
            </a:br>
            <a:endParaRPr lang="en-IN">
              <a:cs typeface="Calibri"/>
            </a:endParaRPr>
          </a:p>
        </p:txBody>
      </p:sp>
      <p:sp>
        <p:nvSpPr>
          <p:cNvPr id="4" name="Date Placeholder 3">
            <a:extLst>
              <a:ext uri="{FF2B5EF4-FFF2-40B4-BE49-F238E27FC236}">
                <a16:creationId xmlns:a16="http://schemas.microsoft.com/office/drawing/2014/main" id="{98BCF1AD-BD4D-B921-6F91-24FF0A49F8B1}"/>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208D9EDC-99CC-E6B3-EA67-3C9E452D0AB7}"/>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54289469-4530-D8F2-C9C9-BE41C0CE2567}"/>
              </a:ext>
            </a:extLst>
          </p:cNvPr>
          <p:cNvSpPr>
            <a:spLocks noGrp="1"/>
          </p:cNvSpPr>
          <p:nvPr>
            <p:ph type="sldNum" sz="quarter" idx="12"/>
          </p:nvPr>
        </p:nvSpPr>
        <p:spPr/>
        <p:txBody>
          <a:bodyPr/>
          <a:lstStyle/>
          <a:p>
            <a:fld id="{330EA680-D336-4FF7-8B7A-9848BB0A1C32}" type="slidenum">
              <a:rPr lang="en-GB" smtClean="0"/>
              <a:t>8</a:t>
            </a:fld>
            <a:endParaRPr lang="en-GB"/>
          </a:p>
        </p:txBody>
      </p:sp>
      <p:pic>
        <p:nvPicPr>
          <p:cNvPr id="9" name="Picture 8">
            <a:extLst>
              <a:ext uri="{FF2B5EF4-FFF2-40B4-BE49-F238E27FC236}">
                <a16:creationId xmlns:a16="http://schemas.microsoft.com/office/drawing/2014/main" id="{612110DD-3DA4-A8B2-1B0A-D48BE0ED7E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603" y="1724104"/>
            <a:ext cx="2778403" cy="2652631"/>
          </a:xfrm>
          <a:prstGeom prst="rect">
            <a:avLst/>
          </a:prstGeom>
        </p:spPr>
      </p:pic>
      <p:pic>
        <p:nvPicPr>
          <p:cNvPr id="12" name="Picture 11">
            <a:extLst>
              <a:ext uri="{FF2B5EF4-FFF2-40B4-BE49-F238E27FC236}">
                <a16:creationId xmlns:a16="http://schemas.microsoft.com/office/drawing/2014/main" id="{EFADC2F0-53D0-33B4-A7BF-105E51E895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231" y="1713059"/>
            <a:ext cx="2778403" cy="2652631"/>
          </a:xfrm>
          <a:prstGeom prst="rect">
            <a:avLst/>
          </a:prstGeom>
        </p:spPr>
      </p:pic>
      <p:sp>
        <p:nvSpPr>
          <p:cNvPr id="15" name="TextBox 14">
            <a:extLst>
              <a:ext uri="{FF2B5EF4-FFF2-40B4-BE49-F238E27FC236}">
                <a16:creationId xmlns:a16="http://schemas.microsoft.com/office/drawing/2014/main" id="{B912CCBE-7569-FAC6-C4F0-6FFD38E4F3A1}"/>
              </a:ext>
            </a:extLst>
          </p:cNvPr>
          <p:cNvSpPr txBox="1"/>
          <p:nvPr/>
        </p:nvSpPr>
        <p:spPr>
          <a:xfrm>
            <a:off x="1263603" y="4589886"/>
            <a:ext cx="6719535" cy="1600438"/>
          </a:xfrm>
          <a:prstGeom prst="rect">
            <a:avLst/>
          </a:prstGeom>
          <a:noFill/>
        </p:spPr>
        <p:txBody>
          <a:bodyPr wrap="square" lIns="91440" tIns="45720" rIns="91440" bIns="45720" anchor="t">
            <a:spAutoFit/>
          </a:bodyPr>
          <a:lstStyle/>
          <a:p>
            <a:r>
              <a:rPr lang="en-IN" sz="2600" b="1"/>
              <a:t>Performance Metrics</a:t>
            </a:r>
            <a:r>
              <a:rPr lang="en-IN" sz="2400" b="1"/>
              <a:t>:</a:t>
            </a:r>
            <a:br>
              <a:rPr lang="en-IN" sz="2400"/>
            </a:br>
            <a:r>
              <a:rPr lang="en-IN" sz="2200" b="1"/>
              <a:t>MSE:</a:t>
            </a:r>
            <a:r>
              <a:rPr lang="en-IN" sz="2400" b="1"/>
              <a:t> </a:t>
            </a:r>
            <a:r>
              <a:rPr lang="en-IN" sz="2400"/>
              <a:t>15.053611288265307 </a:t>
            </a:r>
            <a:endParaRPr lang="en-IN" sz="2400">
              <a:ea typeface="Calibri"/>
              <a:cs typeface="Calibri"/>
            </a:endParaRPr>
          </a:p>
          <a:p>
            <a:r>
              <a:rPr lang="en-IN" sz="2200" b="1"/>
              <a:t>PSNR:</a:t>
            </a:r>
            <a:r>
              <a:rPr lang="en-IN" sz="2400" b="1"/>
              <a:t> </a:t>
            </a:r>
            <a:r>
              <a:rPr lang="en-IN" sz="2400"/>
              <a:t>36.35439663301513 dB </a:t>
            </a:r>
            <a:endParaRPr lang="en-IN" sz="2400">
              <a:ea typeface="Calibri"/>
              <a:cs typeface="Calibri"/>
            </a:endParaRPr>
          </a:p>
          <a:p>
            <a:r>
              <a:rPr lang="en-IN" sz="2200" b="1"/>
              <a:t>SSIM:</a:t>
            </a:r>
            <a:r>
              <a:rPr lang="en-IN" sz="2400" b="1"/>
              <a:t> </a:t>
            </a:r>
            <a:r>
              <a:rPr lang="en-IN" sz="2400"/>
              <a:t>0.8444530270262461</a:t>
            </a:r>
            <a:endParaRPr lang="en-IN" sz="2400">
              <a:ea typeface="Calibri"/>
              <a:cs typeface="Calibri"/>
            </a:endParaRPr>
          </a:p>
        </p:txBody>
      </p:sp>
      <p:sp>
        <p:nvSpPr>
          <p:cNvPr id="36" name="TextBox 35">
            <a:extLst>
              <a:ext uri="{FF2B5EF4-FFF2-40B4-BE49-F238E27FC236}">
                <a16:creationId xmlns:a16="http://schemas.microsoft.com/office/drawing/2014/main" id="{8AB31845-A4E8-5273-3B20-959BAEFCE2EF}"/>
              </a:ext>
            </a:extLst>
          </p:cNvPr>
          <p:cNvSpPr txBox="1"/>
          <p:nvPr/>
        </p:nvSpPr>
        <p:spPr>
          <a:xfrm>
            <a:off x="6462445" y="2974368"/>
            <a:ext cx="914400" cy="914400"/>
          </a:xfrm>
          <a:prstGeom prst="rect">
            <a:avLst/>
          </a:prstGeom>
          <a:noFill/>
        </p:spPr>
        <p:txBody>
          <a:bodyPr wrap="square" rtlCol="0">
            <a:spAutoFit/>
          </a:bodyPr>
          <a:lstStyle/>
          <a:p>
            <a:endParaRPr lang="en-IN"/>
          </a:p>
        </p:txBody>
      </p:sp>
      <p:sp>
        <p:nvSpPr>
          <p:cNvPr id="37" name="TextBox 36">
            <a:extLst>
              <a:ext uri="{FF2B5EF4-FFF2-40B4-BE49-F238E27FC236}">
                <a16:creationId xmlns:a16="http://schemas.microsoft.com/office/drawing/2014/main" id="{F4F1AF1F-BFC5-CA5D-DA64-85EC71470EA7}"/>
              </a:ext>
            </a:extLst>
          </p:cNvPr>
          <p:cNvSpPr txBox="1"/>
          <p:nvPr/>
        </p:nvSpPr>
        <p:spPr>
          <a:xfrm>
            <a:off x="4366517" y="1941816"/>
            <a:ext cx="2414427" cy="1487184"/>
          </a:xfrm>
          <a:prstGeom prst="rect">
            <a:avLst/>
          </a:prstGeom>
          <a:noFill/>
        </p:spPr>
        <p:txBody>
          <a:bodyPr wrap="square" rtlCol="0">
            <a:spAutoFit/>
          </a:bodyPr>
          <a:lstStyle/>
          <a:p>
            <a:endParaRPr lang="en-IN"/>
          </a:p>
        </p:txBody>
      </p:sp>
      <p:sp>
        <p:nvSpPr>
          <p:cNvPr id="42" name="Arrow: Right 41">
            <a:extLst>
              <a:ext uri="{FF2B5EF4-FFF2-40B4-BE49-F238E27FC236}">
                <a16:creationId xmlns:a16="http://schemas.microsoft.com/office/drawing/2014/main" id="{DE0141CB-F9A9-78D6-4F28-29CFD1A2AB6D}"/>
              </a:ext>
            </a:extLst>
          </p:cNvPr>
          <p:cNvSpPr/>
          <p:nvPr/>
        </p:nvSpPr>
        <p:spPr>
          <a:xfrm>
            <a:off x="4623371" y="2720083"/>
            <a:ext cx="1890445" cy="708917"/>
          </a:xfrm>
          <a:prstGeom prst="rightArrow">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16252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D335A-26AA-0306-8DA1-FB370AD1551F}"/>
              </a:ext>
            </a:extLst>
          </p:cNvPr>
          <p:cNvSpPr>
            <a:spLocks noGrp="1"/>
          </p:cNvSpPr>
          <p:nvPr>
            <p:ph idx="1"/>
          </p:nvPr>
        </p:nvSpPr>
        <p:spPr>
          <a:xfrm>
            <a:off x="838200" y="957655"/>
            <a:ext cx="10515600" cy="5398695"/>
          </a:xfrm>
        </p:spPr>
        <p:txBody>
          <a:bodyPr/>
          <a:lstStyle/>
          <a:p>
            <a:r>
              <a:rPr lang="en-US" b="1"/>
              <a:t>Grade1(Doubtful):</a:t>
            </a:r>
          </a:p>
          <a:p>
            <a:pPr marL="0" indent="0">
              <a:buNone/>
            </a:pPr>
            <a:r>
              <a:rPr lang="en-US"/>
              <a:t>  Normal Image                                                       Processed Image                                                 </a:t>
            </a:r>
            <a:br>
              <a:rPr lang="en-US"/>
            </a:br>
            <a:endParaRPr lang="en-IN"/>
          </a:p>
        </p:txBody>
      </p:sp>
      <p:sp>
        <p:nvSpPr>
          <p:cNvPr id="4" name="Date Placeholder 3">
            <a:extLst>
              <a:ext uri="{FF2B5EF4-FFF2-40B4-BE49-F238E27FC236}">
                <a16:creationId xmlns:a16="http://schemas.microsoft.com/office/drawing/2014/main" id="{DDB55C85-CFF2-552B-68CA-E23A7E88FC99}"/>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B671E75C-9C32-0A4B-2AE5-713CFD037E49}"/>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3E3DEC34-9653-9E4E-0741-1716011AEA19}"/>
              </a:ext>
            </a:extLst>
          </p:cNvPr>
          <p:cNvSpPr>
            <a:spLocks noGrp="1"/>
          </p:cNvSpPr>
          <p:nvPr>
            <p:ph type="sldNum" sz="quarter" idx="12"/>
          </p:nvPr>
        </p:nvSpPr>
        <p:spPr/>
        <p:txBody>
          <a:bodyPr/>
          <a:lstStyle/>
          <a:p>
            <a:fld id="{330EA680-D336-4FF7-8B7A-9848BB0A1C32}" type="slidenum">
              <a:rPr lang="en-GB" smtClean="0"/>
              <a:t>9</a:t>
            </a:fld>
            <a:endParaRPr lang="en-GB"/>
          </a:p>
        </p:txBody>
      </p:sp>
      <p:pic>
        <p:nvPicPr>
          <p:cNvPr id="10" name="Picture 9">
            <a:extLst>
              <a:ext uri="{FF2B5EF4-FFF2-40B4-BE49-F238E27FC236}">
                <a16:creationId xmlns:a16="http://schemas.microsoft.com/office/drawing/2014/main" id="{E9F3A6DF-F6E9-E460-7329-B3FF9CB0DC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282" y="1976874"/>
            <a:ext cx="2751240" cy="2723141"/>
          </a:xfrm>
          <a:prstGeom prst="rect">
            <a:avLst/>
          </a:prstGeom>
        </p:spPr>
      </p:pic>
      <p:pic>
        <p:nvPicPr>
          <p:cNvPr id="12" name="Picture 11">
            <a:extLst>
              <a:ext uri="{FF2B5EF4-FFF2-40B4-BE49-F238E27FC236}">
                <a16:creationId xmlns:a16="http://schemas.microsoft.com/office/drawing/2014/main" id="{BA9F4D79-A3A3-68F4-721C-079A3E07BC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1365" y="1976874"/>
            <a:ext cx="2751240" cy="2723140"/>
          </a:xfrm>
          <a:prstGeom prst="rect">
            <a:avLst/>
          </a:prstGeom>
        </p:spPr>
      </p:pic>
      <p:sp>
        <p:nvSpPr>
          <p:cNvPr id="13" name="Arrow: Right 12">
            <a:extLst>
              <a:ext uri="{FF2B5EF4-FFF2-40B4-BE49-F238E27FC236}">
                <a16:creationId xmlns:a16="http://schemas.microsoft.com/office/drawing/2014/main" id="{B23694C3-DFDB-F1DD-B37A-D2106BB53DBB}"/>
              </a:ext>
            </a:extLst>
          </p:cNvPr>
          <p:cNvSpPr/>
          <p:nvPr/>
        </p:nvSpPr>
        <p:spPr>
          <a:xfrm>
            <a:off x="4623371" y="2720083"/>
            <a:ext cx="1890445" cy="708917"/>
          </a:xfrm>
          <a:prstGeom prst="rightArrow">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49ACACD-3CAD-D1D7-DA12-1CEB6B46458A}"/>
              </a:ext>
            </a:extLst>
          </p:cNvPr>
          <p:cNvSpPr txBox="1"/>
          <p:nvPr/>
        </p:nvSpPr>
        <p:spPr>
          <a:xfrm>
            <a:off x="1103282" y="4423928"/>
            <a:ext cx="4249453" cy="1969770"/>
          </a:xfrm>
          <a:prstGeom prst="rect">
            <a:avLst/>
          </a:prstGeom>
          <a:noFill/>
        </p:spPr>
        <p:txBody>
          <a:bodyPr wrap="square" lIns="91440" tIns="45720" rIns="91440" bIns="45720" rtlCol="0" anchor="t">
            <a:spAutoFit/>
          </a:bodyPr>
          <a:lstStyle/>
          <a:p>
            <a:endParaRPr lang="en-IN" sz="2400" b="1"/>
          </a:p>
          <a:p>
            <a:r>
              <a:rPr lang="en-IN" sz="2600" b="1"/>
              <a:t>Performance Metrics:</a:t>
            </a:r>
            <a:br>
              <a:rPr lang="en-IN" sz="2400"/>
            </a:br>
            <a:r>
              <a:rPr lang="en-IN" sz="2200" b="1"/>
              <a:t>MSE:</a:t>
            </a:r>
            <a:r>
              <a:rPr lang="en-IN" sz="2400" b="1"/>
              <a:t> </a:t>
            </a:r>
            <a:r>
              <a:rPr lang="en-IN" sz="2400"/>
              <a:t>9.233119419642858  </a:t>
            </a:r>
            <a:endParaRPr lang="en-IN" sz="2400">
              <a:ea typeface="Calibri"/>
              <a:cs typeface="Calibri"/>
            </a:endParaRPr>
          </a:p>
          <a:p>
            <a:r>
              <a:rPr lang="en-IN" sz="2200" b="1"/>
              <a:t>PSNR:</a:t>
            </a:r>
            <a:r>
              <a:rPr lang="en-IN" sz="2400"/>
              <a:t> 38.47731908177804 dB  </a:t>
            </a:r>
            <a:r>
              <a:rPr lang="en-IN" sz="2200" b="1"/>
              <a:t>SSIM:</a:t>
            </a:r>
            <a:r>
              <a:rPr lang="en-IN" sz="2400"/>
              <a:t> 0.8983195091226587</a:t>
            </a:r>
            <a:endParaRPr lang="en-IN" sz="2400">
              <a:ea typeface="Calibri"/>
              <a:cs typeface="Calibri"/>
            </a:endParaRPr>
          </a:p>
        </p:txBody>
      </p:sp>
    </p:spTree>
    <p:extLst>
      <p:ext uri="{BB962C8B-B14F-4D97-AF65-F5344CB8AC3E}">
        <p14:creationId xmlns:p14="http://schemas.microsoft.com/office/powerpoint/2010/main" val="2867166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D335A-26AA-0306-8DA1-FB370AD1551F}"/>
              </a:ext>
            </a:extLst>
          </p:cNvPr>
          <p:cNvSpPr>
            <a:spLocks noGrp="1"/>
          </p:cNvSpPr>
          <p:nvPr>
            <p:ph idx="1"/>
          </p:nvPr>
        </p:nvSpPr>
        <p:spPr>
          <a:xfrm>
            <a:off x="838200" y="626724"/>
            <a:ext cx="10515600" cy="5550239"/>
          </a:xfrm>
        </p:spPr>
        <p:txBody>
          <a:bodyPr/>
          <a:lstStyle/>
          <a:p>
            <a:r>
              <a:rPr lang="en-US" b="1"/>
              <a:t>Grade2(Mild):</a:t>
            </a:r>
          </a:p>
          <a:p>
            <a:pPr marL="0" indent="0">
              <a:buNone/>
            </a:pPr>
            <a:r>
              <a:rPr lang="en-US"/>
              <a:t>  Normal Image                                                     Processed Image                                                 </a:t>
            </a:r>
            <a:br>
              <a:rPr lang="en-US"/>
            </a:br>
            <a:endParaRPr lang="en-IN"/>
          </a:p>
        </p:txBody>
      </p:sp>
      <p:sp>
        <p:nvSpPr>
          <p:cNvPr id="4" name="Date Placeholder 3">
            <a:extLst>
              <a:ext uri="{FF2B5EF4-FFF2-40B4-BE49-F238E27FC236}">
                <a16:creationId xmlns:a16="http://schemas.microsoft.com/office/drawing/2014/main" id="{DDB55C85-CFF2-552B-68CA-E23A7E88FC99}"/>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B671E75C-9C32-0A4B-2AE5-713CFD037E49}"/>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3E3DEC34-9653-9E4E-0741-1716011AEA19}"/>
              </a:ext>
            </a:extLst>
          </p:cNvPr>
          <p:cNvSpPr>
            <a:spLocks noGrp="1"/>
          </p:cNvSpPr>
          <p:nvPr>
            <p:ph type="sldNum" sz="quarter" idx="12"/>
          </p:nvPr>
        </p:nvSpPr>
        <p:spPr/>
        <p:txBody>
          <a:bodyPr/>
          <a:lstStyle/>
          <a:p>
            <a:fld id="{330EA680-D336-4FF7-8B7A-9848BB0A1C32}" type="slidenum">
              <a:rPr lang="en-GB" smtClean="0"/>
              <a:t>10</a:t>
            </a:fld>
            <a:endParaRPr lang="en-GB"/>
          </a:p>
        </p:txBody>
      </p:sp>
      <p:pic>
        <p:nvPicPr>
          <p:cNvPr id="8" name="Picture 7">
            <a:extLst>
              <a:ext uri="{FF2B5EF4-FFF2-40B4-BE49-F238E27FC236}">
                <a16:creationId xmlns:a16="http://schemas.microsoft.com/office/drawing/2014/main" id="{45AC9FD8-3A6B-4CB9-D810-5969A3B96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903" y="1528504"/>
            <a:ext cx="3028308" cy="3028308"/>
          </a:xfrm>
          <a:prstGeom prst="rect">
            <a:avLst/>
          </a:prstGeom>
        </p:spPr>
      </p:pic>
      <p:pic>
        <p:nvPicPr>
          <p:cNvPr id="10" name="Picture 9">
            <a:extLst>
              <a:ext uri="{FF2B5EF4-FFF2-40B4-BE49-F238E27FC236}">
                <a16:creationId xmlns:a16="http://schemas.microsoft.com/office/drawing/2014/main" id="{17016BF1-7060-4275-69F4-EF18BC333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1881" y="1528504"/>
            <a:ext cx="3028308" cy="3028308"/>
          </a:xfrm>
          <a:prstGeom prst="rect">
            <a:avLst/>
          </a:prstGeom>
        </p:spPr>
      </p:pic>
      <p:sp>
        <p:nvSpPr>
          <p:cNvPr id="11" name="Arrow: Right 10">
            <a:extLst>
              <a:ext uri="{FF2B5EF4-FFF2-40B4-BE49-F238E27FC236}">
                <a16:creationId xmlns:a16="http://schemas.microsoft.com/office/drawing/2014/main" id="{A6CDCE0B-E3CD-5B95-EDFE-E96E0E96BA84}"/>
              </a:ext>
            </a:extLst>
          </p:cNvPr>
          <p:cNvSpPr/>
          <p:nvPr/>
        </p:nvSpPr>
        <p:spPr>
          <a:xfrm>
            <a:off x="4855823" y="2720083"/>
            <a:ext cx="1890445" cy="708917"/>
          </a:xfrm>
          <a:prstGeom prst="rightArrow">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5857987-5CCD-7D90-C192-4A5F7C4C3930}"/>
              </a:ext>
            </a:extLst>
          </p:cNvPr>
          <p:cNvSpPr txBox="1"/>
          <p:nvPr/>
        </p:nvSpPr>
        <p:spPr>
          <a:xfrm>
            <a:off x="1106432" y="4756542"/>
            <a:ext cx="4372349" cy="1600438"/>
          </a:xfrm>
          <a:prstGeom prst="rect">
            <a:avLst/>
          </a:prstGeom>
          <a:noFill/>
        </p:spPr>
        <p:txBody>
          <a:bodyPr wrap="square" lIns="91440" tIns="45720" rIns="91440" bIns="45720" rtlCol="0" anchor="t">
            <a:spAutoFit/>
          </a:bodyPr>
          <a:lstStyle/>
          <a:p>
            <a:r>
              <a:rPr lang="en-IN" sz="2600" b="1"/>
              <a:t>Performance Metrics: </a:t>
            </a:r>
            <a:r>
              <a:rPr lang="en-IN" sz="2400" b="1"/>
              <a:t> </a:t>
            </a:r>
            <a:endParaRPr lang="en-IN" sz="2400" b="1">
              <a:ea typeface="Calibri"/>
              <a:cs typeface="Calibri"/>
            </a:endParaRPr>
          </a:p>
          <a:p>
            <a:r>
              <a:rPr lang="en-IN" sz="2200" b="1"/>
              <a:t>MSE:</a:t>
            </a:r>
            <a:r>
              <a:rPr lang="en-IN" sz="2400" b="1"/>
              <a:t> </a:t>
            </a:r>
            <a:r>
              <a:rPr lang="en-IN" sz="2400"/>
              <a:t>4.061822385204081  </a:t>
            </a:r>
            <a:endParaRPr lang="en-IN" sz="2400">
              <a:ea typeface="Calibri"/>
              <a:cs typeface="Calibri"/>
            </a:endParaRPr>
          </a:p>
          <a:p>
            <a:r>
              <a:rPr lang="en-IN" sz="2200" b="1"/>
              <a:t>PSNR:</a:t>
            </a:r>
            <a:r>
              <a:rPr lang="en-IN" sz="2400"/>
              <a:t> 42.04359432151725 dB  </a:t>
            </a:r>
            <a:endParaRPr lang="en-IN" sz="2400">
              <a:ea typeface="Calibri"/>
              <a:cs typeface="Calibri"/>
            </a:endParaRPr>
          </a:p>
          <a:p>
            <a:r>
              <a:rPr lang="en-IN" sz="2200" b="1"/>
              <a:t>SSIM:</a:t>
            </a:r>
            <a:r>
              <a:rPr lang="en-IN" sz="2400"/>
              <a:t> 0.9517445428816721</a:t>
            </a:r>
            <a:endParaRPr lang="en-IN" sz="2400">
              <a:ea typeface="Calibri"/>
              <a:cs typeface="Calibri"/>
            </a:endParaRPr>
          </a:p>
        </p:txBody>
      </p:sp>
    </p:spTree>
    <p:extLst>
      <p:ext uri="{BB962C8B-B14F-4D97-AF65-F5344CB8AC3E}">
        <p14:creationId xmlns:p14="http://schemas.microsoft.com/office/powerpoint/2010/main" val="3517137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D335A-26AA-0306-8DA1-FB370AD1551F}"/>
              </a:ext>
            </a:extLst>
          </p:cNvPr>
          <p:cNvSpPr>
            <a:spLocks noGrp="1"/>
          </p:cNvSpPr>
          <p:nvPr>
            <p:ph idx="1"/>
          </p:nvPr>
        </p:nvSpPr>
        <p:spPr>
          <a:xfrm>
            <a:off x="838200" y="595901"/>
            <a:ext cx="10515600" cy="5581062"/>
          </a:xfrm>
        </p:spPr>
        <p:txBody>
          <a:bodyPr/>
          <a:lstStyle/>
          <a:p>
            <a:r>
              <a:rPr lang="en-US" b="1"/>
              <a:t>Grade3(Moderate):</a:t>
            </a:r>
          </a:p>
          <a:p>
            <a:pPr marL="0" indent="0">
              <a:buNone/>
            </a:pPr>
            <a:r>
              <a:rPr lang="en-US"/>
              <a:t>  Normal Image                                                 Processed Image                                                 </a:t>
            </a:r>
            <a:br>
              <a:rPr lang="en-US"/>
            </a:br>
            <a:endParaRPr lang="en-IN"/>
          </a:p>
        </p:txBody>
      </p:sp>
      <p:sp>
        <p:nvSpPr>
          <p:cNvPr id="4" name="Date Placeholder 3">
            <a:extLst>
              <a:ext uri="{FF2B5EF4-FFF2-40B4-BE49-F238E27FC236}">
                <a16:creationId xmlns:a16="http://schemas.microsoft.com/office/drawing/2014/main" id="{DDB55C85-CFF2-552B-68CA-E23A7E88FC99}"/>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B671E75C-9C32-0A4B-2AE5-713CFD037E49}"/>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3E3DEC34-9653-9E4E-0741-1716011AEA19}"/>
              </a:ext>
            </a:extLst>
          </p:cNvPr>
          <p:cNvSpPr>
            <a:spLocks noGrp="1"/>
          </p:cNvSpPr>
          <p:nvPr>
            <p:ph type="sldNum" sz="quarter" idx="12"/>
          </p:nvPr>
        </p:nvSpPr>
        <p:spPr/>
        <p:txBody>
          <a:bodyPr/>
          <a:lstStyle/>
          <a:p>
            <a:fld id="{330EA680-D336-4FF7-8B7A-9848BB0A1C32}" type="slidenum">
              <a:rPr lang="en-GB" smtClean="0"/>
              <a:t>11</a:t>
            </a:fld>
            <a:endParaRPr lang="en-GB"/>
          </a:p>
        </p:txBody>
      </p:sp>
      <p:pic>
        <p:nvPicPr>
          <p:cNvPr id="8" name="Picture 7">
            <a:extLst>
              <a:ext uri="{FF2B5EF4-FFF2-40B4-BE49-F238E27FC236}">
                <a16:creationId xmlns:a16="http://schemas.microsoft.com/office/drawing/2014/main" id="{8BCD74C6-FC29-B5C8-96E8-250E38B76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02" y="1634712"/>
            <a:ext cx="3087963" cy="3087963"/>
          </a:xfrm>
          <a:prstGeom prst="rect">
            <a:avLst/>
          </a:prstGeom>
        </p:spPr>
      </p:pic>
      <p:pic>
        <p:nvPicPr>
          <p:cNvPr id="10" name="Picture 9">
            <a:extLst>
              <a:ext uri="{FF2B5EF4-FFF2-40B4-BE49-F238E27FC236}">
                <a16:creationId xmlns:a16="http://schemas.microsoft.com/office/drawing/2014/main" id="{7EB4924F-6580-8E37-7737-58FF1E552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0539" y="1634711"/>
            <a:ext cx="3369924" cy="3087963"/>
          </a:xfrm>
          <a:prstGeom prst="rect">
            <a:avLst/>
          </a:prstGeom>
        </p:spPr>
      </p:pic>
      <p:sp>
        <p:nvSpPr>
          <p:cNvPr id="11" name="Arrow: Right 10">
            <a:extLst>
              <a:ext uri="{FF2B5EF4-FFF2-40B4-BE49-F238E27FC236}">
                <a16:creationId xmlns:a16="http://schemas.microsoft.com/office/drawing/2014/main" id="{2AD9AFDD-EA43-0ADE-3ADF-2EFF61CBCD44}"/>
              </a:ext>
            </a:extLst>
          </p:cNvPr>
          <p:cNvSpPr/>
          <p:nvPr/>
        </p:nvSpPr>
        <p:spPr>
          <a:xfrm>
            <a:off x="4726829" y="2720083"/>
            <a:ext cx="1890445" cy="708917"/>
          </a:xfrm>
          <a:prstGeom prst="rightArrow">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F672FB7-E564-24D3-38EF-8B817CE3CC9D}"/>
              </a:ext>
            </a:extLst>
          </p:cNvPr>
          <p:cNvSpPr txBox="1"/>
          <p:nvPr/>
        </p:nvSpPr>
        <p:spPr>
          <a:xfrm>
            <a:off x="1115602" y="4754122"/>
            <a:ext cx="4778649" cy="1600438"/>
          </a:xfrm>
          <a:prstGeom prst="rect">
            <a:avLst/>
          </a:prstGeom>
          <a:noFill/>
        </p:spPr>
        <p:txBody>
          <a:bodyPr wrap="square" lIns="91440" tIns="45720" rIns="91440" bIns="45720" rtlCol="0" anchor="t">
            <a:spAutoFit/>
          </a:bodyPr>
          <a:lstStyle/>
          <a:p>
            <a:r>
              <a:rPr lang="en-IN" sz="2600" b="1"/>
              <a:t>Performance Metrics:</a:t>
            </a:r>
            <a:r>
              <a:rPr lang="en-IN" sz="2600"/>
              <a:t> </a:t>
            </a:r>
            <a:r>
              <a:rPr lang="en-IN" sz="2400"/>
              <a:t> </a:t>
            </a:r>
            <a:endParaRPr lang="en-IN" sz="2400">
              <a:ea typeface="Calibri"/>
              <a:cs typeface="Calibri"/>
            </a:endParaRPr>
          </a:p>
          <a:p>
            <a:r>
              <a:rPr lang="en-IN" sz="2200" b="1"/>
              <a:t>MSE:</a:t>
            </a:r>
            <a:r>
              <a:rPr lang="en-IN" sz="2400" b="1"/>
              <a:t> </a:t>
            </a:r>
            <a:r>
              <a:rPr lang="en-IN" sz="2400"/>
              <a:t>11.623485331632653  </a:t>
            </a:r>
            <a:endParaRPr lang="en-IN" sz="2400">
              <a:ea typeface="Calibri"/>
              <a:cs typeface="Calibri"/>
            </a:endParaRPr>
          </a:p>
          <a:p>
            <a:r>
              <a:rPr lang="en-IN" sz="2200" b="1"/>
              <a:t>PSNR:</a:t>
            </a:r>
            <a:r>
              <a:rPr lang="en-IN" sz="2400"/>
              <a:t> 37.47743988980936 dB  </a:t>
            </a:r>
            <a:endParaRPr lang="en-IN" sz="2400">
              <a:ea typeface="Calibri"/>
              <a:cs typeface="Calibri"/>
            </a:endParaRPr>
          </a:p>
          <a:p>
            <a:r>
              <a:rPr lang="en-IN" sz="2200" b="1"/>
              <a:t>SSIM:</a:t>
            </a:r>
            <a:r>
              <a:rPr lang="en-IN" sz="2400"/>
              <a:t> 0.8786653573662453</a:t>
            </a:r>
            <a:endParaRPr lang="en-IN" sz="2400">
              <a:ea typeface="Calibri"/>
              <a:cs typeface="Calibri"/>
            </a:endParaRPr>
          </a:p>
        </p:txBody>
      </p:sp>
    </p:spTree>
    <p:extLst>
      <p:ext uri="{BB962C8B-B14F-4D97-AF65-F5344CB8AC3E}">
        <p14:creationId xmlns:p14="http://schemas.microsoft.com/office/powerpoint/2010/main" val="196210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D335A-26AA-0306-8DA1-FB370AD1551F}"/>
              </a:ext>
            </a:extLst>
          </p:cNvPr>
          <p:cNvSpPr>
            <a:spLocks noGrp="1"/>
          </p:cNvSpPr>
          <p:nvPr>
            <p:ph idx="1"/>
          </p:nvPr>
        </p:nvSpPr>
        <p:spPr>
          <a:xfrm>
            <a:off x="838200" y="472611"/>
            <a:ext cx="10515600" cy="5704352"/>
          </a:xfrm>
        </p:spPr>
        <p:txBody>
          <a:bodyPr/>
          <a:lstStyle/>
          <a:p>
            <a:r>
              <a:rPr lang="en-US" b="1"/>
              <a:t>Grade4(Severe):</a:t>
            </a:r>
          </a:p>
          <a:p>
            <a:pPr marL="0" indent="0">
              <a:buNone/>
            </a:pPr>
            <a:r>
              <a:rPr lang="en-US"/>
              <a:t>Normal Image                                                       Processed Image                                                 </a:t>
            </a:r>
            <a:br>
              <a:rPr lang="en-US"/>
            </a:br>
            <a:endParaRPr lang="en-IN"/>
          </a:p>
        </p:txBody>
      </p:sp>
      <p:sp>
        <p:nvSpPr>
          <p:cNvPr id="4" name="Date Placeholder 3">
            <a:extLst>
              <a:ext uri="{FF2B5EF4-FFF2-40B4-BE49-F238E27FC236}">
                <a16:creationId xmlns:a16="http://schemas.microsoft.com/office/drawing/2014/main" id="{DDB55C85-CFF2-552B-68CA-E23A7E88FC99}"/>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B671E75C-9C32-0A4B-2AE5-713CFD037E49}"/>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3E3DEC34-9653-9E4E-0741-1716011AEA19}"/>
              </a:ext>
            </a:extLst>
          </p:cNvPr>
          <p:cNvSpPr>
            <a:spLocks noGrp="1"/>
          </p:cNvSpPr>
          <p:nvPr>
            <p:ph type="sldNum" sz="quarter" idx="12"/>
          </p:nvPr>
        </p:nvSpPr>
        <p:spPr/>
        <p:txBody>
          <a:bodyPr/>
          <a:lstStyle/>
          <a:p>
            <a:fld id="{330EA680-D336-4FF7-8B7A-9848BB0A1C32}" type="slidenum">
              <a:rPr lang="en-GB" smtClean="0"/>
              <a:t>12</a:t>
            </a:fld>
            <a:endParaRPr lang="en-GB"/>
          </a:p>
        </p:txBody>
      </p:sp>
      <p:pic>
        <p:nvPicPr>
          <p:cNvPr id="8" name="Picture 7">
            <a:extLst>
              <a:ext uri="{FF2B5EF4-FFF2-40B4-BE49-F238E27FC236}">
                <a16:creationId xmlns:a16="http://schemas.microsoft.com/office/drawing/2014/main" id="{F15FECFD-812B-8C4C-D61C-95CA24915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47296"/>
            <a:ext cx="3254489" cy="3254489"/>
          </a:xfrm>
          <a:prstGeom prst="rect">
            <a:avLst/>
          </a:prstGeom>
        </p:spPr>
      </p:pic>
      <p:sp>
        <p:nvSpPr>
          <p:cNvPr id="9" name="Arrow: Right 8">
            <a:extLst>
              <a:ext uri="{FF2B5EF4-FFF2-40B4-BE49-F238E27FC236}">
                <a16:creationId xmlns:a16="http://schemas.microsoft.com/office/drawing/2014/main" id="{3D41B109-3330-BB04-EBB6-3F94A00B6CA0}"/>
              </a:ext>
            </a:extLst>
          </p:cNvPr>
          <p:cNvSpPr/>
          <p:nvPr/>
        </p:nvSpPr>
        <p:spPr>
          <a:xfrm>
            <a:off x="4849905" y="2720083"/>
            <a:ext cx="1890445" cy="708917"/>
          </a:xfrm>
          <a:prstGeom prst="rightArrow">
            <a:avLst/>
          </a:prstGeom>
          <a:solidFill>
            <a:schemeClr val="bg2">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40CEEB6F-94E4-DF77-3C81-30127E3FD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7566" y="1447296"/>
            <a:ext cx="3254489" cy="3254488"/>
          </a:xfrm>
          <a:prstGeom prst="rect">
            <a:avLst/>
          </a:prstGeom>
        </p:spPr>
      </p:pic>
      <p:sp>
        <p:nvSpPr>
          <p:cNvPr id="12" name="TextBox 11">
            <a:extLst>
              <a:ext uri="{FF2B5EF4-FFF2-40B4-BE49-F238E27FC236}">
                <a16:creationId xmlns:a16="http://schemas.microsoft.com/office/drawing/2014/main" id="{131310FC-7332-B17A-6C2E-2EE0DEA002A6}"/>
              </a:ext>
            </a:extLst>
          </p:cNvPr>
          <p:cNvSpPr txBox="1"/>
          <p:nvPr/>
        </p:nvSpPr>
        <p:spPr>
          <a:xfrm>
            <a:off x="884079" y="4757110"/>
            <a:ext cx="4911048" cy="1600438"/>
          </a:xfrm>
          <a:prstGeom prst="rect">
            <a:avLst/>
          </a:prstGeom>
          <a:noFill/>
        </p:spPr>
        <p:txBody>
          <a:bodyPr wrap="square" lIns="91440" tIns="45720" rIns="91440" bIns="45720" rtlCol="0" anchor="t">
            <a:spAutoFit/>
          </a:bodyPr>
          <a:lstStyle/>
          <a:p>
            <a:r>
              <a:rPr lang="en-IN" sz="2600" b="1"/>
              <a:t>Performance Metrics: </a:t>
            </a:r>
            <a:r>
              <a:rPr lang="en-IN" sz="2400" b="1"/>
              <a:t> </a:t>
            </a:r>
            <a:endParaRPr lang="en-IN" sz="2400" b="1">
              <a:ea typeface="Calibri"/>
              <a:cs typeface="Calibri"/>
            </a:endParaRPr>
          </a:p>
          <a:p>
            <a:r>
              <a:rPr lang="en-IN" sz="2200" b="1"/>
              <a:t>MSE:</a:t>
            </a:r>
            <a:r>
              <a:rPr lang="en-IN" sz="2400" b="1"/>
              <a:t> </a:t>
            </a:r>
            <a:r>
              <a:rPr lang="en-IN" sz="2400"/>
              <a:t>1.566745057397959  </a:t>
            </a:r>
            <a:endParaRPr lang="en-IN" sz="2400">
              <a:ea typeface="Calibri"/>
              <a:cs typeface="Calibri"/>
            </a:endParaRPr>
          </a:p>
          <a:p>
            <a:r>
              <a:rPr lang="en-IN" sz="2200" b="1"/>
              <a:t>PSNR:</a:t>
            </a:r>
            <a:r>
              <a:rPr lang="en-IN" sz="2400"/>
              <a:t> 46.18082027560162 dB  </a:t>
            </a:r>
            <a:endParaRPr lang="en-IN" sz="2400">
              <a:ea typeface="Calibri"/>
              <a:cs typeface="Calibri"/>
            </a:endParaRPr>
          </a:p>
          <a:p>
            <a:r>
              <a:rPr lang="en-IN" sz="2200" b="1"/>
              <a:t>SSIM:</a:t>
            </a:r>
            <a:r>
              <a:rPr lang="en-IN" sz="2400" b="1"/>
              <a:t> </a:t>
            </a:r>
            <a:r>
              <a:rPr lang="en-IN" sz="2400"/>
              <a:t>0.9835082716845139</a:t>
            </a:r>
            <a:endParaRPr lang="en-IN" sz="2400">
              <a:ea typeface="Calibri"/>
              <a:cs typeface="Calibri"/>
            </a:endParaRPr>
          </a:p>
        </p:txBody>
      </p:sp>
    </p:spTree>
    <p:extLst>
      <p:ext uri="{BB962C8B-B14F-4D97-AF65-F5344CB8AC3E}">
        <p14:creationId xmlns:p14="http://schemas.microsoft.com/office/powerpoint/2010/main" val="340058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7030-7B24-A190-331A-0A3590D6642A}"/>
              </a:ext>
            </a:extLst>
          </p:cNvPr>
          <p:cNvSpPr>
            <a:spLocks noGrp="1"/>
          </p:cNvSpPr>
          <p:nvPr>
            <p:ph type="title"/>
          </p:nvPr>
        </p:nvSpPr>
        <p:spPr/>
        <p:txBody>
          <a:bodyPr/>
          <a:lstStyle/>
          <a:p>
            <a:r>
              <a:rPr lang="en-IN" sz="3600" b="1">
                <a:latin typeface="Times New Roman"/>
                <a:cs typeface="Times New Roman"/>
              </a:rPr>
              <a:t>Data Preparation:</a:t>
            </a:r>
            <a:endParaRPr lang="en-US" sz="3600">
              <a:latin typeface="Times New Roman"/>
              <a:cs typeface="Times New Roman"/>
            </a:endParaRPr>
          </a:p>
          <a:p>
            <a:br>
              <a:rPr lang="en-US" sz="2400" b="1">
                <a:latin typeface="Times New Roman"/>
                <a:ea typeface="Calibri Light"/>
                <a:cs typeface="Times New Roman"/>
              </a:rPr>
            </a:br>
            <a:r>
              <a:rPr lang="en-US" sz="2800" b="1">
                <a:latin typeface="Times New Roman"/>
                <a:ea typeface="Calibri Light"/>
                <a:cs typeface="Times New Roman"/>
              </a:rPr>
              <a:t>Augmented Dataset:</a:t>
            </a:r>
          </a:p>
        </p:txBody>
      </p:sp>
      <p:graphicFrame>
        <p:nvGraphicFramePr>
          <p:cNvPr id="8" name="Content Placeholder 7">
            <a:extLst>
              <a:ext uri="{FF2B5EF4-FFF2-40B4-BE49-F238E27FC236}">
                <a16:creationId xmlns:a16="http://schemas.microsoft.com/office/drawing/2014/main" id="{3133D5A3-221C-C03E-51FC-7B1523D2522B}"/>
              </a:ext>
            </a:extLst>
          </p:cNvPr>
          <p:cNvGraphicFramePr>
            <a:graphicFrameLocks noGrp="1"/>
          </p:cNvGraphicFramePr>
          <p:nvPr>
            <p:ph idx="1"/>
            <p:extLst>
              <p:ext uri="{D42A27DB-BD31-4B8C-83A1-F6EECF244321}">
                <p14:modId xmlns:p14="http://schemas.microsoft.com/office/powerpoint/2010/main" val="2745099248"/>
              </p:ext>
            </p:extLst>
          </p:nvPr>
        </p:nvGraphicFramePr>
        <p:xfrm>
          <a:off x="838200" y="1888337"/>
          <a:ext cx="10545368" cy="2602793"/>
        </p:xfrm>
        <a:graphic>
          <a:graphicData uri="http://schemas.openxmlformats.org/drawingml/2006/table">
            <a:tbl>
              <a:tblPr bandRow="1">
                <a:tableStyleId>{5C22544A-7EE6-4342-B048-85BDC9FD1C3A}</a:tableStyleId>
              </a:tblPr>
              <a:tblGrid>
                <a:gridCol w="2105247">
                  <a:extLst>
                    <a:ext uri="{9D8B030D-6E8A-4147-A177-3AD203B41FA5}">
                      <a16:colId xmlns:a16="http://schemas.microsoft.com/office/drawing/2014/main" val="1489245980"/>
                    </a:ext>
                  </a:extLst>
                </a:gridCol>
                <a:gridCol w="1397117">
                  <a:extLst>
                    <a:ext uri="{9D8B030D-6E8A-4147-A177-3AD203B41FA5}">
                      <a16:colId xmlns:a16="http://schemas.microsoft.com/office/drawing/2014/main" val="2858326710"/>
                    </a:ext>
                  </a:extLst>
                </a:gridCol>
                <a:gridCol w="1760751">
                  <a:extLst>
                    <a:ext uri="{9D8B030D-6E8A-4147-A177-3AD203B41FA5}">
                      <a16:colId xmlns:a16="http://schemas.microsoft.com/office/drawing/2014/main" val="1732439194"/>
                    </a:ext>
                  </a:extLst>
                </a:gridCol>
                <a:gridCol w="1760751">
                  <a:extLst>
                    <a:ext uri="{9D8B030D-6E8A-4147-A177-3AD203B41FA5}">
                      <a16:colId xmlns:a16="http://schemas.microsoft.com/office/drawing/2014/main" val="1044167292"/>
                    </a:ext>
                  </a:extLst>
                </a:gridCol>
                <a:gridCol w="1760751">
                  <a:extLst>
                    <a:ext uri="{9D8B030D-6E8A-4147-A177-3AD203B41FA5}">
                      <a16:colId xmlns:a16="http://schemas.microsoft.com/office/drawing/2014/main" val="203154715"/>
                    </a:ext>
                  </a:extLst>
                </a:gridCol>
                <a:gridCol w="1760751">
                  <a:extLst>
                    <a:ext uri="{9D8B030D-6E8A-4147-A177-3AD203B41FA5}">
                      <a16:colId xmlns:a16="http://schemas.microsoft.com/office/drawing/2014/main" val="793901075"/>
                    </a:ext>
                  </a:extLst>
                </a:gridCol>
              </a:tblGrid>
              <a:tr h="516753">
                <a:tc>
                  <a:txBody>
                    <a:bodyPr/>
                    <a:lstStyle/>
                    <a:p>
                      <a:pPr algn="l" fontAlgn="auto"/>
                      <a:endParaRPr lang="en-IN" sz="2400" b="1" i="0" u="none" strike="noStrike">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0</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1</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2</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3</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GRADE 4</a:t>
                      </a:r>
                      <a:endParaRPr lang="en-IN" sz="2400" b="1" i="0">
                        <a:solidFill>
                          <a:srgbClr val="FFFFFF"/>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384"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1585917044"/>
                  </a:ext>
                </a:extLst>
              </a:tr>
              <a:tr h="516753">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TEST</a:t>
                      </a:r>
                      <a:endParaRPr lang="en-IN" sz="2400" b="1"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7603</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2784</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3886</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2170</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539</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384"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3671904929"/>
                  </a:ext>
                </a:extLst>
              </a:tr>
              <a:tr h="516753">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TRAIN </a:t>
                      </a:r>
                      <a:endParaRPr lang="en-IN" sz="2400" b="1"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9187</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6857</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8134</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5694</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1748</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extLst>
                  <a:ext uri="{0D108BD9-81ED-4DB2-BD59-A6C34878D82A}">
                    <a16:rowId xmlns:a16="http://schemas.microsoft.com/office/drawing/2014/main" val="2428819021"/>
                  </a:ext>
                </a:extLst>
              </a:tr>
              <a:tr h="535781">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EVALUATION</a:t>
                      </a:r>
                      <a:endParaRPr lang="en-IN" sz="2400" b="1"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3054</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1551</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2066</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1093</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290</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1256478660"/>
                  </a:ext>
                </a:extLst>
              </a:tr>
              <a:tr h="516753">
                <a:tc>
                  <a:txBody>
                    <a:bodyPr/>
                    <a:lstStyle/>
                    <a:p>
                      <a:pPr algn="l" fontAlgn="base"/>
                      <a:r>
                        <a:rPr lang="en-IN" sz="2400" b="1" i="0" u="none" strike="noStrike">
                          <a:solidFill>
                            <a:srgbClr val="000000"/>
                          </a:solidFill>
                          <a:effectLst/>
                          <a:latin typeface="Times New Roman" panose="02020603050405020304" pitchFamily="18" charset="0"/>
                          <a:cs typeface="Times New Roman" panose="02020603050405020304" pitchFamily="18" charset="0"/>
                        </a:rPr>
                        <a:t>TOTAL</a:t>
                      </a:r>
                      <a:endParaRPr lang="en-IN" sz="2400" b="1"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19844</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11192</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14086</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8957</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tc>
                  <a:txBody>
                    <a:bodyPr/>
                    <a:lstStyle/>
                    <a:p>
                      <a:pPr algn="l" fontAlgn="base"/>
                      <a:r>
                        <a:rPr lang="en-IN" sz="2400" b="0" i="0" u="none" strike="noStrike">
                          <a:solidFill>
                            <a:srgbClr val="000000"/>
                          </a:solidFill>
                          <a:effectLst/>
                          <a:latin typeface="Times New Roman" panose="02020603050405020304" pitchFamily="18" charset="0"/>
                          <a:cs typeface="Times New Roman" panose="02020603050405020304" pitchFamily="18" charset="0"/>
                        </a:rPr>
                        <a:t>2577</a:t>
                      </a:r>
                      <a:endParaRPr lang="en-IN" sz="2400" b="0" i="0">
                        <a:solidFill>
                          <a:srgbClr val="000000"/>
                        </a:solidFill>
                        <a:effectLst/>
                        <a:latin typeface="Times New Roman" panose="02020603050405020304" pitchFamily="18" charset="0"/>
                        <a:cs typeface="Times New Roman" panose="02020603050405020304" pitchFamily="18" charset="0"/>
                      </a:endParaRPr>
                    </a:p>
                  </a:txBody>
                  <a:tcPr marL="6344" marR="6344" marT="6344"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CECE8"/>
                    </a:solidFill>
                  </a:tcPr>
                </a:tc>
                <a:extLst>
                  <a:ext uri="{0D108BD9-81ED-4DB2-BD59-A6C34878D82A}">
                    <a16:rowId xmlns:a16="http://schemas.microsoft.com/office/drawing/2014/main" val="4070883021"/>
                  </a:ext>
                </a:extLst>
              </a:tr>
            </a:tbl>
          </a:graphicData>
        </a:graphic>
      </p:graphicFrame>
      <p:sp>
        <p:nvSpPr>
          <p:cNvPr id="4" name="Date Placeholder 3">
            <a:extLst>
              <a:ext uri="{FF2B5EF4-FFF2-40B4-BE49-F238E27FC236}">
                <a16:creationId xmlns:a16="http://schemas.microsoft.com/office/drawing/2014/main" id="{7B6A9F36-96BE-3F05-02B5-7C0BF21A3C66}"/>
              </a:ext>
            </a:extLst>
          </p:cNvPr>
          <p:cNvSpPr>
            <a:spLocks noGrp="1"/>
          </p:cNvSpPr>
          <p:nvPr>
            <p:ph type="dt" sz="half" idx="10"/>
          </p:nvPr>
        </p:nvSpPr>
        <p:spPr/>
        <p:txBody>
          <a:bodyPr/>
          <a:lstStyle/>
          <a:p>
            <a:fld id="{11533046-89D2-42C5-82EC-0165E1F771DC}" type="datetime1">
              <a:rPr lang="en-IN" smtClean="0"/>
              <a:t>22-11-2024</a:t>
            </a:fld>
            <a:endParaRPr lang="en-GB"/>
          </a:p>
        </p:txBody>
      </p:sp>
      <p:sp>
        <p:nvSpPr>
          <p:cNvPr id="5" name="Footer Placeholder 4">
            <a:extLst>
              <a:ext uri="{FF2B5EF4-FFF2-40B4-BE49-F238E27FC236}">
                <a16:creationId xmlns:a16="http://schemas.microsoft.com/office/drawing/2014/main" id="{7CD99471-9EA4-EC1B-3F92-17CDE0AD8B9C}"/>
              </a:ext>
            </a:extLst>
          </p:cNvPr>
          <p:cNvSpPr>
            <a:spLocks noGrp="1"/>
          </p:cNvSpPr>
          <p:nvPr>
            <p:ph type="ftr" sz="quarter" idx="11"/>
          </p:nvPr>
        </p:nvSpPr>
        <p:spPr/>
        <p:txBody>
          <a:bodyPr/>
          <a:lstStyle/>
          <a:p>
            <a:r>
              <a:rPr lang="en-GB"/>
              <a:t>Review 1.1</a:t>
            </a:r>
          </a:p>
        </p:txBody>
      </p:sp>
      <p:sp>
        <p:nvSpPr>
          <p:cNvPr id="6" name="Slide Number Placeholder 5">
            <a:extLst>
              <a:ext uri="{FF2B5EF4-FFF2-40B4-BE49-F238E27FC236}">
                <a16:creationId xmlns:a16="http://schemas.microsoft.com/office/drawing/2014/main" id="{2D07A5C5-7F79-AEAB-CF17-C5F740C3227F}"/>
              </a:ext>
            </a:extLst>
          </p:cNvPr>
          <p:cNvSpPr>
            <a:spLocks noGrp="1"/>
          </p:cNvSpPr>
          <p:nvPr>
            <p:ph type="sldNum" sz="quarter" idx="12"/>
          </p:nvPr>
        </p:nvSpPr>
        <p:spPr/>
        <p:txBody>
          <a:bodyPr/>
          <a:lstStyle/>
          <a:p>
            <a:fld id="{330EA680-D336-4FF7-8B7A-9848BB0A1C32}" type="slidenum">
              <a:rPr lang="en-GB" smtClean="0"/>
              <a:t>13</a:t>
            </a:fld>
            <a:endParaRPr lang="en-GB"/>
          </a:p>
        </p:txBody>
      </p:sp>
      <p:sp>
        <p:nvSpPr>
          <p:cNvPr id="10" name="TextBox 9">
            <a:extLst>
              <a:ext uri="{FF2B5EF4-FFF2-40B4-BE49-F238E27FC236}">
                <a16:creationId xmlns:a16="http://schemas.microsoft.com/office/drawing/2014/main" id="{62B2F8F8-ACD2-87F4-BC92-F73FAA247BC2}"/>
              </a:ext>
            </a:extLst>
          </p:cNvPr>
          <p:cNvSpPr txBox="1"/>
          <p:nvPr/>
        </p:nvSpPr>
        <p:spPr>
          <a:xfrm>
            <a:off x="837097" y="4691270"/>
            <a:ext cx="1002085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a:latin typeface="Times New Roman"/>
              <a:cs typeface="Times New Roman"/>
            </a:endParaRPr>
          </a:p>
          <a:p>
            <a:r>
              <a:rPr lang="en-US" sz="2400">
                <a:latin typeface="Times New Roman"/>
                <a:cs typeface="Times New Roman"/>
              </a:rPr>
              <a:t>• </a:t>
            </a:r>
            <a:r>
              <a:rPr lang="en-US" sz="2600"/>
              <a:t>56,656 augmented images of dimensions 224x224.</a:t>
            </a:r>
            <a:endParaRPr lang="en-US">
              <a:ea typeface="Calibri"/>
              <a:cs typeface="Calibri"/>
            </a:endParaRPr>
          </a:p>
        </p:txBody>
      </p:sp>
    </p:spTree>
    <p:extLst>
      <p:ext uri="{BB962C8B-B14F-4D97-AF65-F5344CB8AC3E}">
        <p14:creationId xmlns:p14="http://schemas.microsoft.com/office/powerpoint/2010/main" val="311375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A7FA-23A2-A045-7877-20630E726E27}"/>
              </a:ext>
            </a:extLst>
          </p:cNvPr>
          <p:cNvSpPr>
            <a:spLocks noGrp="1"/>
          </p:cNvSpPr>
          <p:nvPr>
            <p:ph type="title"/>
          </p:nvPr>
        </p:nvSpPr>
        <p:spPr>
          <a:xfrm>
            <a:off x="183706" y="2581"/>
            <a:ext cx="10515600" cy="803646"/>
          </a:xfrm>
        </p:spPr>
        <p:txBody>
          <a:bodyPr>
            <a:normAutofit/>
          </a:bodyPr>
          <a:lstStyle/>
          <a:p>
            <a:r>
              <a:rPr lang="en-US" sz="3600" b="1">
                <a:latin typeface="Times New Roman"/>
                <a:cs typeface="Calibri Light"/>
              </a:rPr>
              <a:t>Literature</a:t>
            </a:r>
          </a:p>
        </p:txBody>
      </p:sp>
      <p:sp>
        <p:nvSpPr>
          <p:cNvPr id="3" name="Slide Number Placeholder 2">
            <a:extLst>
              <a:ext uri="{FF2B5EF4-FFF2-40B4-BE49-F238E27FC236}">
                <a16:creationId xmlns:a16="http://schemas.microsoft.com/office/drawing/2014/main" id="{DD8DDA15-BA88-778E-E06C-71ED08555092}"/>
              </a:ext>
            </a:extLst>
          </p:cNvPr>
          <p:cNvSpPr>
            <a:spLocks noGrp="1"/>
          </p:cNvSpPr>
          <p:nvPr>
            <p:ph type="sldNum" sz="quarter" idx="12"/>
          </p:nvPr>
        </p:nvSpPr>
        <p:spPr/>
        <p:txBody>
          <a:bodyPr/>
          <a:lstStyle/>
          <a:p>
            <a:fld id="{330EA680-D336-4FF7-8B7A-9848BB0A1C32}" type="slidenum">
              <a:rPr lang="en-GB" smtClean="0"/>
              <a:t>14</a:t>
            </a:fld>
            <a:endParaRPr lang="en-US"/>
          </a:p>
        </p:txBody>
      </p:sp>
      <p:sp>
        <p:nvSpPr>
          <p:cNvPr id="4" name="Date Placeholder 3"/>
          <p:cNvSpPr>
            <a:spLocks noGrp="1"/>
          </p:cNvSpPr>
          <p:nvPr>
            <p:ph type="dt" sz="half" idx="10"/>
          </p:nvPr>
        </p:nvSpPr>
        <p:spPr/>
        <p:txBody>
          <a:bodyPr/>
          <a:lstStyle/>
          <a:p>
            <a:fld id="{9D9FDE1B-D83D-4709-B76C-6C3192CD8C0E}" type="datetime1">
              <a:rPr lang="en-IN" smtClean="0"/>
              <a:t>22-11-2024</a:t>
            </a:fld>
            <a:endParaRPr lang="en-GB"/>
          </a:p>
        </p:txBody>
      </p:sp>
      <p:sp>
        <p:nvSpPr>
          <p:cNvPr id="5" name="Footer Placeholder 4">
            <a:extLst>
              <a:ext uri="{FF2B5EF4-FFF2-40B4-BE49-F238E27FC236}">
                <a16:creationId xmlns:a16="http://schemas.microsoft.com/office/drawing/2014/main" id="{40D95EBC-6F94-8426-1EF0-1B87B5FA8C13}"/>
              </a:ext>
            </a:extLst>
          </p:cNvPr>
          <p:cNvSpPr>
            <a:spLocks noGrp="1"/>
          </p:cNvSpPr>
          <p:nvPr>
            <p:ph type="ftr" sz="quarter" idx="11"/>
          </p:nvPr>
        </p:nvSpPr>
        <p:spPr/>
        <p:txBody>
          <a:bodyPr/>
          <a:lstStyle/>
          <a:p>
            <a:r>
              <a:rPr lang="en-GB"/>
              <a:t>Review 1.1</a:t>
            </a:r>
          </a:p>
        </p:txBody>
      </p:sp>
      <p:graphicFrame>
        <p:nvGraphicFramePr>
          <p:cNvPr id="10" name="Table 9">
            <a:extLst>
              <a:ext uri="{FF2B5EF4-FFF2-40B4-BE49-F238E27FC236}">
                <a16:creationId xmlns:a16="http://schemas.microsoft.com/office/drawing/2014/main" id="{1779C578-4524-1573-6B77-3E572EBAF6CA}"/>
              </a:ext>
            </a:extLst>
          </p:cNvPr>
          <p:cNvGraphicFramePr>
            <a:graphicFrameLocks noGrp="1"/>
          </p:cNvGraphicFramePr>
          <p:nvPr/>
        </p:nvGraphicFramePr>
        <p:xfrm>
          <a:off x="177452" y="803753"/>
          <a:ext cx="11823269" cy="5518678"/>
        </p:xfrm>
        <a:graphic>
          <a:graphicData uri="http://schemas.openxmlformats.org/drawingml/2006/table">
            <a:tbl>
              <a:tblPr firstRow="1" bandRow="1">
                <a:tableStyleId>{21E4AEA4-8DFA-4A89-87EB-49C32662AFE0}</a:tableStyleId>
              </a:tblPr>
              <a:tblGrid>
                <a:gridCol w="504264">
                  <a:extLst>
                    <a:ext uri="{9D8B030D-6E8A-4147-A177-3AD203B41FA5}">
                      <a16:colId xmlns:a16="http://schemas.microsoft.com/office/drawing/2014/main" val="2811906928"/>
                    </a:ext>
                  </a:extLst>
                </a:gridCol>
                <a:gridCol w="4058478">
                  <a:extLst>
                    <a:ext uri="{9D8B030D-6E8A-4147-A177-3AD203B41FA5}">
                      <a16:colId xmlns:a16="http://schemas.microsoft.com/office/drawing/2014/main" val="2201325007"/>
                    </a:ext>
                  </a:extLst>
                </a:gridCol>
                <a:gridCol w="1490868">
                  <a:extLst>
                    <a:ext uri="{9D8B030D-6E8A-4147-A177-3AD203B41FA5}">
                      <a16:colId xmlns:a16="http://schemas.microsoft.com/office/drawing/2014/main" val="431906563"/>
                    </a:ext>
                  </a:extLst>
                </a:gridCol>
                <a:gridCol w="5769659">
                  <a:extLst>
                    <a:ext uri="{9D8B030D-6E8A-4147-A177-3AD203B41FA5}">
                      <a16:colId xmlns:a16="http://schemas.microsoft.com/office/drawing/2014/main" val="1169910156"/>
                    </a:ext>
                  </a:extLst>
                </a:gridCol>
              </a:tblGrid>
              <a:tr h="660289">
                <a:tc>
                  <a:txBody>
                    <a:bodyPr/>
                    <a:lstStyle/>
                    <a:p>
                      <a:pPr algn="ctr"/>
                      <a:r>
                        <a:rPr lang="en-US">
                          <a:solidFill>
                            <a:schemeClr val="bg2">
                              <a:lumMod val="10000"/>
                            </a:schemeClr>
                          </a:solidFill>
                          <a:latin typeface="Times New Roman"/>
                          <a:cs typeface="Times New Roman"/>
                        </a:rPr>
                        <a:t>Sl. #</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1123981693"/>
                  </a:ext>
                </a:extLst>
              </a:tr>
              <a:tr h="1225826">
                <a:tc>
                  <a:txBody>
                    <a:bodyPr/>
                    <a:lstStyle/>
                    <a:p>
                      <a:pPr algn="ctr"/>
                      <a:r>
                        <a:rPr lang="en-US">
                          <a:latin typeface="Times New Roman"/>
                          <a:cs typeface="Times New Roman"/>
                        </a:rPr>
                        <a:t>1</a:t>
                      </a: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800" dirty="0">
                          <a:latin typeface="Times New Roman"/>
                          <a:cs typeface="Times New Roman"/>
                        </a:rPr>
                        <a:t>Knee osteoarthritis severity prediction using an attentive multi-scale deep convolutional neural network </a:t>
                      </a:r>
                      <a:r>
                        <a:rPr lang="en-US" sz="1800" dirty="0">
                          <a:latin typeface="Times New Roman"/>
                          <a:cs typeface="Times New Roman"/>
                          <a:hlinkClick r:id="rId2" action="ppaction://hlinksldjump"/>
                        </a:rPr>
                        <a:t>[3]</a:t>
                      </a:r>
                      <a:endParaRPr lang="en-IN"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IN" sz="1800">
                          <a:latin typeface="Times New Roman"/>
                          <a:cs typeface="Times New Roman"/>
                          <a:hlinkClick r:id="rId3"/>
                        </a:rPr>
                        <a:t>Springer Link</a:t>
                      </a:r>
                    </a:p>
                    <a:p>
                      <a:pPr algn="ctr"/>
                      <a:endParaRPr lang="en-IN">
                        <a:latin typeface="Times New Roman" panose="02020603050405020304" pitchFamily="18" charset="0"/>
                        <a:cs typeface="Times New Roman" panose="02020603050405020304" pitchFamily="18" charset="0"/>
                      </a:endParaRPr>
                    </a:p>
                  </a:txBody>
                  <a:tcPr anchor="ctr"/>
                </a:tc>
                <a:tc>
                  <a:txBody>
                    <a:bodyPr/>
                    <a:lstStyle/>
                    <a:p>
                      <a:pPr lvl="0" algn="just">
                        <a:buNone/>
                      </a:pPr>
                      <a:r>
                        <a:rPr lang="en-IN" sz="1800" b="0" i="0" u="none" strike="noStrike" noProof="0">
                          <a:latin typeface="Times New Roman"/>
                          <a:cs typeface="Times New Roman"/>
                        </a:rPr>
                        <a:t>The study combines </a:t>
                      </a:r>
                      <a:r>
                        <a:rPr lang="en-IN" sz="1800" b="0" i="0" u="none" strike="noStrike" noProof="0" err="1">
                          <a:latin typeface="Times New Roman"/>
                          <a:cs typeface="Times New Roman"/>
                        </a:rPr>
                        <a:t>HRNet</a:t>
                      </a:r>
                      <a:r>
                        <a:rPr lang="en-IN" sz="1800" b="0" i="0" u="none" strike="noStrike" noProof="0">
                          <a:latin typeface="Times New Roman"/>
                          <a:cs typeface="Times New Roman"/>
                        </a:rPr>
                        <a:t> and attention mechanisms to enhance knee osteoarthritis prediction, offering greater accuracy and efficiency than remaining methods.</a:t>
                      </a:r>
                      <a:endParaRPr lang="en-US">
                        <a:latin typeface="Times New Roman"/>
                        <a:cs typeface="Times New Roman"/>
                      </a:endParaRPr>
                    </a:p>
                  </a:txBody>
                  <a:tcPr anchor="ctr"/>
                </a:tc>
                <a:extLst>
                  <a:ext uri="{0D108BD9-81ED-4DB2-BD59-A6C34878D82A}">
                    <a16:rowId xmlns:a16="http://schemas.microsoft.com/office/drawing/2014/main" val="3435248891"/>
                  </a:ext>
                </a:extLst>
              </a:tr>
              <a:tr h="943271">
                <a:tc>
                  <a:txBody>
                    <a:bodyPr/>
                    <a:lstStyle/>
                    <a:p>
                      <a:pPr algn="ctr"/>
                      <a:r>
                        <a:rPr lang="en-US">
                          <a:latin typeface="Times New Roman"/>
                          <a:cs typeface="Times New Roman"/>
                        </a:rPr>
                        <a:t>2</a:t>
                      </a:r>
                      <a:endParaRPr lang="en-IN">
                        <a:latin typeface="Times New Roman"/>
                        <a:cs typeface="Times New Roman"/>
                      </a:endParaRP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800" b="0" i="0" u="none" strike="noStrike" kern="1200" noProof="0" dirty="0">
                          <a:solidFill>
                            <a:schemeClr val="dk1"/>
                          </a:solidFill>
                          <a:effectLst/>
                          <a:latin typeface="Times New Roman"/>
                          <a:cs typeface="Times New Roman"/>
                        </a:rPr>
                        <a:t>Fully automatic knee osteoarthritis severity grading using deep neural networks with a novel ordinal loss </a:t>
                      </a:r>
                      <a:r>
                        <a:rPr lang="en-US" sz="1800" b="0" i="0" u="none" strike="noStrike" kern="1200" noProof="0" dirty="0">
                          <a:solidFill>
                            <a:schemeClr val="dk1"/>
                          </a:solidFill>
                          <a:effectLst/>
                          <a:latin typeface="Times New Roman"/>
                          <a:cs typeface="Times New Roman"/>
                          <a:hlinkClick r:id="rId2" action="ppaction://hlinksldjump"/>
                        </a:rPr>
                        <a:t>[4]</a:t>
                      </a:r>
                      <a:endParaRPr lang="en-US" sz="1800" b="0" i="0" kern="1200" dirty="0">
                        <a:solidFill>
                          <a:schemeClr val="dk1"/>
                        </a:solidFill>
                        <a:effectLst/>
                        <a:latin typeface="Times New Roman"/>
                        <a:ea typeface="+mn-ea"/>
                        <a:cs typeface="Times New Roman"/>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i="0" kern="1200">
                          <a:solidFill>
                            <a:srgbClr val="0070C0"/>
                          </a:solidFill>
                          <a:effectLst/>
                          <a:latin typeface="Times New Roman"/>
                          <a:ea typeface="+mn-ea"/>
                          <a:cs typeface="Times New Roman"/>
                          <a:hlinkClick r:id="rId4"/>
                        </a:rPr>
                        <a:t>ScienceDirect</a:t>
                      </a:r>
                      <a:endParaRPr lang="en-IN" sz="1800" b="0" i="0" kern="1200">
                        <a:solidFill>
                          <a:srgbClr val="0070C0"/>
                        </a:solidFill>
                        <a:effectLst/>
                        <a:latin typeface="Times New Roman"/>
                        <a:ea typeface="+mn-ea"/>
                        <a:cs typeface="Times New Roman"/>
                      </a:endParaRPr>
                    </a:p>
                  </a:txBody>
                  <a:tcPr anchor="ctr"/>
                </a:tc>
                <a:tc>
                  <a:txBody>
                    <a:bodyPr/>
                    <a:lstStyle/>
                    <a:p>
                      <a:pPr lvl="0" algn="just">
                        <a:buNone/>
                      </a:pPr>
                      <a:r>
                        <a:rPr lang="en-IN" sz="1800" b="0" i="0" u="none" strike="noStrike" noProof="0">
                          <a:latin typeface="Times New Roman"/>
                          <a:cs typeface="Times New Roman"/>
                        </a:rPr>
                        <a:t>This paper presents a two-stage deep learning approach that integrates a YOLOv2-based knee joint detection with a fine-tuned CNN using a novel ordinal loss function to automatically classify knee osteoarthritis severity, achieving state-of-the-art performance.</a:t>
                      </a:r>
                      <a:endParaRPr lang="en-US">
                        <a:latin typeface="Times New Roman"/>
                        <a:cs typeface="Times New Roman"/>
                      </a:endParaRPr>
                    </a:p>
                  </a:txBody>
                  <a:tcPr anchor="ctr"/>
                </a:tc>
                <a:extLst>
                  <a:ext uri="{0D108BD9-81ED-4DB2-BD59-A6C34878D82A}">
                    <a16:rowId xmlns:a16="http://schemas.microsoft.com/office/drawing/2014/main" val="886639027"/>
                  </a:ext>
                </a:extLst>
              </a:tr>
              <a:tr h="943271">
                <a:tc>
                  <a:txBody>
                    <a:bodyPr/>
                    <a:lstStyle/>
                    <a:p>
                      <a:pPr algn="ctr"/>
                      <a:r>
                        <a:rPr lang="en-US">
                          <a:latin typeface="Times New Roman"/>
                          <a:cs typeface="Times New Roman"/>
                        </a:rPr>
                        <a:t>3</a:t>
                      </a:r>
                      <a:endParaRPr lang="en-IN">
                        <a:latin typeface="Times New Roman"/>
                        <a:cs typeface="Times New Roman"/>
                      </a:endParaRP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800" dirty="0">
                          <a:latin typeface="Times New Roman"/>
                          <a:cs typeface="Times New Roman"/>
                        </a:rPr>
                        <a:t>Classification and Risk Estimation of Osteoarthritis Using Deep Learning Methods </a:t>
                      </a:r>
                      <a:r>
                        <a:rPr lang="en-US" sz="1800" dirty="0">
                          <a:latin typeface="Times New Roman"/>
                          <a:cs typeface="Times New Roman"/>
                          <a:hlinkClick r:id="rId2" action="ppaction://hlinksldjump"/>
                        </a:rPr>
                        <a:t>[5]</a:t>
                      </a:r>
                      <a:endParaRPr lang="en-IN" sz="1800" dirty="0">
                        <a:latin typeface="Times New Roman"/>
                        <a:cs typeface="Times New Roman"/>
                      </a:endParaRPr>
                    </a:p>
                  </a:txBody>
                  <a:tcPr anchor="ctr"/>
                </a:tc>
                <a:tc>
                  <a:txBody>
                    <a:bodyPr/>
                    <a:lstStyle/>
                    <a:p>
                      <a:pPr algn="ctr"/>
                      <a:r>
                        <a:rPr lang="en-IN" sz="1800">
                          <a:latin typeface="Times New Roman"/>
                          <a:cs typeface="Times New Roman"/>
                          <a:hlinkClick r:id="rId5"/>
                        </a:rPr>
                        <a:t>ScienceDirect</a:t>
                      </a:r>
                      <a:endParaRPr lang="en-IN">
                        <a:latin typeface="Times New Roman"/>
                        <a:cs typeface="Times New Roman"/>
                      </a:endParaRPr>
                    </a:p>
                  </a:txBody>
                  <a:tcPr anchor="ctr"/>
                </a:tc>
                <a:tc>
                  <a:txBody>
                    <a:bodyPr/>
                    <a:lstStyle/>
                    <a:p>
                      <a:pPr lvl="0" algn="just">
                        <a:buNone/>
                      </a:pPr>
                      <a:r>
                        <a:rPr lang="en-IN" sz="1800" b="0" i="0" u="none" strike="noStrike" noProof="0">
                          <a:latin typeface="Times New Roman"/>
                          <a:cs typeface="Times New Roman"/>
                        </a:rPr>
                        <a:t>The study provides a promising approach for automated OA classification and risk estimation, with potential for further refinement in clinical applications.</a:t>
                      </a:r>
                      <a:endParaRPr lang="en-US">
                        <a:latin typeface="Times New Roman"/>
                        <a:cs typeface="Times New Roman"/>
                      </a:endParaRPr>
                    </a:p>
                  </a:txBody>
                  <a:tcPr anchor="ctr"/>
                </a:tc>
                <a:extLst>
                  <a:ext uri="{0D108BD9-81ED-4DB2-BD59-A6C34878D82A}">
                    <a16:rowId xmlns:a16="http://schemas.microsoft.com/office/drawing/2014/main" val="1100558214"/>
                  </a:ext>
                </a:extLst>
              </a:tr>
              <a:tr h="1226252">
                <a:tc>
                  <a:txBody>
                    <a:bodyPr/>
                    <a:lstStyle/>
                    <a:p>
                      <a:pPr algn="ctr"/>
                      <a:r>
                        <a:rPr lang="en-US">
                          <a:latin typeface="Times New Roman"/>
                          <a:cs typeface="Times New Roman"/>
                        </a:rPr>
                        <a:t>4</a:t>
                      </a:r>
                      <a:endParaRPr lang="en-IN">
                        <a:latin typeface="Times New Roman"/>
                        <a:cs typeface="Times New Roman"/>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a:cs typeface="Times New Roman"/>
                        </a:rPr>
                        <a:t>A complex network based approach for knee Osteoarthritis detection: Data from the Osteoarthritis initiative </a:t>
                      </a:r>
                      <a:r>
                        <a:rPr lang="en-US" sz="1800" dirty="0">
                          <a:latin typeface="Times New Roman"/>
                          <a:cs typeface="Times New Roman"/>
                          <a:hlinkClick r:id="rId2" action="ppaction://hlinksldjump"/>
                        </a:rPr>
                        <a:t>[6]</a:t>
                      </a:r>
                      <a:endParaRPr lang="en-IN" sz="1800" dirty="0">
                        <a:latin typeface="Times New Roman"/>
                        <a:cs typeface="Times New Roman"/>
                      </a:endParaRPr>
                    </a:p>
                  </a:txBody>
                  <a:tcPr anchor="ctr"/>
                </a:tc>
                <a:tc>
                  <a:txBody>
                    <a:bodyPr/>
                    <a:lstStyle/>
                    <a:p>
                      <a:pPr algn="ctr"/>
                      <a:r>
                        <a:rPr lang="en-IN" sz="1800">
                          <a:latin typeface="Times New Roman"/>
                          <a:cs typeface="Times New Roman"/>
                          <a:hlinkClick r:id="rId6"/>
                        </a:rPr>
                        <a:t>ScienceDirect</a:t>
                      </a:r>
                      <a:endParaRPr lang="en-IN">
                        <a:latin typeface="Times New Roman"/>
                        <a:cs typeface="Times New Roman"/>
                      </a:endParaRPr>
                    </a:p>
                  </a:txBody>
                  <a:tcPr anchor="ctr"/>
                </a:tc>
                <a:tc>
                  <a:txBody>
                    <a:bodyPr/>
                    <a:lstStyle/>
                    <a:p>
                      <a:pPr lvl="0" algn="just">
                        <a:lnSpc>
                          <a:spcPct val="100000"/>
                        </a:lnSpc>
                        <a:spcBef>
                          <a:spcPts val="0"/>
                        </a:spcBef>
                        <a:spcAft>
                          <a:spcPts val="0"/>
                        </a:spcAft>
                        <a:buNone/>
                      </a:pPr>
                      <a:r>
                        <a:rPr lang="en-IN" sz="1800" b="0" i="0" u="none" strike="noStrike" noProof="0" dirty="0">
                          <a:solidFill>
                            <a:srgbClr val="000000"/>
                          </a:solidFill>
                          <a:latin typeface="Times New Roman"/>
                          <a:cs typeface="Times New Roman"/>
                        </a:rPr>
                        <a:t>The study opens new avenues for further research, particularly in exploring other regions of the knee and optimizing network parameters to enhance the detection and classification of OA.</a:t>
                      </a:r>
                      <a:endParaRPr lang="en-US" dirty="0">
                        <a:latin typeface="Times New Roman"/>
                        <a:cs typeface="Times New Roman"/>
                      </a:endParaRPr>
                    </a:p>
                  </a:txBody>
                  <a:tcPr anchor="ctr"/>
                </a:tc>
                <a:extLst>
                  <a:ext uri="{0D108BD9-81ED-4DB2-BD59-A6C34878D82A}">
                    <a16:rowId xmlns:a16="http://schemas.microsoft.com/office/drawing/2014/main" val="792081414"/>
                  </a:ext>
                </a:extLst>
              </a:tr>
            </a:tbl>
          </a:graphicData>
        </a:graphic>
      </p:graphicFrame>
    </p:spTree>
    <p:extLst>
      <p:ext uri="{BB962C8B-B14F-4D97-AF65-F5344CB8AC3E}">
        <p14:creationId xmlns:p14="http://schemas.microsoft.com/office/powerpoint/2010/main" val="2905802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A7FA-23A2-A045-7877-20630E726E27}"/>
              </a:ext>
            </a:extLst>
          </p:cNvPr>
          <p:cNvSpPr>
            <a:spLocks noGrp="1"/>
          </p:cNvSpPr>
          <p:nvPr>
            <p:ph type="title"/>
          </p:nvPr>
        </p:nvSpPr>
        <p:spPr>
          <a:xfrm>
            <a:off x="355010" y="284492"/>
            <a:ext cx="10504557" cy="682168"/>
          </a:xfrm>
        </p:spPr>
        <p:txBody>
          <a:bodyPr>
            <a:normAutofit/>
          </a:bodyPr>
          <a:lstStyle/>
          <a:p>
            <a:r>
              <a:rPr lang="en-US" sz="3600" b="1">
                <a:latin typeface="Times New Roman"/>
                <a:cs typeface="Times New Roman"/>
              </a:rPr>
              <a:t>Literature</a:t>
            </a:r>
            <a:endParaRPr lang="en-US" sz="3600">
              <a:latin typeface="Times New Roman"/>
              <a:cs typeface="Times New Roman"/>
            </a:endParaRPr>
          </a:p>
          <a:p>
            <a:endParaRPr lang="en-US" sz="3200" b="1">
              <a:latin typeface="Times New Roman"/>
              <a:cs typeface="Calibri Light"/>
            </a:endParaRPr>
          </a:p>
        </p:txBody>
      </p:sp>
      <p:sp>
        <p:nvSpPr>
          <p:cNvPr id="3" name="Slide Number Placeholder 2">
            <a:extLst>
              <a:ext uri="{FF2B5EF4-FFF2-40B4-BE49-F238E27FC236}">
                <a16:creationId xmlns:a16="http://schemas.microsoft.com/office/drawing/2014/main" id="{DD8DDA15-BA88-778E-E06C-71ED08555092}"/>
              </a:ext>
            </a:extLst>
          </p:cNvPr>
          <p:cNvSpPr>
            <a:spLocks noGrp="1"/>
          </p:cNvSpPr>
          <p:nvPr>
            <p:ph type="sldNum" sz="quarter" idx="12"/>
          </p:nvPr>
        </p:nvSpPr>
        <p:spPr/>
        <p:txBody>
          <a:bodyPr/>
          <a:lstStyle/>
          <a:p>
            <a:fld id="{330EA680-D336-4FF7-8B7A-9848BB0A1C32}" type="slidenum">
              <a:rPr lang="en-GB" smtClean="0"/>
              <a:t>15</a:t>
            </a:fld>
            <a:endParaRPr lang="en-US"/>
          </a:p>
        </p:txBody>
      </p:sp>
      <p:sp>
        <p:nvSpPr>
          <p:cNvPr id="4" name="Date Placeholder 3"/>
          <p:cNvSpPr>
            <a:spLocks noGrp="1"/>
          </p:cNvSpPr>
          <p:nvPr>
            <p:ph type="dt" sz="half" idx="10"/>
          </p:nvPr>
        </p:nvSpPr>
        <p:spPr/>
        <p:txBody>
          <a:bodyPr/>
          <a:lstStyle/>
          <a:p>
            <a:fld id="{9D9FDE1B-D83D-4709-B76C-6C3192CD8C0E}" type="datetime1">
              <a:rPr lang="en-IN" smtClean="0"/>
              <a:t>22-11-2024</a:t>
            </a:fld>
            <a:endParaRPr lang="en-GB"/>
          </a:p>
        </p:txBody>
      </p:sp>
      <p:sp>
        <p:nvSpPr>
          <p:cNvPr id="5" name="Footer Placeholder 4">
            <a:extLst>
              <a:ext uri="{FF2B5EF4-FFF2-40B4-BE49-F238E27FC236}">
                <a16:creationId xmlns:a16="http://schemas.microsoft.com/office/drawing/2014/main" id="{40D95EBC-6F94-8426-1EF0-1B87B5FA8C13}"/>
              </a:ext>
            </a:extLst>
          </p:cNvPr>
          <p:cNvSpPr>
            <a:spLocks noGrp="1"/>
          </p:cNvSpPr>
          <p:nvPr>
            <p:ph type="ftr" sz="quarter" idx="11"/>
          </p:nvPr>
        </p:nvSpPr>
        <p:spPr/>
        <p:txBody>
          <a:bodyPr/>
          <a:lstStyle/>
          <a:p>
            <a:r>
              <a:rPr lang="en-GB"/>
              <a:t>Review 1.1</a:t>
            </a:r>
          </a:p>
        </p:txBody>
      </p:sp>
      <p:graphicFrame>
        <p:nvGraphicFramePr>
          <p:cNvPr id="10" name="Table 9">
            <a:extLst>
              <a:ext uri="{FF2B5EF4-FFF2-40B4-BE49-F238E27FC236}">
                <a16:creationId xmlns:a16="http://schemas.microsoft.com/office/drawing/2014/main" id="{1779C578-4524-1573-6B77-3E572EBAF6CA}"/>
              </a:ext>
            </a:extLst>
          </p:cNvPr>
          <p:cNvGraphicFramePr>
            <a:graphicFrameLocks noGrp="1"/>
          </p:cNvGraphicFramePr>
          <p:nvPr>
            <p:extLst>
              <p:ext uri="{D42A27DB-BD31-4B8C-83A1-F6EECF244321}">
                <p14:modId xmlns:p14="http://schemas.microsoft.com/office/powerpoint/2010/main" val="1884270519"/>
              </p:ext>
            </p:extLst>
          </p:nvPr>
        </p:nvGraphicFramePr>
        <p:xfrm>
          <a:off x="357138" y="842657"/>
          <a:ext cx="11468805" cy="5586687"/>
        </p:xfrm>
        <a:graphic>
          <a:graphicData uri="http://schemas.openxmlformats.org/drawingml/2006/table">
            <a:tbl>
              <a:tblPr firstRow="1" bandRow="1">
                <a:tableStyleId>{21E4AEA4-8DFA-4A89-87EB-49C32662AFE0}</a:tableStyleId>
              </a:tblPr>
              <a:tblGrid>
                <a:gridCol w="596347">
                  <a:extLst>
                    <a:ext uri="{9D8B030D-6E8A-4147-A177-3AD203B41FA5}">
                      <a16:colId xmlns:a16="http://schemas.microsoft.com/office/drawing/2014/main" val="2811906928"/>
                    </a:ext>
                  </a:extLst>
                </a:gridCol>
                <a:gridCol w="3573304">
                  <a:extLst>
                    <a:ext uri="{9D8B030D-6E8A-4147-A177-3AD203B41FA5}">
                      <a16:colId xmlns:a16="http://schemas.microsoft.com/office/drawing/2014/main" val="2201325007"/>
                    </a:ext>
                  </a:extLst>
                </a:gridCol>
                <a:gridCol w="1538039">
                  <a:extLst>
                    <a:ext uri="{9D8B030D-6E8A-4147-A177-3AD203B41FA5}">
                      <a16:colId xmlns:a16="http://schemas.microsoft.com/office/drawing/2014/main" val="431906563"/>
                    </a:ext>
                  </a:extLst>
                </a:gridCol>
                <a:gridCol w="5761115">
                  <a:extLst>
                    <a:ext uri="{9D8B030D-6E8A-4147-A177-3AD203B41FA5}">
                      <a16:colId xmlns:a16="http://schemas.microsoft.com/office/drawing/2014/main" val="1169910156"/>
                    </a:ext>
                  </a:extLst>
                </a:gridCol>
              </a:tblGrid>
              <a:tr h="402186">
                <a:tc>
                  <a:txBody>
                    <a:bodyPr/>
                    <a:lstStyle/>
                    <a:p>
                      <a:pPr lvl="0" algn="ctr">
                        <a:buNone/>
                      </a:pPr>
                      <a:r>
                        <a:rPr lang="en-US">
                          <a:solidFill>
                            <a:schemeClr val="bg2">
                              <a:lumMod val="10000"/>
                            </a:schemeClr>
                          </a:solidFill>
                          <a:latin typeface="Times New Roman"/>
                          <a:cs typeface="Times New Roman"/>
                        </a:rPr>
                        <a:t>Sl. #</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1123981693"/>
                  </a:ext>
                </a:extLst>
              </a:tr>
              <a:tr h="1106127">
                <a:tc>
                  <a:txBody>
                    <a:bodyPr/>
                    <a:lstStyle/>
                    <a:p>
                      <a:pPr algn="ctr"/>
                      <a:r>
                        <a:rPr lang="en-IN">
                          <a:latin typeface="Times New Roman"/>
                          <a:cs typeface="Times New Roman"/>
                        </a:rPr>
                        <a:t>5</a:t>
                      </a: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800" dirty="0">
                          <a:latin typeface="Times New Roman"/>
                          <a:cs typeface="Times New Roman"/>
                        </a:rPr>
                        <a:t>Knee Osteoarthritis Detection and Classification Using X-Rays </a:t>
                      </a:r>
                      <a:r>
                        <a:rPr lang="en-US" sz="1800" dirty="0">
                          <a:latin typeface="Times New Roman"/>
                          <a:cs typeface="Times New Roman"/>
                          <a:hlinkClick r:id="rId3" action="ppaction://hlinksldjump"/>
                        </a:rPr>
                        <a:t>[7]</a:t>
                      </a:r>
                      <a:endParaRPr lang="en-IN"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a:lnSpc>
                          <a:spcPct val="100000"/>
                        </a:lnSpc>
                        <a:spcBef>
                          <a:spcPts val="0"/>
                        </a:spcBef>
                        <a:spcAft>
                          <a:spcPts val="0"/>
                        </a:spcAft>
                        <a:buNone/>
                        <a:tabLst/>
                        <a:defRPr/>
                      </a:pPr>
                      <a:r>
                        <a:rPr lang="en-IN" sz="1800" b="0" i="0" u="none" strike="noStrike" noProof="0">
                          <a:latin typeface="Times New Roman"/>
                          <a:cs typeface="Times New Roman"/>
                          <a:hlinkClick r:id="rId4"/>
                        </a:rPr>
                        <a:t>ResearchGate</a:t>
                      </a:r>
                      <a:endParaRPr lang="en-IN" sz="1800">
                        <a:latin typeface="Times New Roman"/>
                        <a:cs typeface="Times New Roman"/>
                      </a:endParaRPr>
                    </a:p>
                    <a:p>
                      <a:pPr algn="ctr"/>
                      <a:endParaRPr lang="en-IN">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a:latin typeface="Times New Roman"/>
                          <a:cs typeface="Times New Roman"/>
                        </a:rPr>
                        <a:t>The paper presents a deep learning method for knee osteoarthritis detection and classification from X-rays, using an ensemble model for high accuracy and early diagnosis.</a:t>
                      </a:r>
                      <a:endParaRPr lang="en-IN">
                        <a:latin typeface="Times New Roman"/>
                        <a:cs typeface="Times New Roman"/>
                      </a:endParaRPr>
                    </a:p>
                  </a:txBody>
                  <a:tcPr anchor="ctr"/>
                </a:tc>
                <a:extLst>
                  <a:ext uri="{0D108BD9-81ED-4DB2-BD59-A6C34878D82A}">
                    <a16:rowId xmlns:a16="http://schemas.microsoft.com/office/drawing/2014/main" val="3435248891"/>
                  </a:ext>
                </a:extLst>
              </a:tr>
              <a:tr h="1074510">
                <a:tc>
                  <a:txBody>
                    <a:bodyPr/>
                    <a:lstStyle/>
                    <a:p>
                      <a:pPr algn="ctr"/>
                      <a:r>
                        <a:rPr lang="en-IN">
                          <a:latin typeface="Times New Roman"/>
                          <a:cs typeface="Times New Roman"/>
                        </a:rPr>
                        <a:t>6</a:t>
                      </a: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sz="1800" dirty="0">
                          <a:latin typeface="Times New Roman"/>
                          <a:cs typeface="Times New Roman"/>
                        </a:rPr>
                        <a:t>Automatic Detection of Knee Osteoarthritis Disease with the Developed CNN, NCA and SVM Based Hybrid Model </a:t>
                      </a:r>
                      <a:r>
                        <a:rPr lang="en-US" sz="1800" dirty="0">
                          <a:latin typeface="Times New Roman"/>
                          <a:cs typeface="Times New Roman"/>
                          <a:hlinkClick r:id="rId3" action="ppaction://hlinksldjump"/>
                        </a:rPr>
                        <a:t>[8]</a:t>
                      </a:r>
                      <a:endParaRPr lang="en-IN" sz="1800" dirty="0">
                        <a:latin typeface="Times New Roman"/>
                        <a:cs typeface="Times New Roman"/>
                      </a:endParaRPr>
                    </a:p>
                  </a:txBody>
                  <a:tcPr anchor="ctr"/>
                </a:tc>
                <a:tc>
                  <a:txBody>
                    <a:bodyPr/>
                    <a:lstStyle/>
                    <a:p>
                      <a:pPr marL="0" marR="0" lvl="0" indent="0" algn="ctr" defTabSz="914400">
                        <a:lnSpc>
                          <a:spcPct val="100000"/>
                        </a:lnSpc>
                        <a:spcBef>
                          <a:spcPts val="0"/>
                        </a:spcBef>
                        <a:spcAft>
                          <a:spcPts val="0"/>
                        </a:spcAft>
                        <a:buNone/>
                        <a:tabLst/>
                        <a:defRPr/>
                      </a:pPr>
                      <a:endParaRPr lang="en-IN" sz="1800">
                        <a:latin typeface="Times New Roman" panose="02020603050405020304" pitchFamily="18" charset="0"/>
                        <a:cs typeface="Times New Roman" panose="02020603050405020304" pitchFamily="18" charset="0"/>
                      </a:endParaRPr>
                    </a:p>
                    <a:p>
                      <a:pPr lvl="0" algn="ctr">
                        <a:buNone/>
                      </a:pPr>
                      <a:r>
                        <a:rPr lang="en-IN" sz="1800" b="0" i="0" u="none" strike="noStrike" noProof="0">
                          <a:latin typeface="Times New Roman"/>
                          <a:cs typeface="Times New Roman"/>
                          <a:hlinkClick r:id="rId5"/>
                        </a:rPr>
                        <a:t>ResearchGate</a:t>
                      </a:r>
                      <a:endParaRPr lang="en-IN">
                        <a:latin typeface="Times New Roman"/>
                        <a:cs typeface="Times New Roman"/>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a:latin typeface="Times New Roman"/>
                          <a:cs typeface="Times New Roman"/>
                        </a:rPr>
                        <a:t>The  study proposes an automated deep learning-based ordinal classification approach for early diagnosis and grading of knee osteoarthritis using X-ray images.</a:t>
                      </a:r>
                      <a:endParaRPr lang="en-IN" sz="1800">
                        <a:latin typeface="Times New Roman"/>
                        <a:cs typeface="Times New Roman"/>
                      </a:endParaRPr>
                    </a:p>
                  </a:txBody>
                  <a:tcPr anchor="ctr"/>
                </a:tc>
                <a:extLst>
                  <a:ext uri="{0D108BD9-81ED-4DB2-BD59-A6C34878D82A}">
                    <a16:rowId xmlns:a16="http://schemas.microsoft.com/office/drawing/2014/main" val="437889366"/>
                  </a:ext>
                </a:extLst>
              </a:tr>
              <a:tr h="1094839">
                <a:tc>
                  <a:txBody>
                    <a:bodyPr/>
                    <a:lstStyle/>
                    <a:p>
                      <a:pPr algn="ctr"/>
                      <a:r>
                        <a:rPr lang="en-US">
                          <a:latin typeface="Times New Roman"/>
                          <a:cs typeface="Times New Roman"/>
                        </a:rPr>
                        <a:t>7</a:t>
                      </a:r>
                      <a:endParaRPr lang="en-IN">
                        <a:latin typeface="Times New Roman"/>
                        <a:cs typeface="Times New Roman"/>
                      </a:endParaRPr>
                    </a:p>
                  </a:txBody>
                  <a:tcPr anchor="ctr"/>
                </a:tc>
                <a:tc>
                  <a:txBody>
                    <a:bodyPr/>
                    <a:lstStyle/>
                    <a:p>
                      <a:pPr lvl="0" algn="just">
                        <a:buNone/>
                      </a:pPr>
                      <a:r>
                        <a:rPr lang="en-IN" sz="1800" b="0" i="0" u="none" strike="noStrike" noProof="0" dirty="0">
                          <a:latin typeface="Times New Roman"/>
                          <a:cs typeface="Times New Roman"/>
                        </a:rPr>
                        <a:t>Optimized feature selection for enhanced accuracy in knee osteoarthritis detection and severity classification with machine learning </a:t>
                      </a:r>
                      <a:r>
                        <a:rPr lang="en-IN" sz="1800" b="0" i="0" u="none" strike="noStrike" noProof="0" dirty="0">
                          <a:latin typeface="Times New Roman"/>
                          <a:cs typeface="Times New Roman"/>
                          <a:hlinkClick r:id="rId3" action="ppaction://hlinksldjump"/>
                        </a:rPr>
                        <a:t>[9]</a:t>
                      </a:r>
                      <a:endParaRPr lang="en-US" dirty="0">
                        <a:latin typeface="Times New Roman"/>
                        <a:cs typeface="Times New Roman"/>
                      </a:endParaRPr>
                    </a:p>
                  </a:txBody>
                  <a:tcPr anchor="ctr"/>
                </a:tc>
                <a:tc>
                  <a:txBody>
                    <a:bodyPr/>
                    <a:lstStyle/>
                    <a:p>
                      <a:pPr lvl="0" algn="ctr">
                        <a:buNone/>
                      </a:pPr>
                      <a:r>
                        <a:rPr lang="en-IN" sz="1800" b="0" i="0" u="none" strike="noStrike" noProof="0">
                          <a:solidFill>
                            <a:srgbClr val="000000"/>
                          </a:solidFill>
                          <a:latin typeface="Times New Roman"/>
                          <a:cs typeface="Times New Roman"/>
                          <a:hlinkClick r:id="rId6"/>
                        </a:rPr>
                        <a:t>ScienceDirect</a:t>
                      </a:r>
                      <a:endParaRPr lang="en-US">
                        <a:latin typeface="Times New Roman"/>
                        <a:cs typeface="Times New Roman"/>
                      </a:endParaRPr>
                    </a:p>
                  </a:txBody>
                  <a:tcPr anchor="ctr"/>
                </a:tc>
                <a:tc>
                  <a:txBody>
                    <a:bodyPr/>
                    <a:lstStyle/>
                    <a:p>
                      <a:pPr lvl="0" algn="just">
                        <a:buNone/>
                      </a:pPr>
                      <a:r>
                        <a:rPr lang="en-IN" sz="1800" b="0" i="0" u="none" strike="noStrike" noProof="0">
                          <a:latin typeface="Times New Roman"/>
                          <a:cs typeface="Times New Roman"/>
                        </a:rPr>
                        <a:t>The study infers that using optimized feature selection techniques, like Particle Swarm Optimization (PSO) and Genetic Bee Colony (GBC), significantly improves the accuracy and reliability of machine learning models for detecting and classifying knee osteoarthritis.</a:t>
                      </a:r>
                      <a:endParaRPr lang="en-US">
                        <a:latin typeface="Times New Roman"/>
                        <a:cs typeface="Times New Roman"/>
                      </a:endParaRPr>
                    </a:p>
                  </a:txBody>
                  <a:tcPr anchor="ctr"/>
                </a:tc>
                <a:extLst>
                  <a:ext uri="{0D108BD9-81ED-4DB2-BD59-A6C34878D82A}">
                    <a16:rowId xmlns:a16="http://schemas.microsoft.com/office/drawing/2014/main" val="2315093039"/>
                  </a:ext>
                </a:extLst>
              </a:tr>
              <a:tr h="1094839">
                <a:tc>
                  <a:txBody>
                    <a:bodyPr/>
                    <a:lstStyle/>
                    <a:p>
                      <a:pPr algn="ctr"/>
                      <a:r>
                        <a:rPr lang="en-US">
                          <a:latin typeface="Times New Roman"/>
                          <a:cs typeface="Times New Roman"/>
                        </a:rPr>
                        <a:t>8</a:t>
                      </a:r>
                      <a:endParaRPr lang="en-IN">
                        <a:latin typeface="Times New Roman"/>
                        <a:cs typeface="Times New Roman"/>
                      </a:endParaRPr>
                    </a:p>
                  </a:txBody>
                  <a:tcPr anchor="ctr"/>
                </a:tc>
                <a:tc>
                  <a:txBody>
                    <a:bodyPr/>
                    <a:lstStyle/>
                    <a:p>
                      <a:pPr lvl="0" algn="just">
                        <a:buNone/>
                      </a:pPr>
                      <a:r>
                        <a:rPr lang="en-IN" sz="1800" b="0" i="0" u="none" strike="noStrike" noProof="0" dirty="0">
                          <a:latin typeface="Times New Roman"/>
                          <a:cs typeface="Times New Roman"/>
                        </a:rPr>
                        <a:t>DC-AAE: Dual channel adversarial autoencoder with multitask learning for KL-grade classification in knee radiographs </a:t>
                      </a:r>
                      <a:r>
                        <a:rPr lang="en-IN" sz="1800" b="0" i="0" u="none" strike="noStrike" noProof="0" dirty="0">
                          <a:latin typeface="Times New Roman"/>
                          <a:cs typeface="Times New Roman"/>
                          <a:hlinkClick r:id="rId3" action="ppaction://hlinksldjump"/>
                        </a:rPr>
                        <a:t>[10]</a:t>
                      </a:r>
                      <a:endParaRPr lang="en-US" dirty="0">
                        <a:latin typeface="Times New Roman"/>
                        <a:cs typeface="Times New Roman"/>
                      </a:endParaRPr>
                    </a:p>
                  </a:txBody>
                  <a:tcPr anchor="ctr"/>
                </a:tc>
                <a:tc>
                  <a:txBody>
                    <a:bodyPr/>
                    <a:lstStyle/>
                    <a:p>
                      <a:pPr lvl="0" algn="ctr">
                        <a:buNone/>
                      </a:pPr>
                      <a:r>
                        <a:rPr lang="en-IN" sz="1800" b="0" i="0" u="none" strike="noStrike" noProof="0" dirty="0">
                          <a:solidFill>
                            <a:srgbClr val="000000"/>
                          </a:solidFill>
                          <a:latin typeface="Times New Roman"/>
                          <a:cs typeface="Times New Roman"/>
                          <a:hlinkClick r:id="rId7"/>
                        </a:rPr>
                        <a:t>ScienceDirect</a:t>
                      </a:r>
                      <a:endParaRPr lang="en-US" dirty="0">
                        <a:latin typeface="Times New Roman"/>
                        <a:cs typeface="Times New Roman"/>
                      </a:endParaRPr>
                    </a:p>
                  </a:txBody>
                  <a:tcPr anchor="ctr"/>
                </a:tc>
                <a:tc>
                  <a:txBody>
                    <a:bodyPr/>
                    <a:lstStyle/>
                    <a:p>
                      <a:pPr lvl="0" algn="just">
                        <a:buNone/>
                      </a:pPr>
                      <a:r>
                        <a:rPr lang="en-IN" sz="1800" b="0" i="0" u="none" strike="noStrike" noProof="0" dirty="0">
                          <a:latin typeface="Times New Roman"/>
                          <a:cs typeface="Times New Roman"/>
                        </a:rPr>
                        <a:t>The proposed DC-AAE with multitask learning significantly enhances knee osteoarthritis (OA) KL-grade classification by utilizing both labelled and unlabelled data, enhancing diagnostic accuracy and robustness.</a:t>
                      </a:r>
                      <a:endParaRPr lang="en-US" dirty="0">
                        <a:latin typeface="Times New Roman"/>
                        <a:cs typeface="Times New Roman"/>
                      </a:endParaRPr>
                    </a:p>
                  </a:txBody>
                  <a:tcPr anchor="ctr"/>
                </a:tc>
                <a:extLst>
                  <a:ext uri="{0D108BD9-81ED-4DB2-BD59-A6C34878D82A}">
                    <a16:rowId xmlns:a16="http://schemas.microsoft.com/office/drawing/2014/main" val="3605881959"/>
                  </a:ext>
                </a:extLst>
              </a:tr>
            </a:tbl>
          </a:graphicData>
        </a:graphic>
      </p:graphicFrame>
    </p:spTree>
    <p:extLst>
      <p:ext uri="{BB962C8B-B14F-4D97-AF65-F5344CB8AC3E}">
        <p14:creationId xmlns:p14="http://schemas.microsoft.com/office/powerpoint/2010/main" val="11030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A7FA-23A2-A045-7877-20630E726E27}"/>
              </a:ext>
            </a:extLst>
          </p:cNvPr>
          <p:cNvSpPr>
            <a:spLocks noGrp="1"/>
          </p:cNvSpPr>
          <p:nvPr>
            <p:ph type="title"/>
          </p:nvPr>
        </p:nvSpPr>
        <p:spPr>
          <a:xfrm>
            <a:off x="310837" y="196145"/>
            <a:ext cx="10515600" cy="803646"/>
          </a:xfrm>
        </p:spPr>
        <p:txBody>
          <a:bodyPr>
            <a:normAutofit/>
          </a:bodyPr>
          <a:lstStyle/>
          <a:p>
            <a:r>
              <a:rPr lang="en-US" sz="3200" b="1">
                <a:latin typeface="Times New Roman"/>
                <a:cs typeface="Times New Roman"/>
              </a:rPr>
              <a:t>Literature</a:t>
            </a:r>
            <a:endParaRPr lang="en-US" sz="3200">
              <a:latin typeface="Times New Roman"/>
              <a:cs typeface="Times New Roman"/>
            </a:endParaRPr>
          </a:p>
          <a:p>
            <a:endParaRPr lang="en-US" sz="3200" b="1">
              <a:latin typeface="Times New Roman"/>
              <a:cs typeface="Calibri Light"/>
            </a:endParaRPr>
          </a:p>
        </p:txBody>
      </p:sp>
      <p:sp>
        <p:nvSpPr>
          <p:cNvPr id="3" name="Slide Number Placeholder 2">
            <a:extLst>
              <a:ext uri="{FF2B5EF4-FFF2-40B4-BE49-F238E27FC236}">
                <a16:creationId xmlns:a16="http://schemas.microsoft.com/office/drawing/2014/main" id="{DD8DDA15-BA88-778E-E06C-71ED08555092}"/>
              </a:ext>
            </a:extLst>
          </p:cNvPr>
          <p:cNvSpPr>
            <a:spLocks noGrp="1"/>
          </p:cNvSpPr>
          <p:nvPr>
            <p:ph type="sldNum" sz="quarter" idx="12"/>
          </p:nvPr>
        </p:nvSpPr>
        <p:spPr/>
        <p:txBody>
          <a:bodyPr/>
          <a:lstStyle/>
          <a:p>
            <a:fld id="{330EA680-D336-4FF7-8B7A-9848BB0A1C32}" type="slidenum">
              <a:rPr lang="en-GB" smtClean="0"/>
              <a:t>16</a:t>
            </a:fld>
            <a:endParaRPr lang="en-US"/>
          </a:p>
        </p:txBody>
      </p:sp>
      <p:sp>
        <p:nvSpPr>
          <p:cNvPr id="4" name="Date Placeholder 3"/>
          <p:cNvSpPr>
            <a:spLocks noGrp="1"/>
          </p:cNvSpPr>
          <p:nvPr>
            <p:ph type="dt" sz="half" idx="10"/>
          </p:nvPr>
        </p:nvSpPr>
        <p:spPr/>
        <p:txBody>
          <a:bodyPr/>
          <a:lstStyle/>
          <a:p>
            <a:fld id="{9D9FDE1B-D83D-4709-B76C-6C3192CD8C0E}" type="datetime1">
              <a:rPr lang="en-IN" smtClean="0"/>
              <a:t>22-11-2024</a:t>
            </a:fld>
            <a:endParaRPr lang="en-GB"/>
          </a:p>
        </p:txBody>
      </p:sp>
      <p:sp>
        <p:nvSpPr>
          <p:cNvPr id="5" name="Footer Placeholder 4">
            <a:extLst>
              <a:ext uri="{FF2B5EF4-FFF2-40B4-BE49-F238E27FC236}">
                <a16:creationId xmlns:a16="http://schemas.microsoft.com/office/drawing/2014/main" id="{40D95EBC-6F94-8426-1EF0-1B87B5FA8C13}"/>
              </a:ext>
            </a:extLst>
          </p:cNvPr>
          <p:cNvSpPr>
            <a:spLocks noGrp="1"/>
          </p:cNvSpPr>
          <p:nvPr>
            <p:ph type="ftr" sz="quarter" idx="11"/>
          </p:nvPr>
        </p:nvSpPr>
        <p:spPr/>
        <p:txBody>
          <a:bodyPr/>
          <a:lstStyle/>
          <a:p>
            <a:r>
              <a:rPr lang="en-GB"/>
              <a:t>Review 1.1</a:t>
            </a:r>
          </a:p>
        </p:txBody>
      </p:sp>
      <p:graphicFrame>
        <p:nvGraphicFramePr>
          <p:cNvPr id="10" name="Table 9">
            <a:extLst>
              <a:ext uri="{FF2B5EF4-FFF2-40B4-BE49-F238E27FC236}">
                <a16:creationId xmlns:a16="http://schemas.microsoft.com/office/drawing/2014/main" id="{1779C578-4524-1573-6B77-3E572EBAF6CA}"/>
              </a:ext>
            </a:extLst>
          </p:cNvPr>
          <p:cNvGraphicFramePr>
            <a:graphicFrameLocks noGrp="1"/>
          </p:cNvGraphicFramePr>
          <p:nvPr>
            <p:extLst>
              <p:ext uri="{D42A27DB-BD31-4B8C-83A1-F6EECF244321}">
                <p14:modId xmlns:p14="http://schemas.microsoft.com/office/powerpoint/2010/main" val="942328187"/>
              </p:ext>
            </p:extLst>
          </p:nvPr>
        </p:nvGraphicFramePr>
        <p:xfrm>
          <a:off x="312964" y="1006525"/>
          <a:ext cx="11468801" cy="3416337"/>
        </p:xfrm>
        <a:graphic>
          <a:graphicData uri="http://schemas.openxmlformats.org/drawingml/2006/table">
            <a:tbl>
              <a:tblPr firstRow="1" bandRow="1">
                <a:tableStyleId>{21E4AEA4-8DFA-4A89-87EB-49C32662AFE0}</a:tableStyleId>
              </a:tblPr>
              <a:tblGrid>
                <a:gridCol w="646042">
                  <a:extLst>
                    <a:ext uri="{9D8B030D-6E8A-4147-A177-3AD203B41FA5}">
                      <a16:colId xmlns:a16="http://schemas.microsoft.com/office/drawing/2014/main" val="2811906928"/>
                    </a:ext>
                  </a:extLst>
                </a:gridCol>
                <a:gridCol w="3627781">
                  <a:extLst>
                    <a:ext uri="{9D8B030D-6E8A-4147-A177-3AD203B41FA5}">
                      <a16:colId xmlns:a16="http://schemas.microsoft.com/office/drawing/2014/main" val="2201325007"/>
                    </a:ext>
                  </a:extLst>
                </a:gridCol>
                <a:gridCol w="1700892">
                  <a:extLst>
                    <a:ext uri="{9D8B030D-6E8A-4147-A177-3AD203B41FA5}">
                      <a16:colId xmlns:a16="http://schemas.microsoft.com/office/drawing/2014/main" val="431906563"/>
                    </a:ext>
                  </a:extLst>
                </a:gridCol>
                <a:gridCol w="5494086">
                  <a:extLst>
                    <a:ext uri="{9D8B030D-6E8A-4147-A177-3AD203B41FA5}">
                      <a16:colId xmlns:a16="http://schemas.microsoft.com/office/drawing/2014/main" val="1169910156"/>
                    </a:ext>
                  </a:extLst>
                </a:gridCol>
              </a:tblGrid>
              <a:tr h="490257">
                <a:tc>
                  <a:txBody>
                    <a:bodyPr/>
                    <a:lstStyle/>
                    <a:p>
                      <a:pPr lvl="0" algn="ctr">
                        <a:buNone/>
                      </a:pPr>
                      <a:r>
                        <a:rPr lang="en-US">
                          <a:solidFill>
                            <a:schemeClr val="bg2">
                              <a:lumMod val="10000"/>
                            </a:schemeClr>
                          </a:solidFill>
                          <a:latin typeface="Times New Roman"/>
                          <a:cs typeface="Times New Roman"/>
                        </a:rPr>
                        <a:t>Sl. #</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lvl="0" algn="ctr">
                        <a:buNone/>
                      </a:pP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1123981693"/>
                  </a:ext>
                </a:extLst>
              </a:tr>
              <a:tr h="1106127">
                <a:tc>
                  <a:txBody>
                    <a:bodyPr/>
                    <a:lstStyle/>
                    <a:p>
                      <a:pPr algn="ctr"/>
                      <a:r>
                        <a:rPr lang="en-IN">
                          <a:latin typeface="Times New Roman"/>
                          <a:cs typeface="Times New Roman"/>
                        </a:rPr>
                        <a:t>9</a:t>
                      </a: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IN" dirty="0">
                          <a:latin typeface="Times New Roman"/>
                          <a:cs typeface="Times New Roman"/>
                        </a:rPr>
                        <a:t>KOA-</a:t>
                      </a:r>
                      <a:r>
                        <a:rPr lang="en-IN" dirty="0" err="1">
                          <a:latin typeface="Times New Roman"/>
                          <a:cs typeface="Times New Roman"/>
                        </a:rPr>
                        <a:t>CCTNet</a:t>
                      </a:r>
                      <a:r>
                        <a:rPr lang="en-IN" dirty="0">
                          <a:latin typeface="Times New Roman"/>
                          <a:cs typeface="Times New Roman"/>
                        </a:rPr>
                        <a:t>: An Enhanced Knee Osteoarthritis Grade Assessment Framework Using Modified Compact Convolutional Transformer Model </a:t>
                      </a:r>
                      <a:r>
                        <a:rPr lang="en-IN" dirty="0">
                          <a:latin typeface="Times New Roman"/>
                          <a:cs typeface="Times New Roman"/>
                          <a:hlinkClick r:id="rId3" action="ppaction://hlinksldjump"/>
                        </a:rPr>
                        <a:t>[11]</a:t>
                      </a:r>
                      <a:endParaRPr lang="en-US" sz="1800" dirty="0">
                        <a:latin typeface="Times New Roman"/>
                        <a:cs typeface="Times New Roman"/>
                      </a:endParaRPr>
                    </a:p>
                  </a:txBody>
                  <a:tcPr anchor="ctr"/>
                </a:tc>
                <a:tc>
                  <a:txBody>
                    <a:bodyPr/>
                    <a:lstStyle/>
                    <a:p>
                      <a:pPr marL="0" marR="0" lvl="0" indent="0" algn="ctr">
                        <a:lnSpc>
                          <a:spcPct val="100000"/>
                        </a:lnSpc>
                        <a:spcBef>
                          <a:spcPts val="0"/>
                        </a:spcBef>
                        <a:spcAft>
                          <a:spcPts val="0"/>
                        </a:spcAft>
                        <a:buNone/>
                      </a:pPr>
                      <a:r>
                        <a:rPr lang="en-IN" sz="1800" b="0" i="0" u="none" strike="noStrike" noProof="0">
                          <a:latin typeface="Times New Roman"/>
                          <a:cs typeface="Times New Roman"/>
                          <a:hlinkClick r:id="rId4"/>
                        </a:rPr>
                        <a:t>IEEE Xplore</a:t>
                      </a:r>
                      <a:endParaRPr lang="en-IN" sz="1800" b="0" i="0" u="none" strike="noStrike" noProof="0">
                        <a:latin typeface="Times New Roman"/>
                        <a:cs typeface="Times New Roman"/>
                      </a:endParaRPr>
                    </a:p>
                  </a:txBody>
                  <a:tcPr anchor="ctr"/>
                </a:tc>
                <a:tc>
                  <a:txBody>
                    <a:bodyPr/>
                    <a:lstStyle/>
                    <a:p>
                      <a:pPr marL="0" marR="0" lvl="0" indent="0" algn="just">
                        <a:lnSpc>
                          <a:spcPct val="100000"/>
                        </a:lnSpc>
                        <a:spcBef>
                          <a:spcPts val="0"/>
                        </a:spcBef>
                        <a:spcAft>
                          <a:spcPts val="0"/>
                        </a:spcAft>
                        <a:buNone/>
                      </a:pPr>
                      <a:r>
                        <a:rPr lang="en-US" sz="1800" b="0" i="0" u="none" strike="noStrike" noProof="0">
                          <a:latin typeface="Times New Roman"/>
                          <a:cs typeface="Times New Roman"/>
                        </a:rPr>
                        <a:t>The KOA-</a:t>
                      </a:r>
                      <a:r>
                        <a:rPr lang="en-US" sz="1800" b="0" i="0" u="none" strike="noStrike" noProof="0" err="1">
                          <a:latin typeface="Times New Roman"/>
                          <a:cs typeface="Times New Roman"/>
                        </a:rPr>
                        <a:t>CCTNet</a:t>
                      </a:r>
                      <a:r>
                        <a:rPr lang="en-US" sz="1800" b="0" i="0" u="none" strike="noStrike" noProof="0">
                          <a:latin typeface="Times New Roman"/>
                          <a:cs typeface="Times New Roman"/>
                        </a:rPr>
                        <a:t> model, based on a modified compact convolutional transformer, showed superior performance over other models in accurately grading knee osteoarthritis from X-ray images.</a:t>
                      </a:r>
                      <a:endParaRPr lang="en-US">
                        <a:latin typeface="Times New Roman"/>
                        <a:cs typeface="Times New Roman"/>
                      </a:endParaRPr>
                    </a:p>
                  </a:txBody>
                  <a:tcPr anchor="ctr"/>
                </a:tc>
                <a:extLst>
                  <a:ext uri="{0D108BD9-81ED-4DB2-BD59-A6C34878D82A}">
                    <a16:rowId xmlns:a16="http://schemas.microsoft.com/office/drawing/2014/main" val="3435248891"/>
                  </a:ext>
                </a:extLst>
              </a:tr>
              <a:tr h="1074510">
                <a:tc>
                  <a:txBody>
                    <a:bodyPr/>
                    <a:lstStyle/>
                    <a:p>
                      <a:pPr algn="ctr"/>
                      <a:r>
                        <a:rPr lang="en-IN">
                          <a:latin typeface="Times New Roman"/>
                          <a:cs typeface="Times New Roman"/>
                        </a:rPr>
                        <a:t>10</a:t>
                      </a:r>
                    </a:p>
                  </a:txBody>
                  <a:tcPr anchor="ctr"/>
                </a:tc>
                <a:tc>
                  <a:txBody>
                    <a:bodyPr/>
                    <a:lstStyle/>
                    <a:p>
                      <a:pPr marL="0" marR="0" lvl="0" indent="0" algn="just" rtl="0" eaLnBrk="1" fontAlgn="auto" latinLnBrk="0" hangingPunct="1">
                        <a:lnSpc>
                          <a:spcPct val="100000"/>
                        </a:lnSpc>
                        <a:spcBef>
                          <a:spcPts val="0"/>
                        </a:spcBef>
                        <a:spcAft>
                          <a:spcPts val="0"/>
                        </a:spcAft>
                        <a:buClrTx/>
                        <a:buSzTx/>
                        <a:buFontTx/>
                        <a:buNone/>
                      </a:pPr>
                      <a:r>
                        <a:rPr lang="en-US" dirty="0">
                          <a:latin typeface="Times New Roman"/>
                          <a:cs typeface="Times New Roman"/>
                        </a:rPr>
                        <a:t>Accurate, Automated Classification of Radiographic Knee Osteoarthritis Severity Using a Novel Method of Deep Learning: Plug-in Modules </a:t>
                      </a:r>
                      <a:r>
                        <a:rPr lang="en-US" dirty="0">
                          <a:latin typeface="Times New Roman"/>
                          <a:cs typeface="Times New Roman"/>
                          <a:hlinkClick r:id="rId3" action="ppaction://hlinksldjump"/>
                        </a:rPr>
                        <a:t>[12]</a:t>
                      </a:r>
                      <a:endParaRPr lang="en-US" sz="1800" dirty="0">
                        <a:latin typeface="Times New Roman"/>
                        <a:cs typeface="Times New Roman"/>
                      </a:endParaRPr>
                    </a:p>
                  </a:txBody>
                  <a:tcPr anchor="ctr"/>
                </a:tc>
                <a:tc>
                  <a:txBody>
                    <a:bodyPr/>
                    <a:lstStyle/>
                    <a:p>
                      <a:pPr marL="0" marR="0" lvl="0" indent="0" algn="ctr">
                        <a:lnSpc>
                          <a:spcPct val="100000"/>
                        </a:lnSpc>
                        <a:spcBef>
                          <a:spcPts val="0"/>
                        </a:spcBef>
                        <a:spcAft>
                          <a:spcPts val="0"/>
                        </a:spcAft>
                        <a:buNone/>
                      </a:pPr>
                      <a:r>
                        <a:rPr lang="en-IN">
                          <a:latin typeface="Times New Roman"/>
                          <a:cs typeface="Times New Roman"/>
                          <a:hlinkClick r:id="rId5"/>
                        </a:rPr>
                        <a:t>Springer Link</a:t>
                      </a:r>
                      <a:endParaRPr lang="en-IN">
                        <a:latin typeface="Times New Roman"/>
                        <a:cs typeface="Times New Roman"/>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a:cs typeface="Times New Roman"/>
                        </a:rPr>
                        <a:t>The paper presents an automated deep learning model using plug-in modules (PIM) that accurately classifies knee osteoarthritis severity, improving diagnostic consistency and efficiency based on radiographic images.</a:t>
                      </a:r>
                      <a:endParaRPr lang="en-US" sz="1800" dirty="0">
                        <a:latin typeface="Times New Roman"/>
                        <a:cs typeface="Times New Roman"/>
                      </a:endParaRPr>
                    </a:p>
                  </a:txBody>
                  <a:tcPr anchor="ctr"/>
                </a:tc>
                <a:extLst>
                  <a:ext uri="{0D108BD9-81ED-4DB2-BD59-A6C34878D82A}">
                    <a16:rowId xmlns:a16="http://schemas.microsoft.com/office/drawing/2014/main" val="437889366"/>
                  </a:ext>
                </a:extLst>
              </a:tr>
            </a:tbl>
          </a:graphicData>
        </a:graphic>
      </p:graphicFrame>
    </p:spTree>
    <p:extLst>
      <p:ext uri="{BB962C8B-B14F-4D97-AF65-F5344CB8AC3E}">
        <p14:creationId xmlns:p14="http://schemas.microsoft.com/office/powerpoint/2010/main" val="234192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E4A2-5D86-7103-F873-2A14F79649A3}"/>
              </a:ext>
            </a:extLst>
          </p:cNvPr>
          <p:cNvSpPr>
            <a:spLocks noGrp="1"/>
          </p:cNvSpPr>
          <p:nvPr>
            <p:ph type="title"/>
          </p:nvPr>
        </p:nvSpPr>
        <p:spPr/>
        <p:txBody>
          <a:bodyPr>
            <a:normAutofit/>
          </a:bodyPr>
          <a:lstStyle/>
          <a:p>
            <a:r>
              <a:rPr lang="en-US" sz="3600" b="1">
                <a:latin typeface="Times New Roman" panose="02020603050405020304" pitchFamily="18" charset="0"/>
                <a:cs typeface="Times New Roman" panose="02020603050405020304" pitchFamily="18" charset="0"/>
              </a:rPr>
              <a:t>Methodology:</a:t>
            </a:r>
          </a:p>
        </p:txBody>
      </p:sp>
      <p:sp>
        <p:nvSpPr>
          <p:cNvPr id="3" name="Date Placeholder 2"/>
          <p:cNvSpPr>
            <a:spLocks noGrp="1"/>
          </p:cNvSpPr>
          <p:nvPr>
            <p:ph type="dt" sz="half" idx="10"/>
          </p:nvPr>
        </p:nvSpPr>
        <p:spPr/>
        <p:txBody>
          <a:bodyPr/>
          <a:lstStyle/>
          <a:p>
            <a:fld id="{0B0C3907-4C54-4A92-AB53-784C77BB3F61}" type="datetime1">
              <a:rPr lang="en-IN" smtClean="0">
                <a:latin typeface="Times New Roman" panose="02020603050405020304" pitchFamily="18" charset="0"/>
                <a:cs typeface="Times New Roman" panose="02020603050405020304" pitchFamily="18" charset="0"/>
              </a:rPr>
              <a:t>22-11-2024</a:t>
            </a:fld>
            <a:endParaRPr lang="en-GB">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63DB8A2-6EF7-49F8-71D8-9505584594CD}"/>
              </a:ext>
            </a:extLst>
          </p:cNvPr>
          <p:cNvSpPr>
            <a:spLocks noGrp="1"/>
          </p:cNvSpPr>
          <p:nvPr>
            <p:ph type="ftr" sz="quarter" idx="11"/>
          </p:nvPr>
        </p:nvSpPr>
        <p:spPr/>
        <p:txBody>
          <a:bodyPr/>
          <a:lstStyle/>
          <a:p>
            <a:r>
              <a:rPr lang="en-GB">
                <a:latin typeface="Times New Roman" panose="02020603050405020304" pitchFamily="18" charset="0"/>
                <a:cs typeface="Times New Roman" panose="02020603050405020304" pitchFamily="18" charset="0"/>
              </a:rPr>
              <a:t>Review 1.1</a:t>
            </a:r>
          </a:p>
        </p:txBody>
      </p:sp>
      <p:sp>
        <p:nvSpPr>
          <p:cNvPr id="6" name="Slide Number Placeholder 5"/>
          <p:cNvSpPr>
            <a:spLocks noGrp="1"/>
          </p:cNvSpPr>
          <p:nvPr>
            <p:ph type="sldNum" sz="quarter" idx="12"/>
          </p:nvPr>
        </p:nvSpPr>
        <p:spPr/>
        <p:txBody>
          <a:bodyPr/>
          <a:lstStyle/>
          <a:p>
            <a:fld id="{330EA680-D336-4FF7-8B7A-9848BB0A1C32}" type="slidenum">
              <a:rPr lang="en-GB" smtClean="0">
                <a:latin typeface="Times New Roman" panose="02020603050405020304" pitchFamily="18" charset="0"/>
                <a:cs typeface="Times New Roman" panose="02020603050405020304" pitchFamily="18" charset="0"/>
              </a:rPr>
              <a:t>17</a:t>
            </a:fld>
            <a:endParaRPr lang="en-GB">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0C67F168-C344-E8C6-994A-D5D3A95E4FE2}"/>
              </a:ext>
            </a:extLst>
          </p:cNvPr>
          <p:cNvSpPr/>
          <p:nvPr/>
        </p:nvSpPr>
        <p:spPr>
          <a:xfrm>
            <a:off x="157371" y="2287519"/>
            <a:ext cx="2186609" cy="286247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t"/>
          <a:lstStyle/>
          <a:p>
            <a:pPr algn="ctr"/>
            <a:r>
              <a:rPr lang="en-IN" b="1">
                <a:latin typeface="Times New Roman" panose="02020603050405020304" pitchFamily="18" charset="0"/>
                <a:ea typeface="Calibri"/>
                <a:cs typeface="Times New Roman" panose="02020603050405020304" pitchFamily="18" charset="0"/>
              </a:rPr>
              <a:t>Input X-ray</a:t>
            </a:r>
            <a:endParaRPr lang="en-IN" b="1">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4C7FEBC-DB44-7B9D-DA21-9CC392B5BE8E}"/>
              </a:ext>
            </a:extLst>
          </p:cNvPr>
          <p:cNvSpPr/>
          <p:nvPr/>
        </p:nvSpPr>
        <p:spPr>
          <a:xfrm>
            <a:off x="6029738" y="2294110"/>
            <a:ext cx="1802295" cy="115293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a:latin typeface="Times New Roman" panose="02020603050405020304" pitchFamily="18" charset="0"/>
                <a:cs typeface="Times New Roman" panose="02020603050405020304" pitchFamily="18" charset="0"/>
              </a:rPr>
              <a:t>Predicted </a:t>
            </a:r>
            <a:br>
              <a:rPr lang="en-IN" b="1">
                <a:latin typeface="Times New Roman" panose="02020603050405020304" pitchFamily="18" charset="0"/>
                <a:cs typeface="Times New Roman" panose="02020603050405020304" pitchFamily="18" charset="0"/>
              </a:rPr>
            </a:br>
            <a:r>
              <a:rPr lang="en-IN" b="1">
                <a:latin typeface="Times New Roman" panose="02020603050405020304" pitchFamily="18" charset="0"/>
                <a:cs typeface="Times New Roman" panose="02020603050405020304" pitchFamily="18" charset="0"/>
              </a:rPr>
              <a:t>Grade</a:t>
            </a:r>
          </a:p>
        </p:txBody>
      </p:sp>
      <p:sp>
        <p:nvSpPr>
          <p:cNvPr id="11" name="Rectangle 10">
            <a:extLst>
              <a:ext uri="{FF2B5EF4-FFF2-40B4-BE49-F238E27FC236}">
                <a16:creationId xmlns:a16="http://schemas.microsoft.com/office/drawing/2014/main" id="{798C65E0-65DA-F20B-0FC5-6EA3127D2A95}"/>
              </a:ext>
            </a:extLst>
          </p:cNvPr>
          <p:cNvSpPr/>
          <p:nvPr/>
        </p:nvSpPr>
        <p:spPr>
          <a:xfrm>
            <a:off x="6029739" y="3829877"/>
            <a:ext cx="1802295" cy="115293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a:latin typeface="Times New Roman"/>
                <a:cs typeface="Times New Roman"/>
              </a:rPr>
              <a:t>Learned Features </a:t>
            </a:r>
            <a:endParaRPr lang="en-IN">
              <a:latin typeface="Times New Roman"/>
              <a:cs typeface="Times New Roman"/>
            </a:endParaRPr>
          </a:p>
        </p:txBody>
      </p:sp>
      <p:sp>
        <p:nvSpPr>
          <p:cNvPr id="12" name="Rectangle: Rounded Corners 11">
            <a:extLst>
              <a:ext uri="{FF2B5EF4-FFF2-40B4-BE49-F238E27FC236}">
                <a16:creationId xmlns:a16="http://schemas.microsoft.com/office/drawing/2014/main" id="{9060FAAB-A6FC-365C-E42C-AF75B92DE0D4}"/>
              </a:ext>
            </a:extLst>
          </p:cNvPr>
          <p:cNvSpPr/>
          <p:nvPr/>
        </p:nvSpPr>
        <p:spPr>
          <a:xfrm>
            <a:off x="8275978" y="1876700"/>
            <a:ext cx="1696278" cy="347207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a:latin typeface="Times New Roman"/>
                <a:cs typeface="Times New Roman"/>
              </a:rPr>
              <a:t>Visualization of Extracted Features by Grad-CAM</a:t>
            </a:r>
            <a:endParaRPr lang="en-IN">
              <a:latin typeface="Times New Roman"/>
              <a:cs typeface="Times New Roman"/>
            </a:endParaRPr>
          </a:p>
        </p:txBody>
      </p:sp>
      <p:sp>
        <p:nvSpPr>
          <p:cNvPr id="13" name="Rectangle 12">
            <a:extLst>
              <a:ext uri="{FF2B5EF4-FFF2-40B4-BE49-F238E27FC236}">
                <a16:creationId xmlns:a16="http://schemas.microsoft.com/office/drawing/2014/main" id="{C78E7806-5BB4-12CE-E890-3981276FBC26}"/>
              </a:ext>
            </a:extLst>
          </p:cNvPr>
          <p:cNvSpPr/>
          <p:nvPr/>
        </p:nvSpPr>
        <p:spPr>
          <a:xfrm>
            <a:off x="10539619" y="2287519"/>
            <a:ext cx="1495010" cy="269019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t"/>
          <a:lstStyle/>
          <a:p>
            <a:pPr algn="ctr"/>
            <a:r>
              <a:rPr lang="en-IN" b="1">
                <a:latin typeface="Times New Roman"/>
                <a:cs typeface="Times New Roman"/>
              </a:rPr>
              <a:t>Grad-CAM</a:t>
            </a:r>
            <a:endParaRPr lang="en-IN">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F4FF1E5-0C6A-F44D-C140-D42846712E56}"/>
              </a:ext>
            </a:extLst>
          </p:cNvPr>
          <p:cNvSpPr/>
          <p:nvPr/>
        </p:nvSpPr>
        <p:spPr>
          <a:xfrm>
            <a:off x="3140764" y="2503270"/>
            <a:ext cx="2332381" cy="35141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err="1">
                <a:latin typeface="Times New Roman"/>
                <a:cs typeface="Times New Roman"/>
              </a:rPr>
              <a:t>HRNet</a:t>
            </a:r>
            <a:endParaRPr lang="en-IN">
              <a:latin typeface="Times New Roman"/>
              <a:cs typeface="Times New Roman"/>
            </a:endParaRPr>
          </a:p>
        </p:txBody>
      </p:sp>
      <p:sp>
        <p:nvSpPr>
          <p:cNvPr id="15" name="Rectangle 14">
            <a:extLst>
              <a:ext uri="{FF2B5EF4-FFF2-40B4-BE49-F238E27FC236}">
                <a16:creationId xmlns:a16="http://schemas.microsoft.com/office/drawing/2014/main" id="{BF0EAEC7-D995-D5D0-5A26-C5411072EE14}"/>
              </a:ext>
            </a:extLst>
          </p:cNvPr>
          <p:cNvSpPr/>
          <p:nvPr/>
        </p:nvSpPr>
        <p:spPr>
          <a:xfrm>
            <a:off x="3140764" y="3064222"/>
            <a:ext cx="2332381" cy="38282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a:latin typeface="Times New Roman" panose="02020603050405020304" pitchFamily="18" charset="0"/>
                <a:cs typeface="Times New Roman" panose="02020603050405020304" pitchFamily="18" charset="0"/>
              </a:rPr>
              <a:t>VGG</a:t>
            </a:r>
          </a:p>
        </p:txBody>
      </p:sp>
      <p:sp>
        <p:nvSpPr>
          <p:cNvPr id="16" name="Rectangle 15">
            <a:extLst>
              <a:ext uri="{FF2B5EF4-FFF2-40B4-BE49-F238E27FC236}">
                <a16:creationId xmlns:a16="http://schemas.microsoft.com/office/drawing/2014/main" id="{FE52F3B9-ED14-6F0F-2628-D46B3466E219}"/>
              </a:ext>
            </a:extLst>
          </p:cNvPr>
          <p:cNvSpPr/>
          <p:nvPr/>
        </p:nvSpPr>
        <p:spPr>
          <a:xfrm>
            <a:off x="3140764" y="3667262"/>
            <a:ext cx="2332381" cy="39377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err="1">
                <a:latin typeface="Times New Roman"/>
                <a:cs typeface="Times New Roman"/>
              </a:rPr>
              <a:t>DenseNet</a:t>
            </a:r>
          </a:p>
        </p:txBody>
      </p:sp>
      <p:sp>
        <p:nvSpPr>
          <p:cNvPr id="17" name="Rectangle 16">
            <a:extLst>
              <a:ext uri="{FF2B5EF4-FFF2-40B4-BE49-F238E27FC236}">
                <a16:creationId xmlns:a16="http://schemas.microsoft.com/office/drawing/2014/main" id="{D5DE216E-0D51-97D7-DA14-3249CBF23DD4}"/>
              </a:ext>
            </a:extLst>
          </p:cNvPr>
          <p:cNvSpPr/>
          <p:nvPr/>
        </p:nvSpPr>
        <p:spPr>
          <a:xfrm>
            <a:off x="3140764" y="4347190"/>
            <a:ext cx="2332382" cy="36512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b="1" err="1">
                <a:latin typeface="Times New Roman"/>
                <a:cs typeface="Times New Roman"/>
              </a:rPr>
              <a:t>ResNet</a:t>
            </a:r>
            <a:endParaRPr lang="en-IN" b="1">
              <a:latin typeface="Times New Roman"/>
              <a:cs typeface="Times New Roman"/>
            </a:endParaRPr>
          </a:p>
        </p:txBody>
      </p:sp>
      <p:pic>
        <p:nvPicPr>
          <p:cNvPr id="8" name="Picture 7">
            <a:extLst>
              <a:ext uri="{FF2B5EF4-FFF2-40B4-BE49-F238E27FC236}">
                <a16:creationId xmlns:a16="http://schemas.microsoft.com/office/drawing/2014/main" id="{C36DB46C-D034-5EAD-D86A-3DFBA3C492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50" y="2700759"/>
            <a:ext cx="2006049" cy="2361056"/>
          </a:xfrm>
          <a:prstGeom prst="rect">
            <a:avLst/>
          </a:prstGeom>
        </p:spPr>
      </p:pic>
      <p:sp>
        <p:nvSpPr>
          <p:cNvPr id="10" name="Arrow: Right 9">
            <a:extLst>
              <a:ext uri="{FF2B5EF4-FFF2-40B4-BE49-F238E27FC236}">
                <a16:creationId xmlns:a16="http://schemas.microsoft.com/office/drawing/2014/main" id="{D46A771A-3428-BACD-6753-A2C720A3BE1F}"/>
              </a:ext>
            </a:extLst>
          </p:cNvPr>
          <p:cNvSpPr/>
          <p:nvPr/>
        </p:nvSpPr>
        <p:spPr>
          <a:xfrm>
            <a:off x="2523712" y="3424946"/>
            <a:ext cx="530089" cy="484632"/>
          </a:xfrm>
          <a:prstGeom prst="rightArrow">
            <a:avLst/>
          </a:prstGeom>
          <a:solidFill>
            <a:schemeClr val="tx1"/>
          </a:solidFill>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9" name="Arrow: Right 18">
            <a:extLst>
              <a:ext uri="{FF2B5EF4-FFF2-40B4-BE49-F238E27FC236}">
                <a16:creationId xmlns:a16="http://schemas.microsoft.com/office/drawing/2014/main" id="{01D77924-BD57-57C9-9F48-17D7DC439251}"/>
              </a:ext>
            </a:extLst>
          </p:cNvPr>
          <p:cNvSpPr/>
          <p:nvPr/>
        </p:nvSpPr>
        <p:spPr>
          <a:xfrm>
            <a:off x="5592414" y="3429000"/>
            <a:ext cx="437322" cy="492571"/>
          </a:xfrm>
          <a:prstGeom prst="rightArrow">
            <a:avLst/>
          </a:prstGeom>
          <a:solidFill>
            <a:schemeClr val="tx1"/>
          </a:solidFill>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0" name="Arrow: Right 19">
            <a:extLst>
              <a:ext uri="{FF2B5EF4-FFF2-40B4-BE49-F238E27FC236}">
                <a16:creationId xmlns:a16="http://schemas.microsoft.com/office/drawing/2014/main" id="{E18F5364-8FAD-A168-4662-E171A044BD2E}"/>
              </a:ext>
            </a:extLst>
          </p:cNvPr>
          <p:cNvSpPr/>
          <p:nvPr/>
        </p:nvSpPr>
        <p:spPr>
          <a:xfrm>
            <a:off x="7885034" y="3341264"/>
            <a:ext cx="384312" cy="542941"/>
          </a:xfrm>
          <a:prstGeom prst="rightArrow">
            <a:avLst/>
          </a:prstGeom>
          <a:solidFill>
            <a:schemeClr val="tx1"/>
          </a:solidFill>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1" name="Arrow: Right 20">
            <a:extLst>
              <a:ext uri="{FF2B5EF4-FFF2-40B4-BE49-F238E27FC236}">
                <a16:creationId xmlns:a16="http://schemas.microsoft.com/office/drawing/2014/main" id="{17DD0C7A-5953-CB57-77EB-C31F89884656}"/>
              </a:ext>
            </a:extLst>
          </p:cNvPr>
          <p:cNvSpPr/>
          <p:nvPr/>
        </p:nvSpPr>
        <p:spPr>
          <a:xfrm>
            <a:off x="10033961" y="3361804"/>
            <a:ext cx="443954" cy="558135"/>
          </a:xfrm>
          <a:prstGeom prst="rightArrow">
            <a:avLst/>
          </a:prstGeom>
          <a:solidFill>
            <a:schemeClr val="tx1"/>
          </a:solidFill>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5" name="Picture 4" descr="A x-ray of a person&amp;#39;s body&#10;&#10;Description automatically generated">
            <a:extLst>
              <a:ext uri="{FF2B5EF4-FFF2-40B4-BE49-F238E27FC236}">
                <a16:creationId xmlns:a16="http://schemas.microsoft.com/office/drawing/2014/main" id="{EE78F6BF-B201-3F06-D2CE-3B82F488EF4B}"/>
              </a:ext>
            </a:extLst>
          </p:cNvPr>
          <p:cNvPicPr>
            <a:picLocks noChangeAspect="1"/>
          </p:cNvPicPr>
          <p:nvPr/>
        </p:nvPicPr>
        <p:blipFill>
          <a:blip r:embed="rId3"/>
          <a:stretch>
            <a:fillRect/>
          </a:stretch>
        </p:blipFill>
        <p:spPr>
          <a:xfrm>
            <a:off x="10653332" y="2838589"/>
            <a:ext cx="1276861" cy="2201239"/>
          </a:xfrm>
          <a:prstGeom prst="rect">
            <a:avLst/>
          </a:prstGeom>
        </p:spPr>
      </p:pic>
    </p:spTree>
    <p:extLst>
      <p:ext uri="{BB962C8B-B14F-4D97-AF65-F5344CB8AC3E}">
        <p14:creationId xmlns:p14="http://schemas.microsoft.com/office/powerpoint/2010/main" val="3144033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CB2815-E967-1336-FE12-5102034C1FF3}"/>
              </a:ext>
            </a:extLst>
          </p:cNvPr>
          <p:cNvSpPr>
            <a:spLocks noGrp="1"/>
          </p:cNvSpPr>
          <p:nvPr>
            <p:ph idx="1"/>
          </p:nvPr>
        </p:nvSpPr>
        <p:spPr>
          <a:xfrm>
            <a:off x="838200" y="490206"/>
            <a:ext cx="10868989" cy="6048706"/>
          </a:xfrm>
        </p:spPr>
        <p:txBody>
          <a:bodyPr vert="horz" lIns="91440" tIns="45720" rIns="91440" bIns="45720" rtlCol="0" anchor="t">
            <a:normAutofit/>
          </a:bodyPr>
          <a:lstStyle/>
          <a:p>
            <a:pPr marL="0" indent="0" algn="just">
              <a:buNone/>
            </a:pPr>
            <a:r>
              <a:rPr lang="en-US" sz="3600" b="1">
                <a:latin typeface="Times New Roman" panose="02020603050405020304" pitchFamily="18" charset="0"/>
                <a:cs typeface="Times New Roman" panose="02020603050405020304" pitchFamily="18" charset="0"/>
              </a:rPr>
              <a:t>Deliverables:</a:t>
            </a:r>
            <a:endParaRPr lang="en-US"/>
          </a:p>
          <a:p>
            <a:pPr marL="0" indent="0" algn="just">
              <a:buNone/>
            </a:pPr>
            <a:endParaRPr lang="en-US" sz="2400">
              <a:latin typeface="Times New Roman" panose="02020603050405020304" pitchFamily="18" charset="0"/>
              <a:cs typeface="Times New Roman" panose="02020603050405020304" pitchFamily="18" charset="0"/>
            </a:endParaRPr>
          </a:p>
          <a:p>
            <a:pPr algn="just">
              <a:lnSpc>
                <a:spcPct val="100000"/>
              </a:lnSpc>
              <a:spcBef>
                <a:spcPts val="0"/>
              </a:spcBef>
            </a:pPr>
            <a:r>
              <a:rPr lang="en-US" sz="2400">
                <a:latin typeface="Times New Roman" panose="02020603050405020304" pitchFamily="18" charset="0"/>
                <a:ea typeface="+mn-lt"/>
                <a:cs typeface="Times New Roman" panose="02020603050405020304" pitchFamily="18" charset="0"/>
              </a:rPr>
              <a:t>This project develops an automated grading system for early, accurate knee osteoarthritis diagnosis, improving patient outcomes and aiding clinical decisions.</a:t>
            </a:r>
          </a:p>
          <a:p>
            <a:pPr algn="just">
              <a:lnSpc>
                <a:spcPct val="100000"/>
              </a:lnSpc>
              <a:spcBef>
                <a:spcPts val="0"/>
              </a:spcBef>
            </a:pPr>
            <a:r>
              <a:rPr kumimoji="0" lang="en-US" altLang="en-US" sz="24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Improved KOA Classification: The system enhances the accuracy of knee osteoarthritis classification through advanced techniques.</a:t>
            </a:r>
            <a:endParaRPr lang="en-US" altLang="en-US" sz="24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Precision Metrics: The model is evaluated using precision metrics like accuracy, precision, recall, and F1-score to measure performance.</a:t>
            </a:r>
            <a:endParaRPr lang="en-US" sz="2400">
              <a:latin typeface="Times New Roman" panose="02020603050405020304" pitchFamily="18" charset="0"/>
              <a:ea typeface="Calibri"/>
              <a:cs typeface="Times New Roman" panose="02020603050405020304" pitchFamily="18" charset="0"/>
            </a:endParaRPr>
          </a:p>
          <a:p>
            <a:pPr algn="just"/>
            <a:r>
              <a:rPr lang="en-US" sz="2400">
                <a:latin typeface="Times New Roman" panose="02020603050405020304" pitchFamily="18" charset="0"/>
                <a:ea typeface="+mn-lt"/>
                <a:cs typeface="Times New Roman" panose="02020603050405020304" pitchFamily="18" charset="0"/>
              </a:rPr>
              <a:t>Use of large Dataset: </a:t>
            </a:r>
            <a:r>
              <a:rPr lang="en-US" sz="2400">
                <a:latin typeface="Times New Roman" panose="02020603050405020304" pitchFamily="18" charset="0"/>
                <a:cs typeface="Times New Roman" panose="02020603050405020304" pitchFamily="18" charset="0"/>
              </a:rPr>
              <a:t>The project uses a large dataset to improve the model’s training and performance, ensuring better generalization.</a:t>
            </a:r>
            <a:endParaRPr lang="en-US" sz="2400">
              <a:latin typeface="Times New Roman" panose="02020603050405020304" pitchFamily="18" charset="0"/>
              <a:ea typeface="Calibri"/>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"The system is tested and compared with other top-performing models (state-of-the-art models) to see how well it performs.</a:t>
            </a:r>
            <a:endParaRPr lang="en-US" sz="2400">
              <a:latin typeface="Times New Roman" panose="02020603050405020304" pitchFamily="18" charset="0"/>
              <a:ea typeface="Calibri"/>
              <a:cs typeface="Times New Roman" panose="02020603050405020304" pitchFamily="18" charset="0"/>
            </a:endParaRPr>
          </a:p>
          <a:p>
            <a:pPr marL="0" indent="0" algn="just">
              <a:buNone/>
            </a:pPr>
            <a:endParaRPr lang="en-US" sz="2400">
              <a:latin typeface="Times New Roman" panose="02020603050405020304" pitchFamily="18" charset="0"/>
              <a:cs typeface="Times New Roman" panose="02020603050405020304" pitchFamily="18" charset="0"/>
            </a:endParaRPr>
          </a:p>
          <a:p>
            <a:pPr marL="0" indent="0" algn="just">
              <a:buNone/>
            </a:pPr>
            <a:endParaRPr lang="en-US" sz="2400">
              <a:latin typeface="Times New Roman" panose="02020603050405020304" pitchFamily="18" charset="0"/>
              <a:cs typeface="Times New Roman" panose="02020603050405020304" pitchFamily="18" charset="0"/>
            </a:endParaRPr>
          </a:p>
          <a:p>
            <a:pPr marL="0" indent="0" algn="just">
              <a:buNone/>
            </a:pPr>
            <a:endParaRPr lang="en-US" sz="240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9EB541B-50C9-591F-D2A2-F741E86A99F4}"/>
              </a:ext>
            </a:extLst>
          </p:cNvPr>
          <p:cNvSpPr>
            <a:spLocks noGrp="1"/>
          </p:cNvSpPr>
          <p:nvPr>
            <p:ph type="sldNum" sz="quarter" idx="12"/>
          </p:nvPr>
        </p:nvSpPr>
        <p:spPr/>
        <p:txBody>
          <a:bodyPr/>
          <a:lstStyle/>
          <a:p>
            <a:fld id="{330EA680-D336-4FF7-8B7A-9848BB0A1C32}" type="slidenum">
              <a:rPr lang="en-GB" smtClean="0"/>
              <a:t>18</a:t>
            </a:fld>
            <a:endParaRPr lang="en-US"/>
          </a:p>
        </p:txBody>
      </p:sp>
      <p:sp>
        <p:nvSpPr>
          <p:cNvPr id="5" name="Date Placeholder 4"/>
          <p:cNvSpPr>
            <a:spLocks noGrp="1"/>
          </p:cNvSpPr>
          <p:nvPr>
            <p:ph type="dt" sz="half" idx="10"/>
          </p:nvPr>
        </p:nvSpPr>
        <p:spPr/>
        <p:txBody>
          <a:bodyPr/>
          <a:lstStyle/>
          <a:p>
            <a:fld id="{43E01E0F-4775-4A7F-8E6B-CE5C524C4DA7}" type="datetime1">
              <a:rPr lang="en-IN" smtClean="0"/>
              <a:t>22-11-2024</a:t>
            </a:fld>
            <a:endParaRPr lang="en-GB"/>
          </a:p>
        </p:txBody>
      </p:sp>
      <p:sp>
        <p:nvSpPr>
          <p:cNvPr id="4" name="Footer Placeholder 3">
            <a:extLst>
              <a:ext uri="{FF2B5EF4-FFF2-40B4-BE49-F238E27FC236}">
                <a16:creationId xmlns:a16="http://schemas.microsoft.com/office/drawing/2014/main" id="{E22786DF-D88B-F49F-2934-D55109147B74}"/>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429493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E1F7009-90EE-B63C-5F53-9EF6A7E5B411}"/>
              </a:ext>
            </a:extLst>
          </p:cNvPr>
          <p:cNvSpPr>
            <a:spLocks noGrp="1"/>
          </p:cNvSpPr>
          <p:nvPr>
            <p:ph type="title"/>
          </p:nvPr>
        </p:nvSpPr>
        <p:spPr/>
        <p:txBody>
          <a:bodyPr/>
          <a:lstStyle/>
          <a:p>
            <a:r>
              <a:rPr lang="en-US" sz="3600" b="1">
                <a:latin typeface="Times New Roman"/>
                <a:cs typeface="Calibri" panose="020F0502020204030204"/>
              </a:rPr>
              <a:t>Timeline:</a:t>
            </a:r>
            <a:br>
              <a:rPr lang="en-US" sz="4400" b="1">
                <a:latin typeface="Times New Roman"/>
                <a:cs typeface="Calibri" panose="020F0502020204030204"/>
              </a:rPr>
            </a:br>
            <a:endParaRPr lang="en-IN"/>
          </a:p>
        </p:txBody>
      </p:sp>
      <p:sp>
        <p:nvSpPr>
          <p:cNvPr id="3" name="Content Placeholder 2">
            <a:extLst>
              <a:ext uri="{FF2B5EF4-FFF2-40B4-BE49-F238E27FC236}">
                <a16:creationId xmlns:a16="http://schemas.microsoft.com/office/drawing/2014/main" id="{A1CB2815-E967-1336-FE12-5102034C1FF3}"/>
              </a:ext>
            </a:extLst>
          </p:cNvPr>
          <p:cNvSpPr>
            <a:spLocks noGrp="1"/>
          </p:cNvSpPr>
          <p:nvPr>
            <p:ph idx="1"/>
          </p:nvPr>
        </p:nvSpPr>
        <p:spPr/>
        <p:txBody>
          <a:bodyPr vert="horz" lIns="91440" tIns="45720" rIns="91440" bIns="45720" rtlCol="0" anchor="t">
            <a:normAutofit/>
          </a:bodyPr>
          <a:lstStyle/>
          <a:p>
            <a:pPr marL="0" indent="0">
              <a:buNone/>
            </a:pPr>
            <a:endParaRPr lang="en-US" sz="3200" b="1">
              <a:latin typeface="Times New Roman"/>
              <a:cs typeface="Calibri" panose="020F0502020204030204"/>
            </a:endParaRPr>
          </a:p>
          <a:p>
            <a:pPr marL="0" indent="0">
              <a:buNone/>
            </a:pPr>
            <a:endParaRPr lang="en-US" sz="3200" b="1">
              <a:latin typeface="Times New Roman"/>
              <a:cs typeface="Calibri" panose="020F0502020204030204"/>
            </a:endParaRPr>
          </a:p>
        </p:txBody>
      </p:sp>
      <p:sp>
        <p:nvSpPr>
          <p:cNvPr id="5" name="Date Placeholder 4"/>
          <p:cNvSpPr>
            <a:spLocks noGrp="1"/>
          </p:cNvSpPr>
          <p:nvPr>
            <p:ph type="dt" sz="half" idx="10"/>
          </p:nvPr>
        </p:nvSpPr>
        <p:spPr/>
        <p:txBody>
          <a:bodyPr/>
          <a:lstStyle/>
          <a:p>
            <a:fld id="{97BC9F1C-7DAF-426D-A091-1E7C519902F6}" type="datetime1">
              <a:rPr lang="en-IN" smtClean="0"/>
              <a:t>22-11-2024</a:t>
            </a:fld>
            <a:endParaRPr lang="en-GB"/>
          </a:p>
        </p:txBody>
      </p:sp>
      <p:sp>
        <p:nvSpPr>
          <p:cNvPr id="4" name="Footer Placeholder 3">
            <a:extLst>
              <a:ext uri="{FF2B5EF4-FFF2-40B4-BE49-F238E27FC236}">
                <a16:creationId xmlns:a16="http://schemas.microsoft.com/office/drawing/2014/main" id="{844271F0-D85C-D663-5451-517B70E6BF89}"/>
              </a:ext>
            </a:extLst>
          </p:cNvPr>
          <p:cNvSpPr>
            <a:spLocks noGrp="1"/>
          </p:cNvSpPr>
          <p:nvPr>
            <p:ph type="ftr" sz="quarter" idx="11"/>
          </p:nvPr>
        </p:nvSpPr>
        <p:spPr/>
        <p:txBody>
          <a:bodyPr/>
          <a:lstStyle/>
          <a:p>
            <a:r>
              <a:rPr lang="en-GB"/>
              <a:t>Review 1.1</a:t>
            </a:r>
          </a:p>
        </p:txBody>
      </p:sp>
      <p:sp>
        <p:nvSpPr>
          <p:cNvPr id="2" name="Slide Number Placeholder 1">
            <a:extLst>
              <a:ext uri="{FF2B5EF4-FFF2-40B4-BE49-F238E27FC236}">
                <a16:creationId xmlns:a16="http://schemas.microsoft.com/office/drawing/2014/main" id="{29EB541B-50C9-591F-D2A2-F741E86A99F4}"/>
              </a:ext>
            </a:extLst>
          </p:cNvPr>
          <p:cNvSpPr>
            <a:spLocks noGrp="1"/>
          </p:cNvSpPr>
          <p:nvPr>
            <p:ph type="sldNum" sz="quarter" idx="12"/>
          </p:nvPr>
        </p:nvSpPr>
        <p:spPr/>
        <p:txBody>
          <a:bodyPr/>
          <a:lstStyle/>
          <a:p>
            <a:fld id="{330EA680-D336-4FF7-8B7A-9848BB0A1C32}" type="slidenum">
              <a:rPr lang="en-GB" smtClean="0"/>
              <a:t>19</a:t>
            </a:fld>
            <a:endParaRPr lang="en-US"/>
          </a:p>
        </p:txBody>
      </p:sp>
      <p:graphicFrame>
        <p:nvGraphicFramePr>
          <p:cNvPr id="8" name="Table 7">
            <a:extLst>
              <a:ext uri="{FF2B5EF4-FFF2-40B4-BE49-F238E27FC236}">
                <a16:creationId xmlns:a16="http://schemas.microsoft.com/office/drawing/2014/main" id="{0F1D24F0-4CBA-2212-FE6D-115407DCE278}"/>
              </a:ext>
            </a:extLst>
          </p:cNvPr>
          <p:cNvGraphicFramePr>
            <a:graphicFrameLocks noGrp="1"/>
          </p:cNvGraphicFramePr>
          <p:nvPr>
            <p:extLst>
              <p:ext uri="{D42A27DB-BD31-4B8C-83A1-F6EECF244321}">
                <p14:modId xmlns:p14="http://schemas.microsoft.com/office/powerpoint/2010/main" val="1460063069"/>
              </p:ext>
            </p:extLst>
          </p:nvPr>
        </p:nvGraphicFramePr>
        <p:xfrm>
          <a:off x="1181528" y="1510301"/>
          <a:ext cx="9246742" cy="4561727"/>
        </p:xfrm>
        <a:graphic>
          <a:graphicData uri="http://schemas.openxmlformats.org/drawingml/2006/table">
            <a:tbl>
              <a:tblPr firstRow="1" firstCol="1" lastRow="1" lastCol="1" bandRow="1" bandCol="1">
                <a:tableStyleId>{93296810-A885-4BE3-A3E7-6D5BEEA58F35}</a:tableStyleId>
              </a:tblPr>
              <a:tblGrid>
                <a:gridCol w="1727173">
                  <a:extLst>
                    <a:ext uri="{9D8B030D-6E8A-4147-A177-3AD203B41FA5}">
                      <a16:colId xmlns:a16="http://schemas.microsoft.com/office/drawing/2014/main" val="283917520"/>
                    </a:ext>
                  </a:extLst>
                </a:gridCol>
                <a:gridCol w="1914090">
                  <a:extLst>
                    <a:ext uri="{9D8B030D-6E8A-4147-A177-3AD203B41FA5}">
                      <a16:colId xmlns:a16="http://schemas.microsoft.com/office/drawing/2014/main" val="523545415"/>
                    </a:ext>
                  </a:extLst>
                </a:gridCol>
                <a:gridCol w="5605479">
                  <a:extLst>
                    <a:ext uri="{9D8B030D-6E8A-4147-A177-3AD203B41FA5}">
                      <a16:colId xmlns:a16="http://schemas.microsoft.com/office/drawing/2014/main" val="2943249166"/>
                    </a:ext>
                  </a:extLst>
                </a:gridCol>
              </a:tblGrid>
              <a:tr h="604895">
                <a:tc>
                  <a:txBody>
                    <a:bodyPr/>
                    <a:lstStyle/>
                    <a:p>
                      <a:pPr marL="25400" marR="635" algn="ctr">
                        <a:spcBef>
                          <a:spcPts val="655"/>
                        </a:spcBef>
                        <a:spcAft>
                          <a:spcPts val="0"/>
                        </a:spcAft>
                      </a:pPr>
                      <a:r>
                        <a:rPr lang="en-US" sz="1800" b="1" spc="-10">
                          <a:solidFill>
                            <a:schemeClr val="tx1"/>
                          </a:solidFill>
                          <a:effectLst/>
                          <a:latin typeface="Times New Roman" panose="02020603050405020304" pitchFamily="18" charset="0"/>
                          <a:cs typeface="Times New Roman" panose="02020603050405020304" pitchFamily="18" charset="0"/>
                        </a:rPr>
                        <a:t>Review</a:t>
                      </a:r>
                      <a:endParaRPr lang="en-IN" sz="1800" b="1">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solidFill>
                  </a:tcPr>
                </a:tc>
                <a:tc>
                  <a:txBody>
                    <a:bodyPr/>
                    <a:lstStyle/>
                    <a:p>
                      <a:pPr marL="46990" marR="22860" algn="ctr">
                        <a:spcBef>
                          <a:spcPts val="655"/>
                        </a:spcBef>
                        <a:spcAft>
                          <a:spcPts val="0"/>
                        </a:spcAft>
                      </a:pPr>
                      <a:r>
                        <a:rPr lang="en-US" sz="1800" b="1" spc="-20">
                          <a:solidFill>
                            <a:schemeClr val="tx1"/>
                          </a:solidFill>
                          <a:effectLst/>
                          <a:latin typeface="Times New Roman" panose="02020603050405020304" pitchFamily="18" charset="0"/>
                          <a:cs typeface="Times New Roman" panose="02020603050405020304" pitchFamily="18" charset="0"/>
                        </a:rPr>
                        <a:t>Month</a:t>
                      </a:r>
                      <a:endParaRPr lang="en-IN" sz="1800" b="1">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solidFill>
                  </a:tcPr>
                </a:tc>
                <a:tc>
                  <a:txBody>
                    <a:bodyPr/>
                    <a:lstStyle/>
                    <a:p>
                      <a:pPr marL="23495" algn="ctr">
                        <a:spcBef>
                          <a:spcPts val="595"/>
                        </a:spcBef>
                        <a:spcAft>
                          <a:spcPts val="0"/>
                        </a:spcAft>
                      </a:pPr>
                      <a:r>
                        <a:rPr lang="en-US" sz="1800" b="1" spc="-10">
                          <a:solidFill>
                            <a:schemeClr val="tx1"/>
                          </a:solidFill>
                          <a:effectLst/>
                          <a:latin typeface="Times New Roman" panose="02020603050405020304" pitchFamily="18" charset="0"/>
                          <a:cs typeface="Times New Roman" panose="02020603050405020304" pitchFamily="18" charset="0"/>
                        </a:rPr>
                        <a:t>Milestone</a:t>
                      </a:r>
                      <a:endParaRPr lang="en-IN" sz="1800" b="1">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solidFill>
                  </a:tcPr>
                </a:tc>
                <a:extLst>
                  <a:ext uri="{0D108BD9-81ED-4DB2-BD59-A6C34878D82A}">
                    <a16:rowId xmlns:a16="http://schemas.microsoft.com/office/drawing/2014/main" val="2050362651"/>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1.1</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pPr marL="46990" marR="22860" algn="ctr">
                        <a:spcBef>
                          <a:spcPts val="77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Aug</a:t>
                      </a:r>
                      <a:r>
                        <a:rPr lang="en-US" sz="1800" b="0" spc="-15">
                          <a:solidFill>
                            <a:schemeClr val="tx1"/>
                          </a:solidFill>
                          <a:effectLst/>
                          <a:latin typeface="Times New Roman" panose="02020603050405020304" pitchFamily="18" charset="0"/>
                          <a:cs typeface="Times New Roman" panose="02020603050405020304" pitchFamily="18" charset="0"/>
                        </a:rPr>
                        <a:t> </a:t>
                      </a:r>
                      <a:r>
                        <a:rPr lang="en-US" sz="1800" b="0" spc="-20">
                          <a:solidFill>
                            <a:schemeClr val="tx1"/>
                          </a:solidFill>
                          <a:effectLst/>
                          <a:latin typeface="Times New Roman" panose="02020603050405020304" pitchFamily="18" charset="0"/>
                          <a:cs typeface="Times New Roman" panose="02020603050405020304" pitchFamily="18" charset="0"/>
                        </a:rPr>
                        <a:t>2024</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r>
                        <a:rPr lang="en-US" sz="1800" b="0">
                          <a:solidFill>
                            <a:schemeClr val="tx1"/>
                          </a:solidFill>
                          <a:effectLst/>
                          <a:latin typeface="Times New Roman" panose="02020603050405020304" pitchFamily="18" charset="0"/>
                          <a:cs typeface="Times New Roman" panose="02020603050405020304" pitchFamily="18" charset="0"/>
                        </a:rPr>
                        <a:t>    Data preparation, Data Preprocessing</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lumMod val="40000"/>
                        <a:lumOff val="60000"/>
                      </a:schemeClr>
                    </a:solidFill>
                  </a:tcPr>
                </a:tc>
                <a:extLst>
                  <a:ext uri="{0D108BD9-81ED-4DB2-BD59-A6C34878D82A}">
                    <a16:rowId xmlns:a16="http://schemas.microsoft.com/office/drawing/2014/main" val="1674516643"/>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1.2</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pPr marL="46990" marR="22860" algn="ctr">
                        <a:spcBef>
                          <a:spcPts val="770"/>
                        </a:spcBef>
                        <a:spcAft>
                          <a:spcPts val="0"/>
                        </a:spcAft>
                      </a:pPr>
                      <a:r>
                        <a:rPr lang="en-US" sz="1800" b="0" dirty="0">
                          <a:solidFill>
                            <a:schemeClr val="tx1"/>
                          </a:solidFill>
                          <a:effectLst/>
                          <a:latin typeface="Times New Roman" panose="02020603050405020304" pitchFamily="18" charset="0"/>
                          <a:cs typeface="Times New Roman" panose="02020603050405020304" pitchFamily="18" charset="0"/>
                        </a:rPr>
                        <a:t>Sep</a:t>
                      </a:r>
                      <a:r>
                        <a:rPr lang="en-US" sz="1800" b="0" spc="-25" dirty="0">
                          <a:solidFill>
                            <a:schemeClr val="tx1"/>
                          </a:solidFill>
                          <a:effectLst/>
                          <a:latin typeface="Times New Roman" panose="02020603050405020304" pitchFamily="18" charset="0"/>
                          <a:cs typeface="Times New Roman" panose="02020603050405020304" pitchFamily="18" charset="0"/>
                        </a:rPr>
                        <a:t> </a:t>
                      </a:r>
                      <a:r>
                        <a:rPr lang="en-US" sz="1800" b="0" spc="-20" dirty="0">
                          <a:solidFill>
                            <a:schemeClr val="tx1"/>
                          </a:solidFill>
                          <a:effectLst/>
                          <a:latin typeface="Times New Roman" panose="02020603050405020304" pitchFamily="18" charset="0"/>
                          <a:cs typeface="Times New Roman" panose="02020603050405020304" pitchFamily="18" charset="0"/>
                        </a:rPr>
                        <a:t>2024</a:t>
                      </a:r>
                      <a:endParaRPr lang="en-IN" sz="1800" b="0" dirty="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r>
                        <a:rPr lang="en-US" sz="1800" b="0">
                          <a:solidFill>
                            <a:schemeClr val="tx1"/>
                          </a:solidFill>
                          <a:effectLst/>
                          <a:latin typeface="Times New Roman" panose="02020603050405020304" pitchFamily="18" charset="0"/>
                          <a:cs typeface="Times New Roman" panose="02020603050405020304" pitchFamily="18" charset="0"/>
                        </a:rPr>
                        <a:t>    Literature survey</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289918708"/>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1.3</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pPr marL="46990" marR="25400" algn="ctr">
                        <a:spcBef>
                          <a:spcPts val="77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Nov</a:t>
                      </a:r>
                      <a:r>
                        <a:rPr lang="en-US" sz="1800" b="0" spc="-5">
                          <a:solidFill>
                            <a:schemeClr val="tx1"/>
                          </a:solidFill>
                          <a:effectLst/>
                          <a:latin typeface="Times New Roman" panose="02020603050405020304" pitchFamily="18" charset="0"/>
                          <a:cs typeface="Times New Roman" panose="02020603050405020304" pitchFamily="18" charset="0"/>
                        </a:rPr>
                        <a:t> </a:t>
                      </a:r>
                      <a:r>
                        <a:rPr lang="en-US" sz="1800" b="0" spc="-20">
                          <a:solidFill>
                            <a:schemeClr val="tx1"/>
                          </a:solidFill>
                          <a:effectLst/>
                          <a:latin typeface="Times New Roman" panose="02020603050405020304" pitchFamily="18" charset="0"/>
                          <a:cs typeface="Times New Roman" panose="02020603050405020304" pitchFamily="18" charset="0"/>
                        </a:rPr>
                        <a:t>2024</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r>
                        <a:rPr lang="en-US" sz="1800" b="0">
                          <a:solidFill>
                            <a:schemeClr val="tx1"/>
                          </a:solidFill>
                          <a:effectLst/>
                          <a:latin typeface="Times New Roman" panose="02020603050405020304" pitchFamily="18" charset="0"/>
                          <a:cs typeface="Times New Roman" panose="02020603050405020304" pitchFamily="18" charset="0"/>
                        </a:rPr>
                        <a:t>    Building of classification model </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lumMod val="40000"/>
                        <a:lumOff val="60000"/>
                      </a:schemeClr>
                    </a:solidFill>
                  </a:tcPr>
                </a:tc>
                <a:extLst>
                  <a:ext uri="{0D108BD9-81ED-4DB2-BD59-A6C34878D82A}">
                    <a16:rowId xmlns:a16="http://schemas.microsoft.com/office/drawing/2014/main" val="434954233"/>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2.1</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pPr marL="46990" marR="22860" algn="ctr">
                        <a:spcBef>
                          <a:spcPts val="77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Jan</a:t>
                      </a:r>
                      <a:r>
                        <a:rPr lang="en-US" sz="1800" b="0" spc="-15">
                          <a:solidFill>
                            <a:schemeClr val="tx1"/>
                          </a:solidFill>
                          <a:effectLst/>
                          <a:latin typeface="Times New Roman" panose="02020603050405020304" pitchFamily="18" charset="0"/>
                          <a:cs typeface="Times New Roman" panose="02020603050405020304" pitchFamily="18" charset="0"/>
                        </a:rPr>
                        <a:t> </a:t>
                      </a:r>
                      <a:r>
                        <a:rPr lang="en-US" sz="1800" b="0" spc="-20">
                          <a:solidFill>
                            <a:schemeClr val="tx1"/>
                          </a:solidFill>
                          <a:effectLst/>
                          <a:latin typeface="Times New Roman" panose="02020603050405020304" pitchFamily="18" charset="0"/>
                          <a:cs typeface="Times New Roman" panose="02020603050405020304" pitchFamily="18" charset="0"/>
                        </a:rPr>
                        <a:t>2025</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r>
                        <a:rPr lang="en-US" sz="1800" b="0">
                          <a:solidFill>
                            <a:schemeClr val="tx1"/>
                          </a:solidFill>
                          <a:effectLst/>
                          <a:latin typeface="Times New Roman" panose="02020603050405020304" pitchFamily="18" charset="0"/>
                          <a:cs typeface="Times New Roman" panose="02020603050405020304" pitchFamily="18" charset="0"/>
                        </a:rPr>
                        <a:t>    Validation and performance comparison, Paper draft</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3394255781"/>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2.2</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pPr marL="46990" marR="25400" algn="ctr">
                        <a:spcBef>
                          <a:spcPts val="77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Mar</a:t>
                      </a:r>
                      <a:r>
                        <a:rPr lang="en-US" sz="1800" b="0" spc="-25">
                          <a:solidFill>
                            <a:schemeClr val="tx1"/>
                          </a:solidFill>
                          <a:effectLst/>
                          <a:latin typeface="Times New Roman" panose="02020603050405020304" pitchFamily="18" charset="0"/>
                          <a:cs typeface="Times New Roman" panose="02020603050405020304" pitchFamily="18" charset="0"/>
                        </a:rPr>
                        <a:t> </a:t>
                      </a:r>
                      <a:r>
                        <a:rPr lang="en-US" sz="1800" b="0" spc="-20">
                          <a:solidFill>
                            <a:schemeClr val="tx1"/>
                          </a:solidFill>
                          <a:effectLst/>
                          <a:latin typeface="Times New Roman" panose="02020603050405020304" pitchFamily="18" charset="0"/>
                          <a:cs typeface="Times New Roman" panose="02020603050405020304" pitchFamily="18" charset="0"/>
                        </a:rPr>
                        <a:t>2025</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tc>
                  <a:txBody>
                    <a:bodyPr/>
                    <a:lstStyle/>
                    <a:p>
                      <a:pPr marL="115570">
                        <a:spcBef>
                          <a:spcPts val="71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Paper</a:t>
                      </a:r>
                      <a:r>
                        <a:rPr lang="en-US" sz="1800" b="0" spc="-50">
                          <a:solidFill>
                            <a:schemeClr val="tx1"/>
                          </a:solidFill>
                          <a:effectLst/>
                          <a:latin typeface="Times New Roman" panose="02020603050405020304" pitchFamily="18" charset="0"/>
                          <a:cs typeface="Times New Roman" panose="02020603050405020304" pitchFamily="18" charset="0"/>
                        </a:rPr>
                        <a:t> </a:t>
                      </a:r>
                      <a:r>
                        <a:rPr lang="en-US" sz="1800" b="0" spc="-10">
                          <a:solidFill>
                            <a:schemeClr val="tx1"/>
                          </a:solidFill>
                          <a:effectLst/>
                          <a:latin typeface="Times New Roman" panose="02020603050405020304" pitchFamily="18" charset="0"/>
                          <a:cs typeface="Times New Roman" panose="02020603050405020304" pitchFamily="18" charset="0"/>
                        </a:rPr>
                        <a:t>Draft</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185584357"/>
                  </a:ext>
                </a:extLst>
              </a:tr>
              <a:tr h="659472">
                <a:tc>
                  <a:txBody>
                    <a:bodyPr/>
                    <a:lstStyle/>
                    <a:p>
                      <a:pPr marL="25400" algn="ctr">
                        <a:spcBef>
                          <a:spcPts val="770"/>
                        </a:spcBef>
                        <a:spcAft>
                          <a:spcPts val="0"/>
                        </a:spcAft>
                      </a:pPr>
                      <a:r>
                        <a:rPr lang="en-US" sz="1800" b="0" spc="-25">
                          <a:solidFill>
                            <a:schemeClr val="tx1"/>
                          </a:solidFill>
                          <a:effectLst/>
                          <a:latin typeface="Times New Roman" panose="02020603050405020304" pitchFamily="18" charset="0"/>
                          <a:cs typeface="Times New Roman" panose="02020603050405020304" pitchFamily="18" charset="0"/>
                        </a:rPr>
                        <a:t>2.3</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pPr marL="46990" algn="ctr">
                        <a:spcBef>
                          <a:spcPts val="5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May</a:t>
                      </a:r>
                      <a:r>
                        <a:rPr lang="en-US" sz="1800" b="0" spc="-20">
                          <a:solidFill>
                            <a:schemeClr val="tx1"/>
                          </a:solidFill>
                          <a:effectLst/>
                          <a:latin typeface="Times New Roman" panose="02020603050405020304" pitchFamily="18" charset="0"/>
                          <a:cs typeface="Times New Roman" panose="02020603050405020304" pitchFamily="18" charset="0"/>
                        </a:rPr>
                        <a:t> 2025</a:t>
                      </a:r>
                      <a:endParaRPr lang="en-IN" sz="1800" b="0">
                        <a:solidFill>
                          <a:schemeClr val="tx1"/>
                        </a:solidFill>
                        <a:effectLst/>
                        <a:latin typeface="Times New Roman" panose="02020603050405020304" pitchFamily="18" charset="0"/>
                        <a:cs typeface="Times New Roman" panose="02020603050405020304" pitchFamily="18" charset="0"/>
                      </a:endParaRPr>
                    </a:p>
                    <a:p>
                      <a:pPr marL="46990" marR="31115" algn="ctr">
                        <a:lnSpc>
                          <a:spcPts val="1305"/>
                        </a:lnSpc>
                        <a:spcBef>
                          <a:spcPts val="100"/>
                        </a:spcBef>
                        <a:spcAft>
                          <a:spcPts val="0"/>
                        </a:spcAft>
                      </a:pPr>
                      <a:r>
                        <a:rPr lang="en-US" sz="1800" b="0">
                          <a:solidFill>
                            <a:schemeClr val="tx1"/>
                          </a:solidFill>
                          <a:effectLst/>
                          <a:latin typeface="Times New Roman" panose="02020603050405020304" pitchFamily="18" charset="0"/>
                          <a:cs typeface="Times New Roman" panose="02020603050405020304" pitchFamily="18" charset="0"/>
                        </a:rPr>
                        <a:t>(External</a:t>
                      </a:r>
                      <a:r>
                        <a:rPr lang="en-US" sz="1800" b="0" spc="-30">
                          <a:solidFill>
                            <a:schemeClr val="tx1"/>
                          </a:solidFill>
                          <a:effectLst/>
                          <a:latin typeface="Times New Roman" panose="02020603050405020304" pitchFamily="18" charset="0"/>
                          <a:cs typeface="Times New Roman" panose="02020603050405020304" pitchFamily="18" charset="0"/>
                        </a:rPr>
                        <a:t> </a:t>
                      </a:r>
                      <a:r>
                        <a:rPr lang="en-US" sz="1800" b="0" spc="-10">
                          <a:solidFill>
                            <a:schemeClr val="tx1"/>
                          </a:solidFill>
                          <a:effectLst/>
                          <a:latin typeface="Times New Roman" panose="02020603050405020304" pitchFamily="18" charset="0"/>
                          <a:cs typeface="Times New Roman" panose="02020603050405020304" pitchFamily="18" charset="0"/>
                        </a:rPr>
                        <a:t>Review)</a:t>
                      </a:r>
                      <a:endParaRPr lang="en-IN" sz="1800" b="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tc>
                  <a:txBody>
                    <a:bodyPr/>
                    <a:lstStyle/>
                    <a:p>
                      <a:pPr marL="115570">
                        <a:spcBef>
                          <a:spcPts val="710"/>
                        </a:spcBef>
                        <a:spcAft>
                          <a:spcPts val="0"/>
                        </a:spcAft>
                      </a:pPr>
                      <a:r>
                        <a:rPr lang="en-US" sz="1800" b="0" dirty="0">
                          <a:solidFill>
                            <a:schemeClr val="tx1"/>
                          </a:solidFill>
                          <a:effectLst/>
                          <a:latin typeface="Times New Roman" panose="02020603050405020304" pitchFamily="18" charset="0"/>
                          <a:cs typeface="Times New Roman" panose="02020603050405020304" pitchFamily="18" charset="0"/>
                        </a:rPr>
                        <a:t>Project</a:t>
                      </a:r>
                      <a:r>
                        <a:rPr lang="en-US" sz="1800" b="0" spc="-35" dirty="0">
                          <a:solidFill>
                            <a:schemeClr val="tx1"/>
                          </a:solidFill>
                          <a:effectLst/>
                          <a:latin typeface="Times New Roman" panose="02020603050405020304" pitchFamily="18" charset="0"/>
                          <a:cs typeface="Times New Roman" panose="02020603050405020304" pitchFamily="18" charset="0"/>
                        </a:rPr>
                        <a:t> </a:t>
                      </a:r>
                      <a:r>
                        <a:rPr lang="en-US" sz="1800" b="0" dirty="0">
                          <a:solidFill>
                            <a:schemeClr val="tx1"/>
                          </a:solidFill>
                          <a:effectLst/>
                          <a:latin typeface="Times New Roman" panose="02020603050405020304" pitchFamily="18" charset="0"/>
                          <a:cs typeface="Times New Roman" panose="02020603050405020304" pitchFamily="18" charset="0"/>
                        </a:rPr>
                        <a:t>Report</a:t>
                      </a:r>
                      <a:r>
                        <a:rPr lang="en-US" sz="1800" b="0" spc="-35" dirty="0">
                          <a:solidFill>
                            <a:schemeClr val="tx1"/>
                          </a:solidFill>
                          <a:effectLst/>
                          <a:latin typeface="Times New Roman" panose="02020603050405020304" pitchFamily="18" charset="0"/>
                          <a:cs typeface="Times New Roman" panose="02020603050405020304" pitchFamily="18" charset="0"/>
                        </a:rPr>
                        <a:t> </a:t>
                      </a:r>
                      <a:r>
                        <a:rPr lang="en-US" sz="1800" b="0" dirty="0">
                          <a:solidFill>
                            <a:schemeClr val="tx1"/>
                          </a:solidFill>
                          <a:effectLst/>
                          <a:latin typeface="Times New Roman" panose="02020603050405020304" pitchFamily="18" charset="0"/>
                          <a:cs typeface="Times New Roman" panose="02020603050405020304" pitchFamily="18" charset="0"/>
                        </a:rPr>
                        <a:t>/</a:t>
                      </a:r>
                      <a:r>
                        <a:rPr lang="en-US" sz="1800" b="0" spc="-25" dirty="0">
                          <a:solidFill>
                            <a:schemeClr val="tx1"/>
                          </a:solidFill>
                          <a:effectLst/>
                          <a:latin typeface="Times New Roman" panose="02020603050405020304" pitchFamily="18" charset="0"/>
                          <a:cs typeface="Times New Roman" panose="02020603050405020304" pitchFamily="18" charset="0"/>
                        </a:rPr>
                        <a:t> </a:t>
                      </a:r>
                      <a:r>
                        <a:rPr lang="en-US" sz="1800" b="0" spc="-10" dirty="0">
                          <a:solidFill>
                            <a:schemeClr val="tx1"/>
                          </a:solidFill>
                          <a:effectLst/>
                          <a:latin typeface="Times New Roman" panose="02020603050405020304" pitchFamily="18" charset="0"/>
                          <a:cs typeface="Times New Roman" panose="02020603050405020304" pitchFamily="18" charset="0"/>
                        </a:rPr>
                        <a:t>Dissertation</a:t>
                      </a:r>
                      <a:endParaRPr lang="en-IN" sz="1800" b="0" dirty="0">
                        <a:solidFill>
                          <a:schemeClr val="tx1"/>
                        </a:solidFill>
                        <a:effectLst/>
                        <a:latin typeface="Times New Roman" panose="02020603050405020304" pitchFamily="18" charset="0"/>
                        <a:ea typeface="Calibri"/>
                        <a:cs typeface="Times New Roman" panose="02020603050405020304" pitchFamily="18" charset="0"/>
                      </a:endParaRPr>
                    </a:p>
                  </a:txBody>
                  <a:tcPr marL="0" marR="0" marT="0" marB="0">
                    <a:solidFill>
                      <a:schemeClr val="accent2">
                        <a:lumMod val="60000"/>
                        <a:lumOff val="40000"/>
                      </a:schemeClr>
                    </a:solidFill>
                  </a:tcPr>
                </a:tc>
                <a:extLst>
                  <a:ext uri="{0D108BD9-81ED-4DB2-BD59-A6C34878D82A}">
                    <a16:rowId xmlns:a16="http://schemas.microsoft.com/office/drawing/2014/main" val="4171470540"/>
                  </a:ext>
                </a:extLst>
              </a:tr>
            </a:tbl>
          </a:graphicData>
        </a:graphic>
      </p:graphicFrame>
    </p:spTree>
    <p:extLst>
      <p:ext uri="{BB962C8B-B14F-4D97-AF65-F5344CB8AC3E}">
        <p14:creationId xmlns:p14="http://schemas.microsoft.com/office/powerpoint/2010/main" val="2452915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F4767-397C-F01D-14CB-725074B10F72}"/>
              </a:ext>
            </a:extLst>
          </p:cNvPr>
          <p:cNvSpPr>
            <a:spLocks noGrp="1"/>
          </p:cNvSpPr>
          <p:nvPr>
            <p:ph type="title"/>
          </p:nvPr>
        </p:nvSpPr>
        <p:spPr>
          <a:xfrm>
            <a:off x="705679" y="-432777"/>
            <a:ext cx="10449339" cy="1734171"/>
          </a:xfrm>
        </p:spPr>
        <p:txBody>
          <a:bodyPr>
            <a:normAutofit/>
          </a:bodyPr>
          <a:lstStyle/>
          <a:p>
            <a:br>
              <a:rPr lang="en-US" sz="3600" b="1">
                <a:latin typeface="Times New Roman"/>
                <a:cs typeface="Calibri Light"/>
              </a:rPr>
            </a:br>
            <a:r>
              <a:rPr lang="en-US" sz="3600" b="1">
                <a:latin typeface="Times New Roman"/>
                <a:cs typeface="Calibri Light"/>
              </a:rPr>
              <a:t>Summary:</a:t>
            </a:r>
            <a:endParaRPr lang="en-US" sz="3600" b="1">
              <a:latin typeface="Times New Roman"/>
              <a:cs typeface="Times New Roman"/>
            </a:endParaRPr>
          </a:p>
        </p:txBody>
      </p:sp>
      <p:sp>
        <p:nvSpPr>
          <p:cNvPr id="4" name="Slide Number Placeholder 3">
            <a:extLst>
              <a:ext uri="{FF2B5EF4-FFF2-40B4-BE49-F238E27FC236}">
                <a16:creationId xmlns:a16="http://schemas.microsoft.com/office/drawing/2014/main" id="{7D4D30DA-6388-5310-3FA9-1186394147C3}"/>
              </a:ext>
            </a:extLst>
          </p:cNvPr>
          <p:cNvSpPr>
            <a:spLocks noGrp="1"/>
          </p:cNvSpPr>
          <p:nvPr>
            <p:ph type="sldNum" sz="quarter" idx="12"/>
          </p:nvPr>
        </p:nvSpPr>
        <p:spPr/>
        <p:txBody>
          <a:bodyPr/>
          <a:lstStyle/>
          <a:p>
            <a:fld id="{330EA680-D336-4FF7-8B7A-9848BB0A1C32}" type="slidenum">
              <a:rPr lang="en-GB" smtClean="0"/>
              <a:t>20</a:t>
            </a:fld>
            <a:endParaRPr lang="en-US"/>
          </a:p>
        </p:txBody>
      </p:sp>
      <p:sp>
        <p:nvSpPr>
          <p:cNvPr id="6" name="Date Placeholder 5"/>
          <p:cNvSpPr>
            <a:spLocks noGrp="1"/>
          </p:cNvSpPr>
          <p:nvPr>
            <p:ph type="dt" sz="half" idx="10"/>
          </p:nvPr>
        </p:nvSpPr>
        <p:spPr/>
        <p:txBody>
          <a:bodyPr/>
          <a:lstStyle/>
          <a:p>
            <a:fld id="{52AF8E22-BD7F-4DEA-9852-A5D7B1E55772}" type="datetime1">
              <a:rPr lang="en-IN" smtClean="0"/>
              <a:t>22-11-2024</a:t>
            </a:fld>
            <a:endParaRPr lang="en-GB"/>
          </a:p>
        </p:txBody>
      </p:sp>
      <p:sp>
        <p:nvSpPr>
          <p:cNvPr id="3" name="Footer Placeholder 2">
            <a:extLst>
              <a:ext uri="{FF2B5EF4-FFF2-40B4-BE49-F238E27FC236}">
                <a16:creationId xmlns:a16="http://schemas.microsoft.com/office/drawing/2014/main" id="{7BF49557-1FA0-5A65-8B52-A9D6BC06BCE8}"/>
              </a:ext>
            </a:extLst>
          </p:cNvPr>
          <p:cNvSpPr>
            <a:spLocks noGrp="1"/>
          </p:cNvSpPr>
          <p:nvPr>
            <p:ph type="ftr" sz="quarter" idx="11"/>
          </p:nvPr>
        </p:nvSpPr>
        <p:spPr/>
        <p:txBody>
          <a:bodyPr/>
          <a:lstStyle/>
          <a:p>
            <a:r>
              <a:rPr lang="en-GB"/>
              <a:t>Review 1.1</a:t>
            </a:r>
          </a:p>
        </p:txBody>
      </p:sp>
      <p:sp>
        <p:nvSpPr>
          <p:cNvPr id="10" name="TextBox 9">
            <a:extLst>
              <a:ext uri="{FF2B5EF4-FFF2-40B4-BE49-F238E27FC236}">
                <a16:creationId xmlns:a16="http://schemas.microsoft.com/office/drawing/2014/main" id="{6FAA91E6-B9EB-40F0-3587-19099722B97B}"/>
              </a:ext>
            </a:extLst>
          </p:cNvPr>
          <p:cNvSpPr txBox="1"/>
          <p:nvPr/>
        </p:nvSpPr>
        <p:spPr>
          <a:xfrm>
            <a:off x="1315092" y="1561672"/>
            <a:ext cx="9370032" cy="4524315"/>
          </a:xfrm>
          <a:prstGeom prst="rect">
            <a:avLst/>
          </a:prstGeom>
          <a:noFill/>
        </p:spPr>
        <p:txBody>
          <a:bodyPr wrap="square" lIns="91440" tIns="45720" rIns="91440" bIns="45720" rtlCol="0" anchor="t">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Detection of KOA: Detecting knee osteoarthritis (KOA) at early stages and starting treatment is beneficial for patients.</a:t>
            </a:r>
            <a:endParaRPr lang="en-US" dirty="0">
              <a:latin typeface="Times New Roman" panose="02020603050405020304" pitchFamily="18" charset="0"/>
              <a:ea typeface="Calibri" panose="020F0502020204030204"/>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Assisting Doctors: The CAD system helps doctors by allowing them to focus on more serious cases and assists with faster, more accurate diagnoses.</a:t>
            </a:r>
            <a:endParaRPr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Used: The project uses an existing dataset of 8260 X-ray   images.</a:t>
            </a:r>
            <a:endParaRPr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Data preprocessing was done to enhance the quality of the X-ray images.</a:t>
            </a:r>
            <a:endParaRPr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 Data augmentation techniques were incorporated       to further improve the performance.</a:t>
            </a:r>
            <a:endParaRPr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9573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659C5-2E0C-F557-34B2-0507044D8EB5}"/>
              </a:ext>
            </a:extLst>
          </p:cNvPr>
          <p:cNvSpPr>
            <a:spLocks noGrp="1"/>
          </p:cNvSpPr>
          <p:nvPr>
            <p:ph type="title"/>
          </p:nvPr>
        </p:nvSpPr>
        <p:spPr>
          <a:xfrm>
            <a:off x="838200" y="365125"/>
            <a:ext cx="10515600" cy="553125"/>
          </a:xfrm>
        </p:spPr>
        <p:txBody>
          <a:bodyPr>
            <a:noAutofit/>
          </a:bodyPr>
          <a:lstStyle/>
          <a:p>
            <a:r>
              <a:rPr lang="en-US" sz="3600" b="1">
                <a:latin typeface="Times New Roman"/>
                <a:cs typeface="Times New Roman"/>
              </a:rPr>
              <a:t>References:</a:t>
            </a:r>
            <a:endParaRPr lang="en-US" sz="3600"/>
          </a:p>
        </p:txBody>
      </p:sp>
      <p:sp>
        <p:nvSpPr>
          <p:cNvPr id="3" name="Content Placeholder 2">
            <a:extLst>
              <a:ext uri="{FF2B5EF4-FFF2-40B4-BE49-F238E27FC236}">
                <a16:creationId xmlns:a16="http://schemas.microsoft.com/office/drawing/2014/main" id="{40777D22-0554-1846-36AC-096B0AC16159}"/>
              </a:ext>
            </a:extLst>
          </p:cNvPr>
          <p:cNvSpPr>
            <a:spLocks noGrp="1"/>
          </p:cNvSpPr>
          <p:nvPr>
            <p:ph idx="1"/>
          </p:nvPr>
        </p:nvSpPr>
        <p:spPr>
          <a:xfrm>
            <a:off x="702502" y="1136694"/>
            <a:ext cx="10651298" cy="5040269"/>
          </a:xfrm>
        </p:spPr>
        <p:txBody>
          <a:bodyPr vert="horz" lIns="91440" tIns="45720" rIns="91440" bIns="45720" rtlCol="0" anchor="t">
            <a:noAutofit/>
          </a:bodyPr>
          <a:lstStyle/>
          <a:p>
            <a:pPr marL="0" indent="0" algn="just">
              <a:buNone/>
            </a:pPr>
            <a:endParaRPr lang="en-US" sz="1800" dirty="0">
              <a:solidFill>
                <a:srgbClr val="333333"/>
              </a:solidFill>
              <a:latin typeface="Times New Roman" panose="02020603050405020304" pitchFamily="18" charset="0"/>
              <a:ea typeface="+mn-lt"/>
              <a:cs typeface="Times New Roman" panose="02020603050405020304" pitchFamily="18" charset="0"/>
            </a:endParaRPr>
          </a:p>
          <a:p>
            <a:pPr marL="457200" indent="-457200">
              <a:buAutoNum type="arabicPeriod"/>
            </a:pPr>
            <a:r>
              <a:rPr lang="en-US" sz="1800" dirty="0">
                <a:solidFill>
                  <a:srgbClr val="000000"/>
                </a:solidFill>
                <a:latin typeface="Times New Roman" panose="02020603050405020304" pitchFamily="18" charset="0"/>
                <a:ea typeface="Calibri"/>
                <a:cs typeface="Times New Roman" panose="02020603050405020304" pitchFamily="18" charset="0"/>
              </a:rPr>
              <a:t>A. </a:t>
            </a:r>
            <a:r>
              <a:rPr lang="en-US" sz="1800" dirty="0" err="1">
                <a:solidFill>
                  <a:srgbClr val="000000"/>
                </a:solidFill>
                <a:latin typeface="Times New Roman" panose="02020603050405020304" pitchFamily="18" charset="0"/>
                <a:ea typeface="Calibri"/>
                <a:cs typeface="Times New Roman" panose="02020603050405020304" pitchFamily="18" charset="0"/>
              </a:rPr>
              <a:t>Mobasheri</a:t>
            </a:r>
            <a:r>
              <a:rPr lang="en-US" sz="1800" dirty="0">
                <a:solidFill>
                  <a:srgbClr val="000000"/>
                </a:solidFill>
                <a:latin typeface="Times New Roman" panose="02020603050405020304" pitchFamily="18" charset="0"/>
                <a:ea typeface="Calibri"/>
                <a:cs typeface="Times New Roman" panose="02020603050405020304" pitchFamily="18" charset="0"/>
              </a:rPr>
              <a:t>, C. S. </a:t>
            </a:r>
            <a:r>
              <a:rPr lang="en-US" sz="1800" dirty="0" err="1">
                <a:solidFill>
                  <a:srgbClr val="000000"/>
                </a:solidFill>
                <a:latin typeface="Times New Roman" panose="02020603050405020304" pitchFamily="18" charset="0"/>
                <a:ea typeface="Calibri"/>
                <a:cs typeface="Times New Roman" panose="02020603050405020304" pitchFamily="18" charset="0"/>
              </a:rPr>
              <a:t>Thudium</a:t>
            </a:r>
            <a:r>
              <a:rPr lang="en-US" sz="1800" dirty="0">
                <a:solidFill>
                  <a:srgbClr val="000000"/>
                </a:solidFill>
                <a:latin typeface="Times New Roman" panose="02020603050405020304" pitchFamily="18" charset="0"/>
                <a:ea typeface="Calibri"/>
                <a:cs typeface="Times New Roman" panose="02020603050405020304" pitchFamily="18" charset="0"/>
              </a:rPr>
              <a:t>, A.-C. Bay-Jensen, T. </a:t>
            </a:r>
            <a:r>
              <a:rPr lang="en-US" sz="1800" dirty="0" err="1">
                <a:solidFill>
                  <a:srgbClr val="000000"/>
                </a:solidFill>
                <a:latin typeface="Times New Roman" panose="02020603050405020304" pitchFamily="18" charset="0"/>
                <a:ea typeface="Calibri"/>
                <a:cs typeface="Times New Roman" panose="02020603050405020304" pitchFamily="18" charset="0"/>
              </a:rPr>
              <a:t>Maleitzke</a:t>
            </a:r>
            <a:r>
              <a:rPr lang="en-US" sz="1800" dirty="0">
                <a:solidFill>
                  <a:srgbClr val="000000"/>
                </a:solidFill>
                <a:latin typeface="Times New Roman" panose="02020603050405020304" pitchFamily="18" charset="0"/>
                <a:ea typeface="Calibri"/>
                <a:cs typeface="Times New Roman" panose="02020603050405020304" pitchFamily="18" charset="0"/>
              </a:rPr>
              <a:t>, S. Geissler, G. N. </a:t>
            </a:r>
            <a:r>
              <a:rPr lang="en-US" sz="1800" dirty="0" err="1">
                <a:solidFill>
                  <a:srgbClr val="000000"/>
                </a:solidFill>
                <a:latin typeface="Times New Roman" panose="02020603050405020304" pitchFamily="18" charset="0"/>
                <a:ea typeface="Calibri"/>
                <a:cs typeface="Times New Roman" panose="02020603050405020304" pitchFamily="18" charset="0"/>
              </a:rPr>
              <a:t>Duda</a:t>
            </a:r>
            <a:r>
              <a:rPr lang="en-US" sz="1800" dirty="0">
                <a:solidFill>
                  <a:srgbClr val="000000"/>
                </a:solidFill>
                <a:latin typeface="Times New Roman" panose="02020603050405020304" pitchFamily="18" charset="0"/>
                <a:ea typeface="Calibri"/>
                <a:cs typeface="Times New Roman" panose="02020603050405020304" pitchFamily="18" charset="0"/>
              </a:rPr>
              <a:t>, and T. Winkler, "Biomarkers for osteoarthritis: Current status and future prospects," Best Practice &amp; Research Clinical Rheumatology, vol. 37, p. 101852, June 2023.</a:t>
            </a:r>
          </a:p>
          <a:p>
            <a:pPr marL="457200" indent="-457200">
              <a:buAutoNum type="arabicPeriod"/>
            </a:pPr>
            <a:r>
              <a:rPr lang="en-US" sz="1800" dirty="0">
                <a:solidFill>
                  <a:srgbClr val="333333"/>
                </a:solidFill>
                <a:latin typeface="Times New Roman"/>
                <a:ea typeface="Calibri"/>
                <a:cs typeface="Times New Roman"/>
              </a:rPr>
              <a:t>Chen P (2018) Knee osteoarthritis severity grading dataset.</a:t>
            </a:r>
          </a:p>
          <a:p>
            <a:pPr marL="457200" indent="-457200" algn="just">
              <a:buAutoNum type="arabicPeriod"/>
            </a:pPr>
            <a:r>
              <a:rPr lang="en-US" sz="1800" dirty="0">
                <a:solidFill>
                  <a:srgbClr val="333333"/>
                </a:solidFill>
                <a:latin typeface="Times New Roman"/>
                <a:ea typeface="+mn-lt"/>
                <a:cs typeface="Times New Roman"/>
              </a:rPr>
              <a:t>R. K. Jain, P. K. Sharma, S. Gaj, A. Sur, and P. Ghosh, "Knee osteoarthritis severity prediction using an attentive multi-scale deep convolutional neural network," </a:t>
            </a:r>
            <a:r>
              <a:rPr lang="en-US" sz="1800" i="1" dirty="0">
                <a:solidFill>
                  <a:srgbClr val="333333"/>
                </a:solidFill>
                <a:latin typeface="Times New Roman"/>
                <a:ea typeface="+mn-lt"/>
                <a:cs typeface="Times New Roman"/>
              </a:rPr>
              <a:t>Multimedia Tools and Applications,</a:t>
            </a:r>
            <a:r>
              <a:rPr lang="en-US" sz="1800" dirty="0">
                <a:solidFill>
                  <a:srgbClr val="333333"/>
                </a:solidFill>
                <a:latin typeface="Times New Roman"/>
                <a:ea typeface="+mn-lt"/>
                <a:cs typeface="Times New Roman"/>
              </a:rPr>
              <a:t> vol. 83, pp. 6925–6942, June 2023.</a:t>
            </a:r>
            <a:endParaRPr lang="en-US" sz="1800" dirty="0">
              <a:solidFill>
                <a:srgbClr val="333333"/>
              </a:solidFill>
              <a:latin typeface="Times New Roman" panose="02020603050405020304" pitchFamily="18" charset="0"/>
              <a:ea typeface="Calibri"/>
              <a:cs typeface="Times New Roman" panose="02020603050405020304" pitchFamily="18" charset="0"/>
            </a:endParaRPr>
          </a:p>
          <a:p>
            <a:pPr marL="457200" indent="-457200" algn="just">
              <a:buAutoNum type="arabicPeriod"/>
            </a:pPr>
            <a:r>
              <a:rPr lang="en-US" sz="1800" dirty="0">
                <a:solidFill>
                  <a:srgbClr val="333333"/>
                </a:solidFill>
                <a:latin typeface="Times New Roman"/>
                <a:ea typeface="+mn-lt"/>
                <a:cs typeface="Times New Roman"/>
              </a:rPr>
              <a:t>P. Chen, L. Gao, X. Shi, K. Allen, and L. Yang, "Fully automatic knee osteoarthritis severity grading using deep neural networks with a novel ordinal loss," </a:t>
            </a:r>
            <a:r>
              <a:rPr lang="en-US" sz="1800" i="1" dirty="0">
                <a:solidFill>
                  <a:srgbClr val="333333"/>
                </a:solidFill>
                <a:latin typeface="Times New Roman"/>
                <a:ea typeface="+mn-lt"/>
                <a:cs typeface="Times New Roman"/>
              </a:rPr>
              <a:t>Computerized Medical Imaging and Graphics,</a:t>
            </a:r>
            <a:r>
              <a:rPr lang="en-US" sz="1800" dirty="0">
                <a:solidFill>
                  <a:srgbClr val="333333"/>
                </a:solidFill>
                <a:latin typeface="Times New Roman"/>
                <a:ea typeface="+mn-lt"/>
                <a:cs typeface="Times New Roman"/>
              </a:rPr>
              <a:t> vol. 75, pp. 84-92, June 2019.</a:t>
            </a:r>
            <a:endParaRPr lang="en-US" sz="1800" dirty="0">
              <a:solidFill>
                <a:srgbClr val="333333"/>
              </a:solidFill>
              <a:latin typeface="Times New Roman" panose="02020603050405020304" pitchFamily="18" charset="0"/>
              <a:ea typeface="+mn-lt"/>
              <a:cs typeface="Times New Roman" panose="02020603050405020304" pitchFamily="18" charset="0"/>
            </a:endParaRPr>
          </a:p>
          <a:p>
            <a:pPr marL="457200" indent="-457200" algn="just">
              <a:buAutoNum type="arabicPeriod"/>
            </a:pPr>
            <a:r>
              <a:rPr lang="en-US" sz="1800" dirty="0">
                <a:solidFill>
                  <a:srgbClr val="333333"/>
                </a:solidFill>
                <a:latin typeface="Times New Roman"/>
                <a:ea typeface="+mn-lt"/>
                <a:cs typeface="Times New Roman"/>
              </a:rPr>
              <a:t>A. R. Patil and S. </a:t>
            </a:r>
            <a:r>
              <a:rPr lang="en-US" sz="1800" dirty="0" err="1">
                <a:solidFill>
                  <a:srgbClr val="333333"/>
                </a:solidFill>
                <a:latin typeface="Times New Roman"/>
                <a:ea typeface="+mn-lt"/>
                <a:cs typeface="Times New Roman"/>
              </a:rPr>
              <a:t>Salunkhe</a:t>
            </a:r>
            <a:r>
              <a:rPr lang="en-US" sz="1800" dirty="0">
                <a:solidFill>
                  <a:srgbClr val="333333"/>
                </a:solidFill>
                <a:latin typeface="Times New Roman"/>
                <a:ea typeface="+mn-lt"/>
                <a:cs typeface="Times New Roman"/>
              </a:rPr>
              <a:t>, "Classification and Risk Estimation of Osteoarthritis Using Deep Learning Methods," </a:t>
            </a:r>
            <a:r>
              <a:rPr lang="en-US" sz="1800" i="1" dirty="0">
                <a:solidFill>
                  <a:srgbClr val="333333"/>
                </a:solidFill>
                <a:latin typeface="Times New Roman"/>
                <a:ea typeface="+mn-lt"/>
                <a:cs typeface="Times New Roman"/>
              </a:rPr>
              <a:t>Measurement: Sensors</a:t>
            </a:r>
            <a:r>
              <a:rPr lang="en-US" sz="1800" dirty="0">
                <a:solidFill>
                  <a:srgbClr val="333333"/>
                </a:solidFill>
                <a:latin typeface="Times New Roman"/>
                <a:ea typeface="+mn-lt"/>
                <a:cs typeface="Times New Roman"/>
              </a:rPr>
              <a:t>, vol. 2024, 2024, Art. no. 101279, </a:t>
            </a:r>
            <a:r>
              <a:rPr lang="en-US" sz="1800" dirty="0" err="1">
                <a:solidFill>
                  <a:srgbClr val="333333"/>
                </a:solidFill>
                <a:latin typeface="Times New Roman"/>
                <a:ea typeface="+mn-lt"/>
                <a:cs typeface="Times New Roman"/>
              </a:rPr>
              <a:t>doi</a:t>
            </a:r>
            <a:r>
              <a:rPr lang="en-US" sz="1800" dirty="0">
                <a:solidFill>
                  <a:srgbClr val="333333"/>
                </a:solidFill>
                <a:latin typeface="Times New Roman"/>
                <a:ea typeface="+mn-lt"/>
                <a:cs typeface="Times New Roman"/>
              </a:rPr>
              <a:t>: 10.1016/j.measen.2024.101279</a:t>
            </a:r>
            <a:endParaRPr lang="en-US" sz="1800" dirty="0">
              <a:solidFill>
                <a:srgbClr val="333333"/>
              </a:solidFill>
              <a:latin typeface="Times New Roman"/>
              <a:ea typeface="Calibri" panose="020F0502020204030204"/>
              <a:cs typeface="Times New Roman"/>
            </a:endParaRPr>
          </a:p>
          <a:p>
            <a:pPr marL="457200" indent="-457200" algn="just">
              <a:buAutoNum type="arabicPeriod"/>
            </a:pPr>
            <a:r>
              <a:rPr lang="en-US" sz="1800" dirty="0">
                <a:solidFill>
                  <a:srgbClr val="333333"/>
                </a:solidFill>
                <a:latin typeface="Times New Roman"/>
                <a:ea typeface="+mn-lt"/>
                <a:cs typeface="Times New Roman"/>
              </a:rPr>
              <a:t>L. C. </a:t>
            </a:r>
            <a:r>
              <a:rPr lang="en-US" sz="1800" dirty="0" err="1">
                <a:solidFill>
                  <a:srgbClr val="333333"/>
                </a:solidFill>
                <a:latin typeface="Times New Roman"/>
                <a:ea typeface="+mn-lt"/>
                <a:cs typeface="Times New Roman"/>
              </a:rPr>
              <a:t>Ribas</a:t>
            </a:r>
            <a:r>
              <a:rPr lang="en-US" sz="1800" dirty="0">
                <a:solidFill>
                  <a:srgbClr val="333333"/>
                </a:solidFill>
                <a:latin typeface="Times New Roman"/>
                <a:ea typeface="+mn-lt"/>
                <a:cs typeface="Times New Roman"/>
              </a:rPr>
              <a:t>, R. Riad, R. </a:t>
            </a:r>
            <a:r>
              <a:rPr lang="en-US" sz="1800" dirty="0" err="1">
                <a:solidFill>
                  <a:srgbClr val="333333"/>
                </a:solidFill>
                <a:latin typeface="Times New Roman"/>
                <a:ea typeface="+mn-lt"/>
                <a:cs typeface="Times New Roman"/>
              </a:rPr>
              <a:t>Jennane</a:t>
            </a:r>
            <a:r>
              <a:rPr lang="en-US" sz="1800" dirty="0">
                <a:solidFill>
                  <a:srgbClr val="333333"/>
                </a:solidFill>
                <a:latin typeface="Times New Roman"/>
                <a:ea typeface="+mn-lt"/>
                <a:cs typeface="Times New Roman"/>
              </a:rPr>
              <a:t>, and O. M. Bruno, "A Complex Network Based Approach for Knee Osteoarthritis Detection: Data from the Osteoarthritis Initiative," </a:t>
            </a:r>
            <a:r>
              <a:rPr lang="en-US" sz="1800" i="1" dirty="0">
                <a:solidFill>
                  <a:srgbClr val="333333"/>
                </a:solidFill>
                <a:latin typeface="Times New Roman"/>
                <a:ea typeface="+mn-lt"/>
                <a:cs typeface="Times New Roman"/>
              </a:rPr>
              <a:t>Biomed. Signal Process. Control</a:t>
            </a:r>
            <a:r>
              <a:rPr lang="en-US" sz="1800" dirty="0">
                <a:solidFill>
                  <a:srgbClr val="333333"/>
                </a:solidFill>
                <a:latin typeface="Times New Roman"/>
                <a:ea typeface="+mn-lt"/>
                <a:cs typeface="Times New Roman"/>
              </a:rPr>
              <a:t>, vol. 71, 2022, Art. no. 103133, </a:t>
            </a:r>
            <a:r>
              <a:rPr lang="en-US" sz="1800" dirty="0" err="1">
                <a:solidFill>
                  <a:srgbClr val="333333"/>
                </a:solidFill>
                <a:latin typeface="Times New Roman"/>
                <a:ea typeface="+mn-lt"/>
                <a:cs typeface="Times New Roman"/>
              </a:rPr>
              <a:t>doi</a:t>
            </a:r>
            <a:r>
              <a:rPr lang="en-US" sz="1800" dirty="0">
                <a:solidFill>
                  <a:srgbClr val="333333"/>
                </a:solidFill>
                <a:latin typeface="Times New Roman"/>
                <a:ea typeface="+mn-lt"/>
                <a:cs typeface="Times New Roman"/>
              </a:rPr>
              <a:t>: 10.1016/j.bspc.2021.103133 </a:t>
            </a:r>
          </a:p>
          <a:p>
            <a:pPr marL="0" indent="0">
              <a:buNone/>
            </a:pPr>
            <a:endParaRPr lang="en-US" sz="1800" dirty="0">
              <a:solidFill>
                <a:srgbClr val="000000"/>
              </a:solidFill>
              <a:latin typeface="Times New Roman" panose="02020603050405020304" pitchFamily="18" charset="0"/>
              <a:ea typeface="Calibri"/>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5863F4-BF49-37DA-5958-AD125F9AB4F2}"/>
              </a:ext>
            </a:extLst>
          </p:cNvPr>
          <p:cNvSpPr>
            <a:spLocks noGrp="1"/>
          </p:cNvSpPr>
          <p:nvPr>
            <p:ph type="sldNum" sz="quarter" idx="12"/>
          </p:nvPr>
        </p:nvSpPr>
        <p:spPr/>
        <p:txBody>
          <a:bodyPr/>
          <a:lstStyle/>
          <a:p>
            <a:fld id="{330EA680-D336-4FF7-8B7A-9848BB0A1C32}" type="slidenum">
              <a:rPr lang="en-GB" smtClean="0"/>
              <a:t>21</a:t>
            </a:fld>
            <a:endParaRPr lang="en-US"/>
          </a:p>
        </p:txBody>
      </p:sp>
      <p:sp>
        <p:nvSpPr>
          <p:cNvPr id="6" name="Date Placeholder 5"/>
          <p:cNvSpPr>
            <a:spLocks noGrp="1"/>
          </p:cNvSpPr>
          <p:nvPr>
            <p:ph type="dt" sz="half" idx="10"/>
          </p:nvPr>
        </p:nvSpPr>
        <p:spPr/>
        <p:txBody>
          <a:bodyPr/>
          <a:lstStyle/>
          <a:p>
            <a:fld id="{A9C2CA37-F67F-4890-A07D-8ED11ACBFE42}" type="datetime1">
              <a:rPr lang="en-IN" smtClean="0"/>
              <a:t>22-11-2024</a:t>
            </a:fld>
            <a:endParaRPr lang="en-GB"/>
          </a:p>
        </p:txBody>
      </p:sp>
      <p:sp>
        <p:nvSpPr>
          <p:cNvPr id="5" name="Footer Placeholder 4">
            <a:extLst>
              <a:ext uri="{FF2B5EF4-FFF2-40B4-BE49-F238E27FC236}">
                <a16:creationId xmlns:a16="http://schemas.microsoft.com/office/drawing/2014/main" id="{B0785BA0-0778-5164-A839-22D672098E82}"/>
              </a:ext>
            </a:extLst>
          </p:cNvPr>
          <p:cNvSpPr>
            <a:spLocks noGrp="1"/>
          </p:cNvSpPr>
          <p:nvPr>
            <p:ph type="ftr" sz="quarter" idx="11"/>
          </p:nvPr>
        </p:nvSpPr>
        <p:spPr/>
        <p:txBody>
          <a:bodyPr/>
          <a:lstStyle/>
          <a:p>
            <a:r>
              <a:rPr lang="en-GB" dirty="0"/>
              <a:t>Review 1.1</a:t>
            </a:r>
          </a:p>
        </p:txBody>
      </p:sp>
    </p:spTree>
    <p:extLst>
      <p:ext uri="{BB962C8B-B14F-4D97-AF65-F5344CB8AC3E}">
        <p14:creationId xmlns:p14="http://schemas.microsoft.com/office/powerpoint/2010/main" val="3049878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659C5-2E0C-F557-34B2-0507044D8EB5}"/>
              </a:ext>
            </a:extLst>
          </p:cNvPr>
          <p:cNvSpPr>
            <a:spLocks noGrp="1"/>
          </p:cNvSpPr>
          <p:nvPr>
            <p:ph type="title"/>
          </p:nvPr>
        </p:nvSpPr>
        <p:spPr>
          <a:xfrm>
            <a:off x="838200" y="365125"/>
            <a:ext cx="10515600" cy="553125"/>
          </a:xfrm>
        </p:spPr>
        <p:txBody>
          <a:bodyPr>
            <a:noAutofit/>
          </a:bodyPr>
          <a:lstStyle/>
          <a:p>
            <a:r>
              <a:rPr lang="en-US" sz="3600" b="1">
                <a:latin typeface="Times New Roman"/>
                <a:cs typeface="Times New Roman"/>
              </a:rPr>
              <a:t>References:</a:t>
            </a:r>
            <a:endParaRPr lang="en-US" sz="3600"/>
          </a:p>
        </p:txBody>
      </p:sp>
      <p:sp>
        <p:nvSpPr>
          <p:cNvPr id="3" name="Content Placeholder 2">
            <a:extLst>
              <a:ext uri="{FF2B5EF4-FFF2-40B4-BE49-F238E27FC236}">
                <a16:creationId xmlns:a16="http://schemas.microsoft.com/office/drawing/2014/main" id="{40777D22-0554-1846-36AC-096B0AC16159}"/>
              </a:ext>
            </a:extLst>
          </p:cNvPr>
          <p:cNvSpPr>
            <a:spLocks noGrp="1"/>
          </p:cNvSpPr>
          <p:nvPr>
            <p:ph idx="1"/>
          </p:nvPr>
        </p:nvSpPr>
        <p:spPr>
          <a:xfrm>
            <a:off x="702502" y="1136694"/>
            <a:ext cx="10651298" cy="5040269"/>
          </a:xfrm>
        </p:spPr>
        <p:txBody>
          <a:bodyPr vert="horz" lIns="91440" tIns="45720" rIns="91440" bIns="45720" rtlCol="0" anchor="t">
            <a:noAutofit/>
          </a:bodyPr>
          <a:lstStyle/>
          <a:p>
            <a:pPr marL="457200" indent="-457200" algn="just">
              <a:buFont typeface="+mj-lt"/>
              <a:buAutoNum type="arabicPeriod" startAt="7"/>
            </a:pPr>
            <a:r>
              <a:rPr lang="en-US" sz="1800" dirty="0">
                <a:solidFill>
                  <a:srgbClr val="333333"/>
                </a:solidFill>
                <a:latin typeface="Times New Roman" panose="02020603050405020304" pitchFamily="18" charset="0"/>
                <a:ea typeface="+mn-lt"/>
                <a:cs typeface="Times New Roman" panose="02020603050405020304" pitchFamily="18" charset="0"/>
              </a:rPr>
              <a:t>T. Tariq, Z. Suhail, and Z. Nawaz, "Knee Osteoarthritis Detection and Classification Using X-Rays," in </a:t>
            </a:r>
            <a:r>
              <a:rPr lang="en-US" sz="1800" i="1" dirty="0">
                <a:solidFill>
                  <a:srgbClr val="333333"/>
                </a:solidFill>
                <a:latin typeface="Times New Roman" panose="02020603050405020304" pitchFamily="18" charset="0"/>
                <a:ea typeface="+mn-lt"/>
                <a:cs typeface="Times New Roman" panose="02020603050405020304" pitchFamily="18" charset="0"/>
              </a:rPr>
              <a:t>IEEE Access</a:t>
            </a:r>
            <a:r>
              <a:rPr lang="en-US" sz="1800" dirty="0">
                <a:solidFill>
                  <a:srgbClr val="333333"/>
                </a:solidFill>
                <a:latin typeface="Times New Roman" panose="02020603050405020304" pitchFamily="18" charset="0"/>
                <a:ea typeface="+mn-lt"/>
                <a:cs typeface="Times New Roman" panose="02020603050405020304" pitchFamily="18" charset="0"/>
              </a:rPr>
              <a:t>, vol. 11, pp. 48292-48303, May 2023.</a:t>
            </a:r>
            <a:endParaRPr lang="en-US" sz="1800" dirty="0">
              <a:solidFill>
                <a:srgbClr val="333333"/>
              </a:solidFill>
              <a:latin typeface="Times New Roman" panose="02020603050405020304" pitchFamily="18" charset="0"/>
              <a:ea typeface="Calibri"/>
              <a:cs typeface="Times New Roman" panose="02020603050405020304" pitchFamily="18" charset="0"/>
            </a:endParaRPr>
          </a:p>
          <a:p>
            <a:pPr marL="457200" indent="-457200" algn="just">
              <a:buAutoNum type="arabicPeriod" startAt="7"/>
            </a:pPr>
            <a:r>
              <a:rPr lang="en-US" sz="1800" dirty="0">
                <a:solidFill>
                  <a:srgbClr val="333333"/>
                </a:solidFill>
                <a:latin typeface="Times New Roman"/>
                <a:ea typeface="+mn-lt"/>
                <a:cs typeface="Times New Roman"/>
              </a:rPr>
              <a:t>S. Aslan, "Automatic Detection of Knee Osteoarthritis Disease with the Developed CNN, NCA and SVM Based Hybrid Model," in </a:t>
            </a:r>
            <a:r>
              <a:rPr lang="en-US" sz="1800" i="1" dirty="0" err="1">
                <a:solidFill>
                  <a:srgbClr val="333333"/>
                </a:solidFill>
                <a:latin typeface="Times New Roman"/>
                <a:ea typeface="+mn-lt"/>
                <a:cs typeface="Times New Roman"/>
              </a:rPr>
              <a:t>Traitement</a:t>
            </a:r>
            <a:r>
              <a:rPr lang="en-US" sz="1800" i="1" dirty="0">
                <a:solidFill>
                  <a:srgbClr val="333333"/>
                </a:solidFill>
                <a:latin typeface="Times New Roman"/>
                <a:ea typeface="+mn-lt"/>
                <a:cs typeface="Times New Roman"/>
              </a:rPr>
              <a:t> du Signal</a:t>
            </a:r>
            <a:r>
              <a:rPr lang="en-US" sz="1800" dirty="0">
                <a:solidFill>
                  <a:srgbClr val="333333"/>
                </a:solidFill>
                <a:latin typeface="Times New Roman"/>
                <a:ea typeface="+mn-lt"/>
                <a:cs typeface="Times New Roman"/>
              </a:rPr>
              <a:t>, vol. 40, no. 1, pp. 317-326, Feb. 2023.</a:t>
            </a:r>
          </a:p>
          <a:p>
            <a:pPr marL="342900" indent="-342900">
              <a:buAutoNum type="arabicPeriod" startAt="7"/>
            </a:pPr>
            <a:r>
              <a:rPr lang="en-US" sz="1800" dirty="0">
                <a:solidFill>
                  <a:srgbClr val="333333"/>
                </a:solidFill>
                <a:latin typeface="Times New Roman"/>
                <a:ea typeface="Calibri"/>
                <a:cs typeface="Times New Roman"/>
              </a:rPr>
              <a:t>A. S. C. Bose, C. Srinivasan, and I. J. S., "Optimized feature selection for enhanced accuracy in knee osteoarthritis detection and severity classification with machine learning," </a:t>
            </a:r>
            <a:r>
              <a:rPr lang="en-US" sz="1800" i="1" dirty="0">
                <a:solidFill>
                  <a:srgbClr val="333333"/>
                </a:solidFill>
                <a:latin typeface="Times New Roman"/>
                <a:ea typeface="Calibri"/>
                <a:cs typeface="Times New Roman"/>
              </a:rPr>
              <a:t>Biomed. Signal Process. Control</a:t>
            </a:r>
            <a:r>
              <a:rPr lang="en-US" sz="1800" dirty="0">
                <a:solidFill>
                  <a:srgbClr val="333333"/>
                </a:solidFill>
                <a:latin typeface="Times New Roman"/>
                <a:ea typeface="Calibri"/>
                <a:cs typeface="Times New Roman"/>
              </a:rPr>
              <a:t>, vol. 97, pp. 106670, Aug. 2024.</a:t>
            </a:r>
          </a:p>
          <a:p>
            <a:pPr marL="342900" indent="-342900">
              <a:buFont typeface="+mj-lt"/>
              <a:buAutoNum type="arabicPeriod" startAt="7"/>
            </a:pPr>
            <a:r>
              <a:rPr lang="en-US" sz="1800" dirty="0">
                <a:solidFill>
                  <a:srgbClr val="333333"/>
                </a:solidFill>
                <a:latin typeface="Times New Roman"/>
                <a:ea typeface="Calibri"/>
                <a:cs typeface="Times New Roman"/>
              </a:rPr>
              <a:t>M. U. Farooq, Z. Ullah, A. Khan, and J. </a:t>
            </a:r>
            <a:r>
              <a:rPr lang="en-US" sz="1800" dirty="0" err="1">
                <a:solidFill>
                  <a:srgbClr val="333333"/>
                </a:solidFill>
                <a:latin typeface="Times New Roman"/>
                <a:ea typeface="Calibri"/>
                <a:cs typeface="Times New Roman"/>
              </a:rPr>
              <a:t>Gwak</a:t>
            </a:r>
            <a:r>
              <a:rPr lang="en-US" sz="1800" dirty="0">
                <a:solidFill>
                  <a:srgbClr val="333333"/>
                </a:solidFill>
                <a:latin typeface="Times New Roman"/>
                <a:ea typeface="Calibri"/>
                <a:cs typeface="Times New Roman"/>
              </a:rPr>
              <a:t>, "DC-AAE: Dual channel adversarial autoencoder with  multitask learning for KL-grade classification in knee radiographs," </a:t>
            </a:r>
            <a:r>
              <a:rPr lang="en-US" sz="1800" i="1" dirty="0">
                <a:solidFill>
                  <a:srgbClr val="333333"/>
                </a:solidFill>
                <a:latin typeface="Times New Roman"/>
                <a:ea typeface="Calibri"/>
                <a:cs typeface="Times New Roman"/>
              </a:rPr>
              <a:t>Computers in Biology and Medicine</a:t>
            </a:r>
            <a:r>
              <a:rPr lang="en-US" sz="1800" dirty="0">
                <a:solidFill>
                  <a:srgbClr val="333333"/>
                </a:solidFill>
                <a:latin typeface="Times New Roman"/>
                <a:ea typeface="Calibri"/>
                <a:cs typeface="Times New Roman"/>
              </a:rPr>
              <a:t>, vol. 167, pp. 107570, 2023.</a:t>
            </a:r>
          </a:p>
          <a:p>
            <a:pPr marL="342900" indent="-342900">
              <a:buFont typeface="+mj-lt"/>
              <a:buAutoNum type="arabicPeriod" startAt="7"/>
            </a:pPr>
            <a:r>
              <a:rPr lang="en-US" sz="1800" dirty="0">
                <a:solidFill>
                  <a:srgbClr val="333333"/>
                </a:solidFill>
                <a:latin typeface="Times New Roman"/>
                <a:ea typeface="Calibri"/>
                <a:cs typeface="Times New Roman"/>
              </a:rPr>
              <a:t>M. Jahan, M. Z. Hasan, I. J. Samia, K. Fatema, M. A. H. Rony, M. S. </a:t>
            </a:r>
            <a:r>
              <a:rPr lang="en-US" sz="1800" dirty="0" err="1">
                <a:solidFill>
                  <a:srgbClr val="333333"/>
                </a:solidFill>
                <a:latin typeface="Times New Roman"/>
                <a:ea typeface="Calibri"/>
                <a:cs typeface="Times New Roman"/>
              </a:rPr>
              <a:t>Arefin</a:t>
            </a:r>
            <a:r>
              <a:rPr lang="en-US" sz="1800" dirty="0">
                <a:solidFill>
                  <a:srgbClr val="333333"/>
                </a:solidFill>
                <a:latin typeface="Times New Roman"/>
                <a:ea typeface="Calibri"/>
                <a:cs typeface="Times New Roman"/>
              </a:rPr>
              <a:t>, and A. </a:t>
            </a:r>
            <a:r>
              <a:rPr lang="en-US" sz="1800" dirty="0" err="1">
                <a:solidFill>
                  <a:srgbClr val="333333"/>
                </a:solidFill>
                <a:latin typeface="Times New Roman"/>
                <a:ea typeface="Calibri"/>
                <a:cs typeface="Times New Roman"/>
              </a:rPr>
              <a:t>Moustafa</a:t>
            </a:r>
            <a:r>
              <a:rPr lang="en-US" sz="1800" dirty="0">
                <a:solidFill>
                  <a:srgbClr val="333333"/>
                </a:solidFill>
                <a:latin typeface="Times New Roman"/>
                <a:ea typeface="Calibri"/>
                <a:cs typeface="Times New Roman"/>
              </a:rPr>
              <a:t>, "KOA-</a:t>
            </a:r>
            <a:r>
              <a:rPr lang="en-US" sz="1800" dirty="0" err="1">
                <a:solidFill>
                  <a:srgbClr val="333333"/>
                </a:solidFill>
                <a:latin typeface="Times New Roman"/>
                <a:ea typeface="Calibri"/>
                <a:cs typeface="Times New Roman"/>
              </a:rPr>
              <a:t>CCTNet</a:t>
            </a:r>
            <a:r>
              <a:rPr lang="en-US" sz="1800" dirty="0">
                <a:solidFill>
                  <a:srgbClr val="333333"/>
                </a:solidFill>
                <a:latin typeface="Times New Roman"/>
                <a:ea typeface="Calibri"/>
                <a:cs typeface="Times New Roman"/>
              </a:rPr>
              <a:t>: An Enhanced Knee Osteoarthritis Grade Assessment Framework Using Modified Compact Convolutional Transformer Model," IEEE Access, vol. 12, pp. 107719-107738, July 2024.</a:t>
            </a:r>
          </a:p>
          <a:p>
            <a:pPr marL="342900" indent="-342900">
              <a:buFont typeface="+mj-lt"/>
              <a:buAutoNum type="arabicPeriod" startAt="7"/>
            </a:pPr>
            <a:r>
              <a:rPr lang="en-US" sz="1800" dirty="0">
                <a:latin typeface="Times New Roman"/>
                <a:cs typeface="Times New Roman"/>
              </a:rPr>
              <a:t>D. W. Lee, D. S. Song, H.-S. Han, and D. H. Ro, "Accurate, automated classification of radiographic knee osteoarthritis severity using a novel method of deep learning: Plug-in modules," </a:t>
            </a:r>
            <a:r>
              <a:rPr lang="en-US" sz="1800" i="1" dirty="0">
                <a:latin typeface="Times New Roman"/>
                <a:cs typeface="Times New Roman"/>
              </a:rPr>
              <a:t>Knee Surgery &amp; Related Research</a:t>
            </a:r>
            <a:r>
              <a:rPr lang="en-US" sz="1800" dirty="0">
                <a:latin typeface="Times New Roman"/>
                <a:cs typeface="Times New Roman"/>
              </a:rPr>
              <a:t>, vol. 36, no. 24, pp. 1–11, 2024</a:t>
            </a:r>
            <a:r>
              <a:rPr lang="en-US" sz="1800" dirty="0">
                <a:solidFill>
                  <a:srgbClr val="333333"/>
                </a:solidFill>
                <a:latin typeface="Times New Roman"/>
                <a:ea typeface="Calibri"/>
                <a:cs typeface="Times New Roman"/>
              </a:rPr>
              <a:t>.</a:t>
            </a:r>
          </a:p>
          <a:p>
            <a:endParaRPr lang="en-IN" sz="1800" dirty="0"/>
          </a:p>
          <a:p>
            <a:pPr marL="457200" indent="-457200" algn="just">
              <a:buAutoNum type="arabicPeriod" startAt="7"/>
            </a:pPr>
            <a:endParaRPr lang="en-US" sz="1800" dirty="0">
              <a:solidFill>
                <a:srgbClr val="333333"/>
              </a:solidFill>
              <a:latin typeface="Times New Roman"/>
              <a:ea typeface="+mn-lt"/>
              <a:cs typeface="Times New Roman"/>
            </a:endParaRPr>
          </a:p>
          <a:p>
            <a:pPr marL="457200" indent="-457200" algn="just">
              <a:buAutoNum type="arabicPeriod" startAt="7"/>
            </a:pPr>
            <a:endParaRPr lang="en-US" sz="1800" dirty="0">
              <a:solidFill>
                <a:srgbClr val="333333"/>
              </a:solidFill>
              <a:latin typeface="Times New Roman"/>
              <a:ea typeface="Calibri"/>
              <a:cs typeface="Times New Roman"/>
            </a:endParaRPr>
          </a:p>
        </p:txBody>
      </p:sp>
      <p:sp>
        <p:nvSpPr>
          <p:cNvPr id="4" name="Slide Number Placeholder 3">
            <a:extLst>
              <a:ext uri="{FF2B5EF4-FFF2-40B4-BE49-F238E27FC236}">
                <a16:creationId xmlns:a16="http://schemas.microsoft.com/office/drawing/2014/main" id="{205863F4-BF49-37DA-5958-AD125F9AB4F2}"/>
              </a:ext>
            </a:extLst>
          </p:cNvPr>
          <p:cNvSpPr>
            <a:spLocks noGrp="1"/>
          </p:cNvSpPr>
          <p:nvPr>
            <p:ph type="sldNum" sz="quarter" idx="12"/>
          </p:nvPr>
        </p:nvSpPr>
        <p:spPr/>
        <p:txBody>
          <a:bodyPr/>
          <a:lstStyle/>
          <a:p>
            <a:fld id="{330EA680-D336-4FF7-8B7A-9848BB0A1C32}" type="slidenum">
              <a:rPr lang="en-GB" smtClean="0"/>
              <a:t>22</a:t>
            </a:fld>
            <a:endParaRPr lang="en-US" dirty="0"/>
          </a:p>
        </p:txBody>
      </p:sp>
      <p:sp>
        <p:nvSpPr>
          <p:cNvPr id="6" name="Date Placeholder 5"/>
          <p:cNvSpPr>
            <a:spLocks noGrp="1"/>
          </p:cNvSpPr>
          <p:nvPr>
            <p:ph type="dt" sz="half" idx="10"/>
          </p:nvPr>
        </p:nvSpPr>
        <p:spPr/>
        <p:txBody>
          <a:bodyPr/>
          <a:lstStyle/>
          <a:p>
            <a:fld id="{A9C2CA37-F67F-4890-A07D-8ED11ACBFE42}" type="datetime1">
              <a:rPr lang="en-IN" smtClean="0"/>
              <a:t>22-11-2024</a:t>
            </a:fld>
            <a:endParaRPr lang="en-GB"/>
          </a:p>
        </p:txBody>
      </p:sp>
      <p:sp>
        <p:nvSpPr>
          <p:cNvPr id="5" name="Footer Placeholder 4">
            <a:extLst>
              <a:ext uri="{FF2B5EF4-FFF2-40B4-BE49-F238E27FC236}">
                <a16:creationId xmlns:a16="http://schemas.microsoft.com/office/drawing/2014/main" id="{B0785BA0-0778-5164-A839-22D672098E82}"/>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1607328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E982D-ED48-46F1-683C-D2469D2DC7C4}"/>
              </a:ext>
            </a:extLst>
          </p:cNvPr>
          <p:cNvSpPr>
            <a:spLocks noGrp="1"/>
          </p:cNvSpPr>
          <p:nvPr>
            <p:ph idx="1"/>
          </p:nvPr>
        </p:nvSpPr>
        <p:spPr>
          <a:xfrm>
            <a:off x="838200" y="571256"/>
            <a:ext cx="10527323" cy="5605707"/>
          </a:xfrm>
        </p:spPr>
        <p:txBody>
          <a:bodyPr vert="horz" lIns="91440" tIns="45720" rIns="91440" bIns="45720" rtlCol="0" anchor="t">
            <a:normAutofit/>
          </a:bodyPr>
          <a:lstStyle/>
          <a:p>
            <a:pPr marL="0" indent="0">
              <a:buNone/>
            </a:pPr>
            <a:endParaRPr lang="en-US">
              <a:cs typeface="Calibri" panose="020F0502020204030204"/>
            </a:endParaRPr>
          </a:p>
          <a:p>
            <a:pPr marL="0" indent="0">
              <a:buNone/>
            </a:pPr>
            <a:endParaRPr lang="en-US">
              <a:cs typeface="Calibri" panose="020F0502020204030204"/>
            </a:endParaRPr>
          </a:p>
          <a:p>
            <a:pPr marL="0" indent="0">
              <a:buNone/>
            </a:pPr>
            <a:endParaRPr lang="en-US">
              <a:cs typeface="Calibri" panose="020F0502020204030204"/>
            </a:endParaRPr>
          </a:p>
          <a:p>
            <a:pPr marL="0" indent="0">
              <a:buNone/>
            </a:pPr>
            <a:endParaRPr lang="en-US">
              <a:cs typeface="Calibri" panose="020F0502020204030204"/>
            </a:endParaRPr>
          </a:p>
          <a:p>
            <a:pPr marL="0" indent="0" algn="ctr">
              <a:buNone/>
            </a:pPr>
            <a:r>
              <a:rPr lang="en-US" sz="5400" b="1">
                <a:latin typeface="Times New Roman"/>
                <a:cs typeface="Calibri" panose="020F0502020204030204"/>
              </a:rPr>
              <a:t>Thank You</a:t>
            </a:r>
          </a:p>
        </p:txBody>
      </p:sp>
      <p:sp>
        <p:nvSpPr>
          <p:cNvPr id="4" name="Slide Number Placeholder 3">
            <a:extLst>
              <a:ext uri="{FF2B5EF4-FFF2-40B4-BE49-F238E27FC236}">
                <a16:creationId xmlns:a16="http://schemas.microsoft.com/office/drawing/2014/main" id="{A02AB493-95B4-D94B-9B33-066F55CC6830}"/>
              </a:ext>
            </a:extLst>
          </p:cNvPr>
          <p:cNvSpPr>
            <a:spLocks noGrp="1"/>
          </p:cNvSpPr>
          <p:nvPr>
            <p:ph type="sldNum" sz="quarter" idx="12"/>
          </p:nvPr>
        </p:nvSpPr>
        <p:spPr/>
        <p:txBody>
          <a:bodyPr/>
          <a:lstStyle/>
          <a:p>
            <a:fld id="{330EA680-D336-4FF7-8B7A-9848BB0A1C32}" type="slidenum">
              <a:rPr lang="en-GB" smtClean="0"/>
              <a:t>23</a:t>
            </a:fld>
            <a:endParaRPr lang="en-GB"/>
          </a:p>
        </p:txBody>
      </p:sp>
      <p:sp>
        <p:nvSpPr>
          <p:cNvPr id="2" name="Date Placeholder 1"/>
          <p:cNvSpPr>
            <a:spLocks noGrp="1"/>
          </p:cNvSpPr>
          <p:nvPr>
            <p:ph type="dt" sz="half" idx="10"/>
          </p:nvPr>
        </p:nvSpPr>
        <p:spPr/>
        <p:txBody>
          <a:bodyPr/>
          <a:lstStyle/>
          <a:p>
            <a:fld id="{5214F42A-526B-48A9-BC69-A6D4A8C45747}" type="datetime1">
              <a:rPr lang="en-IN" smtClean="0"/>
              <a:t>22-11-2024</a:t>
            </a:fld>
            <a:endParaRPr lang="en-GB"/>
          </a:p>
        </p:txBody>
      </p:sp>
      <p:sp>
        <p:nvSpPr>
          <p:cNvPr id="5" name="Footer Placeholder 4">
            <a:extLst>
              <a:ext uri="{FF2B5EF4-FFF2-40B4-BE49-F238E27FC236}">
                <a16:creationId xmlns:a16="http://schemas.microsoft.com/office/drawing/2014/main" id="{B5684ECE-EAE2-C00D-155F-92BE1ADF73E7}"/>
              </a:ext>
            </a:extLst>
          </p:cNvPr>
          <p:cNvSpPr>
            <a:spLocks noGrp="1"/>
          </p:cNvSpPr>
          <p:nvPr>
            <p:ph type="ftr" sz="quarter" idx="11"/>
          </p:nvPr>
        </p:nvSpPr>
        <p:spPr/>
        <p:txBody>
          <a:bodyPr/>
          <a:lstStyle/>
          <a:p>
            <a:r>
              <a:rPr lang="en-GB"/>
              <a:t>Review 1.1</a:t>
            </a:r>
          </a:p>
        </p:txBody>
      </p:sp>
    </p:spTree>
    <p:extLst>
      <p:ext uri="{BB962C8B-B14F-4D97-AF65-F5344CB8AC3E}">
        <p14:creationId xmlns:p14="http://schemas.microsoft.com/office/powerpoint/2010/main" val="33117260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TotalTime>
  <Words>2227</Words>
  <Application>Microsoft Office PowerPoint</Application>
  <PresentationFormat>Widescreen</PresentationFormat>
  <Paragraphs>354</Paragraphs>
  <Slides>23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Data Preparation:</vt:lpstr>
      <vt:lpstr>Data Preparation: </vt:lpstr>
      <vt:lpstr>Data Preprocessing:</vt:lpstr>
      <vt:lpstr>PowerPoint Presentation</vt:lpstr>
      <vt:lpstr>PowerPoint Presentation</vt:lpstr>
      <vt:lpstr>PowerPoint Presentation</vt:lpstr>
      <vt:lpstr>PowerPoint Presentation</vt:lpstr>
      <vt:lpstr>PowerPoint Presentation</vt:lpstr>
      <vt:lpstr>Data Preparation:  Augmented Dataset:</vt:lpstr>
      <vt:lpstr>Literature</vt:lpstr>
      <vt:lpstr>Literature </vt:lpstr>
      <vt:lpstr>Literature </vt:lpstr>
      <vt:lpstr>Methodology:</vt:lpstr>
      <vt:lpstr>PowerPoint Presentation</vt:lpstr>
      <vt:lpstr>Timeline: </vt:lpstr>
      <vt:lpstr> Summary:</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dc:creator>
  <cp:lastModifiedBy>Dulam Santhosh Satya Sai Naga Hanuman - [CB.EN.U4ECE21012]</cp:lastModifiedBy>
  <cp:revision>6</cp:revision>
  <dcterms:created xsi:type="dcterms:W3CDTF">2023-09-07T11:44:27Z</dcterms:created>
  <dcterms:modified xsi:type="dcterms:W3CDTF">2024-11-22T06:02:29Z</dcterms:modified>
</cp:coreProperties>
</file>