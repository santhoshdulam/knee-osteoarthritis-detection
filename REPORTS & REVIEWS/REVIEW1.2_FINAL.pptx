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0"/>
  </p:notesMasterIdLst>
  <p:sldIdLst>
    <p:sldId id="271" r:id="rId2"/>
    <p:sldId id="259" r:id="rId3"/>
    <p:sldId id="273" r:id="rId4"/>
    <p:sldId id="280" r:id="rId5"/>
    <p:sldId id="321" r:id="rId6"/>
    <p:sldId id="299" r:id="rId7"/>
    <p:sldId id="322" r:id="rId8"/>
    <p:sldId id="296" r:id="rId9"/>
    <p:sldId id="319" r:id="rId10"/>
    <p:sldId id="317" r:id="rId11"/>
    <p:sldId id="316" r:id="rId12"/>
    <p:sldId id="326" r:id="rId13"/>
    <p:sldId id="311" r:id="rId14"/>
    <p:sldId id="323" r:id="rId15"/>
    <p:sldId id="307" r:id="rId16"/>
    <p:sldId id="325" r:id="rId17"/>
    <p:sldId id="320" r:id="rId18"/>
    <p:sldId id="312" r:id="rId19"/>
    <p:sldId id="313" r:id="rId20"/>
    <p:sldId id="324" r:id="rId21"/>
    <p:sldId id="315" r:id="rId22"/>
    <p:sldId id="266" r:id="rId23"/>
    <p:sldId id="267" r:id="rId24"/>
    <p:sldId id="268" r:id="rId25"/>
    <p:sldId id="327" r:id="rId26"/>
    <p:sldId id="329" r:id="rId27"/>
    <p:sldId id="294" r:id="rId28"/>
    <p:sldId id="272" r:id="rId2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2D4FAA-DD5A-7822-CEA2-C9418D646446}" name="santhosh dulam" initials="sd" userId="74bee7ff40ce727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25C80-AC60-40B6-81DE-B4027C0AC7D9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CF06E-422B-44E5-BC2F-D1B1B4933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28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76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565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18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710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6CC2-FF22-458E-8873-EDC3F96A51AF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3C0B48-B307-7FEA-E6CB-F8FAF629E8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5387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E496-AC0E-4FB9-BA85-B4C735C66A6D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BA07F5-002F-432B-8E65-16015ED9B4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9138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4CED-F20C-466A-AC36-EB90FC626722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69348-6C28-4342-9CBC-142A82D89E98}" type="datetime1">
              <a:rPr lang="en-IN" smtClean="0"/>
              <a:t>22-11-2024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1C819-9486-41EF-90BE-6EA92BF48140}" type="datetime1">
              <a:rPr lang="en-IN" smtClean="0"/>
              <a:t>22-11-2024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6759C-3906-483E-8AFC-6D8335158D0F}" type="datetime1">
              <a:rPr lang="en-IN" smtClean="0"/>
              <a:t>22-11-2024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DFF29-5ABD-4203-8DC7-86A975C8F34E}" type="datetime1">
              <a:rPr lang="en-IN" smtClean="0"/>
              <a:t>22-11-2024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7A3F8-83EB-71E6-1467-2B1445E0C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6388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BEF48-B726-49DF-9DA6-C079043D8786}" type="datetime1">
              <a:rPr lang="en-IN" smtClean="0"/>
              <a:t>22-11-2024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16F-7457-40AD-8857-6FDDEA81A61F}" type="datetime1">
              <a:rPr lang="en-IN" smtClean="0"/>
              <a:t>22-11-2024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FD68A-FB09-4727-BB45-D40A2E435E0A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A6D4-2930-4AED-95AA-F76C060F9AFD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721C7-C2DB-4CC0-A130-753B94DF1E35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Review 1.2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5B647-8643-3214-4D28-BF115DA72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05733"/>
            <a:ext cx="11006855" cy="6038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cs typeface="Calibri" panose="020F0502020204030204"/>
              </a:rPr>
              <a:t>Review 1.2</a:t>
            </a:r>
          </a:p>
          <a:p>
            <a:pPr marL="0" indent="0" algn="ctr">
              <a:buNone/>
            </a:pPr>
            <a:r>
              <a:rPr lang="en-US" b="1" u="sng" dirty="0" err="1"/>
              <a:t>B.Tech</a:t>
            </a:r>
            <a:r>
              <a:rPr lang="en-US" b="1" u="sng" dirty="0"/>
              <a:t> Project  (19ECE495)</a:t>
            </a:r>
            <a:endParaRPr lang="en-IN" dirty="0"/>
          </a:p>
          <a:p>
            <a:pPr marL="0" indent="0" algn="ctr">
              <a:buNone/>
            </a:pPr>
            <a:r>
              <a:rPr lang="en-US" dirty="0">
                <a:cs typeface="Calibri"/>
              </a:rPr>
              <a:t>Batch ID: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041</a:t>
            </a:r>
            <a:endParaRPr lang="en-US" b="1" dirty="0">
              <a:solidFill>
                <a:srgbClr val="C00000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b="1" dirty="0">
              <a:latin typeface="Times New Roman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3200" b="1" dirty="0">
                <a:ea typeface="+mn-lt"/>
                <a:cs typeface="+mn-lt"/>
              </a:rPr>
              <a:t>Multi-Class Classification and Detection of Knee Osteoarthritis From X- rays</a:t>
            </a:r>
            <a:endParaRPr lang="en-US" sz="2000" dirty="0">
              <a:cs typeface="Calibri"/>
            </a:endParaRPr>
          </a:p>
          <a:p>
            <a:pPr marL="0" indent="0">
              <a:buNone/>
            </a:pPr>
            <a:endParaRPr lang="en-US" sz="2000" dirty="0">
              <a:latin typeface="Times New Roman"/>
              <a:cs typeface="Calibri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2000" dirty="0">
                <a:cs typeface="Calibri"/>
              </a:rPr>
              <a:t>MENTOR: Dr. Devi Vijayan </a:t>
            </a:r>
            <a:endParaRPr lang="en-US" sz="2000" dirty="0">
              <a:ea typeface="Calibri"/>
              <a:cs typeface="Calibri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cs typeface="Calibri"/>
              </a:rPr>
              <a:t>Dept. of Elec. and </a:t>
            </a:r>
            <a:r>
              <a:rPr lang="en-US" sz="1600" dirty="0" err="1">
                <a:cs typeface="Calibri"/>
              </a:rPr>
              <a:t>Commn</a:t>
            </a:r>
            <a:r>
              <a:rPr lang="en-US" sz="1600" dirty="0">
                <a:cs typeface="Calibri"/>
              </a:rPr>
              <a:t>. </a:t>
            </a:r>
            <a:r>
              <a:rPr lang="en-US" sz="1600" dirty="0" err="1">
                <a:cs typeface="Calibri"/>
              </a:rPr>
              <a:t>Engg</a:t>
            </a:r>
            <a:r>
              <a:rPr lang="en-US" sz="1600" dirty="0">
                <a:cs typeface="Calibri"/>
              </a:rPr>
              <a:t>. </a:t>
            </a:r>
            <a:endParaRPr lang="en-US" sz="1600" dirty="0">
              <a:ea typeface="Calibri"/>
              <a:cs typeface="Calibri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cs typeface="Calibri"/>
              </a:rPr>
              <a:t>Amrita School of Engineering, Coimbatore</a:t>
            </a:r>
            <a:endParaRPr lang="en-US" sz="1600" dirty="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000" dirty="0">
              <a:latin typeface="Times New Roman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92D94-AEFD-6A06-AFD5-A7CBC3B7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4A2F5B-6245-B893-CD53-3C56A2565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554846"/>
              </p:ext>
            </p:extLst>
          </p:nvPr>
        </p:nvGraphicFramePr>
        <p:xfrm>
          <a:off x="838198" y="3947828"/>
          <a:ext cx="6013161" cy="1504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753663392"/>
                    </a:ext>
                  </a:extLst>
                </a:gridCol>
                <a:gridCol w="428533">
                  <a:extLst>
                    <a:ext uri="{9D8B030D-6E8A-4147-A177-3AD203B41FA5}">
                      <a16:colId xmlns:a16="http://schemas.microsoft.com/office/drawing/2014/main" val="1657209611"/>
                    </a:ext>
                  </a:extLst>
                </a:gridCol>
                <a:gridCol w="2580171">
                  <a:extLst>
                    <a:ext uri="{9D8B030D-6E8A-4147-A177-3AD203B41FA5}">
                      <a16:colId xmlns:a16="http://schemas.microsoft.com/office/drawing/2014/main" val="2318253839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 RISHI VARDHAN REDDY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02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D M SHAAHID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05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DULAM SANTHOSH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6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NUKALA SUMANTH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241696"/>
                  </a:ext>
                </a:extLst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4859A-1068-4EFA-8C64-F946F3A1B927}" type="datetime1">
              <a:rPr lang="en-IN" smtClean="0"/>
              <a:t>22-11-2024</a:t>
            </a:fld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DE8F17-CE76-0256-937E-776FB1DD8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Review 1.2</a:t>
            </a:r>
          </a:p>
        </p:txBody>
      </p:sp>
    </p:spTree>
    <p:extLst>
      <p:ext uri="{BB962C8B-B14F-4D97-AF65-F5344CB8AC3E}">
        <p14:creationId xmlns:p14="http://schemas.microsoft.com/office/powerpoint/2010/main" val="25379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7F2A1-5DDE-7069-23D5-29A12342A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0" y="407137"/>
            <a:ext cx="11339383" cy="5957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3600" b="1">
                <a:latin typeface="Times New Roman"/>
                <a:cs typeface="Times New Roman"/>
              </a:rPr>
              <a:t>Introduction:</a:t>
            </a:r>
            <a:endParaRPr lang="en-US">
              <a:latin typeface="Times New Roman"/>
              <a:cs typeface="Times New Roman"/>
            </a:endParaRPr>
          </a:p>
          <a:p>
            <a:pPr algn="just">
              <a:buNone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/>
                <a:ea typeface="+mn-lt"/>
                <a:cs typeface="Times New Roman"/>
              </a:rPr>
              <a:t>A study shows that KOA affects 1 in 5 individuals in the general population and 1 in 3 people over the age of 50. [1]</a:t>
            </a:r>
          </a:p>
          <a:p>
            <a:pPr algn="just"/>
            <a:r>
              <a:rPr lang="en-US" sz="2400">
                <a:latin typeface="Times New Roman"/>
                <a:ea typeface="+mn-lt"/>
                <a:cs typeface="Times New Roman"/>
              </a:rPr>
              <a:t>The early and accurate detection of knee osteoarthritis through advanced AI-driven methods can drastically improve patient outcomes by enabling timely interventions.</a:t>
            </a:r>
            <a:endParaRPr lang="en-US" sz="240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r>
              <a:rPr lang="en-US" sz="2400">
                <a:latin typeface="Times New Roman"/>
                <a:ea typeface="+mn-lt"/>
                <a:cs typeface="Times New Roman"/>
              </a:rPr>
              <a:t>Reducing the risk of severe joint damage and enhancing the quality of life for millions of individuals affected by this debilitating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>
                <a:latin typeface="Times New Roman"/>
                <a:ea typeface="+mn-lt"/>
                <a:cs typeface="Times New Roman"/>
              </a:rPr>
              <a:t>condition.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2400">
                <a:latin typeface="Times New Roman"/>
                <a:ea typeface="+mn-lt"/>
                <a:cs typeface="Times New Roman"/>
              </a:rPr>
              <a:t>Current methods for diagnosing knee osteoarthritis often misclassify early stages of the disease, leading to delayed or inappropriate treatment.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2400">
                <a:latin typeface="Times New Roman"/>
                <a:ea typeface="+mn-lt"/>
                <a:cs typeface="Times New Roman"/>
              </a:rPr>
              <a:t>By developing an automated, accurate grading system, this project provides a reliable tool that can support clinicians in making better-informed decisions, ultimately improving patient care.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43EFB-A9E7-DEB1-FEFD-AC026D61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2D8B-C4E8-44AF-9731-229027BA33EA}" type="datetime1">
              <a:rPr lang="en-IN" smtClean="0"/>
              <a:t>22-11-2024</a:t>
            </a:fld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F1E7F5-D0D1-3CDD-664E-52D45DFF3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</p:spTree>
    <p:extLst>
      <p:ext uri="{BB962C8B-B14F-4D97-AF65-F5344CB8AC3E}">
        <p14:creationId xmlns:p14="http://schemas.microsoft.com/office/powerpoint/2010/main" val="13596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F371A-7026-894E-8875-4FBCD18EC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891"/>
            <a:ext cx="10515600" cy="5957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3600" b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Objective:</a:t>
            </a:r>
            <a:endParaRPr lang="en-US" sz="36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Develop a Computer-Aided-Diagnosis (CAD) system to assist medical professionals in early and accurate Knee-OA diagnosis. 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Utilize deep learning models to automatically classify knee osteoarthritis severity into five grades (G-0 to G-4) according to the </a:t>
            </a:r>
            <a:r>
              <a:rPr lang="en-US" sz="240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Kellgren</a:t>
            </a:r>
            <a:r>
              <a:rPr lang="en-US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and Lawrence system. 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Implement Grad-CAM to visualize and interpret key regions in knee X-rays that influence the model's predictions, improving transparency and clinical decision-making. 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Validate and compare the deep learning model's performance against state-of-the-art models.</a:t>
            </a:r>
            <a:endParaRPr lang="en-US" sz="240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E6377D-3FBF-C512-9A99-D2F70F26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13CC3-3329-4267-9E1E-4AECDB7BB660}" type="datetime1">
              <a:rPr lang="en-IN" smtClean="0"/>
              <a:t>22-11-2024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A99A9C-AB29-B9C1-0B73-B8B6A486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</p:spTree>
    <p:extLst>
      <p:ext uri="{BB962C8B-B14F-4D97-AF65-F5344CB8AC3E}">
        <p14:creationId xmlns:p14="http://schemas.microsoft.com/office/powerpoint/2010/main" val="300298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FA-23A2-A045-7877-20630E7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06" y="2581"/>
            <a:ext cx="10515600" cy="803646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Calibri Light"/>
              </a:rPr>
              <a:t>Literature 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DDA15-BA88-778E-E06C-71ED0855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7A164-B547-4E24-A5E5-C9E949651C22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95EBC-6F94-8426-1EF0-1B87B5FA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79C578-4524-1573-6B77-3E572EBA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116803"/>
              </p:ext>
            </p:extLst>
          </p:nvPr>
        </p:nvGraphicFramePr>
        <p:xfrm>
          <a:off x="185025" y="806227"/>
          <a:ext cx="11823269" cy="50289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4388">
                  <a:extLst>
                    <a:ext uri="{9D8B030D-6E8A-4147-A177-3AD203B41FA5}">
                      <a16:colId xmlns:a16="http://schemas.microsoft.com/office/drawing/2014/main" val="2811906928"/>
                    </a:ext>
                  </a:extLst>
                </a:gridCol>
                <a:gridCol w="3335081">
                  <a:extLst>
                    <a:ext uri="{9D8B030D-6E8A-4147-A177-3AD203B41FA5}">
                      <a16:colId xmlns:a16="http://schemas.microsoft.com/office/drawing/2014/main" val="2201325007"/>
                    </a:ext>
                  </a:extLst>
                </a:gridCol>
                <a:gridCol w="2224141">
                  <a:extLst>
                    <a:ext uri="{9D8B030D-6E8A-4147-A177-3AD203B41FA5}">
                      <a16:colId xmlns:a16="http://schemas.microsoft.com/office/drawing/2014/main" val="431906563"/>
                    </a:ext>
                  </a:extLst>
                </a:gridCol>
                <a:gridCol w="5769659">
                  <a:extLst>
                    <a:ext uri="{9D8B030D-6E8A-4147-A177-3AD203B41FA5}">
                      <a16:colId xmlns:a16="http://schemas.microsoft.com/office/drawing/2014/main" val="1169910156"/>
                    </a:ext>
                  </a:extLst>
                </a:gridCol>
              </a:tblGrid>
              <a:tr h="902640"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 of the paper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981693"/>
                  </a:ext>
                </a:extLst>
              </a:tr>
              <a:tr h="2063177"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an automated optimal distance feature-based decision system for diagnosing knee osteoarthritis using 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segmented X-ray images.[2]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Heliyon, Volume 9,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distance-based features and the use of machine learning models in classifying the severity of knee osteoarthritis. Used Grad-Cam to segment Region of Interest. The models were validated by testing it on 30 unseen X-ray images.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248891"/>
                  </a:ext>
                </a:extLst>
              </a:tr>
              <a:tr h="2063177"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Stratifying knee osteoarthritis features through multitask deep hybrid learning: Data from the osteoarthritis initiative[3]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Computer Methods and Programs in Biomedicine, Volume 242, September 2023, Article 107807</a:t>
                      </a:r>
                      <a:r>
                        <a:rPr lang="en-US" sz="1800" b="0" i="0" kern="120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IN" sz="1800" b="0" i="0" kern="120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Replaced the fully connected layers in CNNs with Global Average Pooling (GAP) layers for feature extraction, to reduce the number of parameters.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639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020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FA-23A2-A045-7877-20630E7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06" y="2581"/>
            <a:ext cx="10515600" cy="803646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Calibri Light"/>
              </a:rPr>
              <a:t>Literature 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DDA15-BA88-778E-E06C-71ED0855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1CDC-55A4-48CF-BFDF-D7758AC2212A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95EBC-6F94-8426-1EF0-1B87B5FA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79C578-4524-1573-6B77-3E572EBA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265278"/>
              </p:ext>
            </p:extLst>
          </p:nvPr>
        </p:nvGraphicFramePr>
        <p:xfrm>
          <a:off x="185025" y="1248517"/>
          <a:ext cx="11823269" cy="487487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4388">
                  <a:extLst>
                    <a:ext uri="{9D8B030D-6E8A-4147-A177-3AD203B41FA5}">
                      <a16:colId xmlns:a16="http://schemas.microsoft.com/office/drawing/2014/main" val="2811906928"/>
                    </a:ext>
                  </a:extLst>
                </a:gridCol>
                <a:gridCol w="3335081">
                  <a:extLst>
                    <a:ext uri="{9D8B030D-6E8A-4147-A177-3AD203B41FA5}">
                      <a16:colId xmlns:a16="http://schemas.microsoft.com/office/drawing/2014/main" val="2201325007"/>
                    </a:ext>
                  </a:extLst>
                </a:gridCol>
                <a:gridCol w="2224141">
                  <a:extLst>
                    <a:ext uri="{9D8B030D-6E8A-4147-A177-3AD203B41FA5}">
                      <a16:colId xmlns:a16="http://schemas.microsoft.com/office/drawing/2014/main" val="431906563"/>
                    </a:ext>
                  </a:extLst>
                </a:gridCol>
                <a:gridCol w="5769659">
                  <a:extLst>
                    <a:ext uri="{9D8B030D-6E8A-4147-A177-3AD203B41FA5}">
                      <a16:colId xmlns:a16="http://schemas.microsoft.com/office/drawing/2014/main" val="1169910156"/>
                    </a:ext>
                  </a:extLst>
                </a:gridCol>
              </a:tblGrid>
              <a:tr h="947893"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 of the paper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981693"/>
                  </a:ext>
                </a:extLst>
              </a:tr>
              <a:tr h="2166613"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From Highly Confident Samples for Automatic Knee Osteoarthritis Severity Assessment: Data From the Osteoarthritis Initiative[4]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Journal of Biomedical and Health </a:t>
                      </a:r>
                      <a:r>
                        <a:rPr lang="en-IN" sz="1800" i="1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Informatics</a:t>
                      </a:r>
                      <a:r>
                        <a:rPr lang="en-IN" sz="18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26, no. 3, pp. 1239-1250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proposes a deep learning method for knee osteoarthritis (OA) severity assessment, using high-confidence samples and a hybrid loss function to enhance accuracy, excelling in both severity grading and early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558214"/>
                  </a:ext>
                </a:extLst>
              </a:tr>
              <a:tr h="1760373"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Knee Osteoarthritis Detection Using an Improved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CenterNet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Pixel-Wise Voting Scheme[5]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11, pp. 22283-22295, 2023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proposes a customized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CenterNet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DenseNet-201 for improved knee joint localization, achieving over 99% KOA detection accuracy using knowledge distillation to simplify the model.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081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8821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FA-23A2-A045-7877-20630E7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10" y="284492"/>
            <a:ext cx="10504557" cy="682168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Literature :</a:t>
            </a:r>
            <a:endParaRPr lang="en-US"/>
          </a:p>
          <a:p>
            <a:endParaRPr lang="en-US" sz="3200" b="1">
              <a:latin typeface="Times New Roman"/>
              <a:cs typeface="Calibr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DDA15-BA88-778E-E06C-71ED0855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7B65-D60C-4CCF-9D82-AF56044C55B4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95EBC-6F94-8426-1EF0-1B87B5FA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79C578-4524-1573-6B77-3E572EBA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135910"/>
              </p:ext>
            </p:extLst>
          </p:nvPr>
        </p:nvGraphicFramePr>
        <p:xfrm>
          <a:off x="357138" y="1142014"/>
          <a:ext cx="11468796" cy="43526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96345">
                  <a:extLst>
                    <a:ext uri="{9D8B030D-6E8A-4147-A177-3AD203B41FA5}">
                      <a16:colId xmlns:a16="http://schemas.microsoft.com/office/drawing/2014/main" val="2811906928"/>
                    </a:ext>
                  </a:extLst>
                </a:gridCol>
                <a:gridCol w="3316741">
                  <a:extLst>
                    <a:ext uri="{9D8B030D-6E8A-4147-A177-3AD203B41FA5}">
                      <a16:colId xmlns:a16="http://schemas.microsoft.com/office/drawing/2014/main" val="2201325007"/>
                    </a:ext>
                  </a:extLst>
                </a:gridCol>
                <a:gridCol w="2007053">
                  <a:extLst>
                    <a:ext uri="{9D8B030D-6E8A-4147-A177-3AD203B41FA5}">
                      <a16:colId xmlns:a16="http://schemas.microsoft.com/office/drawing/2014/main" val="431906563"/>
                    </a:ext>
                  </a:extLst>
                </a:gridCol>
                <a:gridCol w="5548657">
                  <a:extLst>
                    <a:ext uri="{9D8B030D-6E8A-4147-A177-3AD203B41FA5}">
                      <a16:colId xmlns:a16="http://schemas.microsoft.com/office/drawing/2014/main" val="1169910156"/>
                    </a:ext>
                  </a:extLst>
                </a:gridCol>
              </a:tblGrid>
              <a:tr h="40218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Title  of the paper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981693"/>
                  </a:ext>
                </a:extLst>
              </a:tr>
              <a:tr h="1700892">
                <a:tc>
                  <a:txBody>
                    <a:bodyPr/>
                    <a:lstStyle/>
                    <a:p>
                      <a:pPr algn="just"/>
                      <a:r>
                        <a:rPr lang="en-IN"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Knee osteoarthritis severity prediction using an attentive multi-scale deep convolutional neural network [6]</a:t>
                      </a:r>
                      <a:endParaRPr lang="en-IN" sz="1800" b="0" i="0" u="none" strike="noStrike" noProof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1" u="none" strike="noStrike" noProof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Springer link Multimedia Tools and Applications, </a:t>
                      </a:r>
                      <a:r>
                        <a:rPr lang="en-US" sz="1800" b="0" i="0" u="none" strike="noStrike" noProof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vol. 83, pp. 6925–6942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OsteoHRNet</a:t>
                      </a:r>
                      <a:r>
                        <a:rPr lang="en-IN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a deep learning model that uses </a:t>
                      </a:r>
                      <a:r>
                        <a:rPr lang="en-IN" sz="1800" b="0" i="0" u="none" strike="noStrike" noProof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HRNet</a:t>
                      </a:r>
                      <a:r>
                        <a:rPr lang="en-IN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multi-scale feature extraction from knee X-rays, with CBAM enhancing relevant feature focus. It optimizes predictions using an ordinal loss function, improving accuracy in classifying osteoarthritis severity.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248891"/>
                  </a:ext>
                </a:extLst>
              </a:tr>
              <a:tr h="1074510">
                <a:tc>
                  <a:txBody>
                    <a:bodyPr/>
                    <a:lstStyle/>
                    <a:p>
                      <a:pPr algn="just"/>
                      <a:r>
                        <a:rPr lang="en-IN"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latin typeface="Times New Roman"/>
                          <a:cs typeface="Times New Roman"/>
                        </a:rPr>
                        <a:t>Evaluating the efficacy of deep learning models for knee osteoarthritis prediction based on Kellgren-Lawrence grading system .[7]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noProof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Elsevier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noProof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e-Prime - Advances in Electrical Engineering, Electronics and Energy, </a:t>
                      </a:r>
                      <a:r>
                        <a:rPr lang="en-US" sz="1800" b="0" i="0" u="none" strike="noStrike" noProof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vol. 5, p. 100266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latin typeface="Times New Roman"/>
                        </a:rPr>
                        <a:t>The study emphasizes the need for accurate, reliable models to automate KOA classification, reducing dependence on radiologists in underserved areas. Increasing dataset size and fine-tuning models could further enhance their clinical effectiveness, improving decision-making.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889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119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FA-23A2-A045-7877-20630E7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10" y="284492"/>
            <a:ext cx="10504557" cy="682168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Literature :</a:t>
            </a:r>
            <a:endParaRPr lang="en-US"/>
          </a:p>
          <a:p>
            <a:endParaRPr lang="en-US" sz="3200" b="1">
              <a:latin typeface="Times New Roman"/>
              <a:cs typeface="Calibr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DDA15-BA88-778E-E06C-71ED0855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03A-7791-4C7D-B4D5-43D3EB5B48B7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95EBC-6F94-8426-1EF0-1B87B5FA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79C578-4524-1573-6B77-3E572EBA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986286"/>
              </p:ext>
            </p:extLst>
          </p:nvPr>
        </p:nvGraphicFramePr>
        <p:xfrm>
          <a:off x="357138" y="1176684"/>
          <a:ext cx="11468799" cy="495196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96345">
                  <a:extLst>
                    <a:ext uri="{9D8B030D-6E8A-4147-A177-3AD203B41FA5}">
                      <a16:colId xmlns:a16="http://schemas.microsoft.com/office/drawing/2014/main" val="2811906928"/>
                    </a:ext>
                  </a:extLst>
                </a:gridCol>
                <a:gridCol w="3316741">
                  <a:extLst>
                    <a:ext uri="{9D8B030D-6E8A-4147-A177-3AD203B41FA5}">
                      <a16:colId xmlns:a16="http://schemas.microsoft.com/office/drawing/2014/main" val="2201325007"/>
                    </a:ext>
                  </a:extLst>
                </a:gridCol>
                <a:gridCol w="2160133">
                  <a:extLst>
                    <a:ext uri="{9D8B030D-6E8A-4147-A177-3AD203B41FA5}">
                      <a16:colId xmlns:a16="http://schemas.microsoft.com/office/drawing/2014/main" val="431906563"/>
                    </a:ext>
                  </a:extLst>
                </a:gridCol>
                <a:gridCol w="5395580">
                  <a:extLst>
                    <a:ext uri="{9D8B030D-6E8A-4147-A177-3AD203B41FA5}">
                      <a16:colId xmlns:a16="http://schemas.microsoft.com/office/drawing/2014/main" val="1169910156"/>
                    </a:ext>
                  </a:extLst>
                </a:gridCol>
              </a:tblGrid>
              <a:tr h="962883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 of the paper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981693"/>
                  </a:ext>
                </a:extLst>
              </a:tr>
              <a:tr h="2200875"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Sequential VGG16+CNN-Based Automated Approach With Adaptive Input for Efficient Detection of Knee Osteoarthritis Stages[8]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Vol. 12, 2024, pp. 62407-62415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combining the feature extraction power of VGG16 and the spatial analysis capabilities of CNN, the hybrid model significantly improves the accuracy of OA detection from X-ray images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093039"/>
                  </a:ext>
                </a:extLst>
              </a:tr>
              <a:tr h="1788211"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Automatic Classification of Knee Osteoarthritis Severity Using Gait Data and Radiographic Image[9]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Vol. 8, 2020, pp. 120597-120603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integration of both gait data and radiographic images significantly outperforms the use of radiographic images alone for KOA classification in the deep learning model Inception-ResNet-v2.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88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67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E4A2-5D86-7103-F873-2A14F796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Methodology: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64F82-EEC8-4684-AFF8-E8DEC43E96F5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22-11-2024</a:t>
            </a:fld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DB8A2-6EF7-49F8-71D8-950558459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Review 1.2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7F168-C344-E8C6-994A-D5D3A95E4FE2}"/>
              </a:ext>
            </a:extLst>
          </p:cNvPr>
          <p:cNvSpPr/>
          <p:nvPr/>
        </p:nvSpPr>
        <p:spPr>
          <a:xfrm>
            <a:off x="234674" y="2011432"/>
            <a:ext cx="2032003" cy="30502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latin typeface="Times New Roman"/>
                <a:ea typeface="Calibri"/>
                <a:cs typeface="Times New Roman"/>
              </a:rPr>
              <a:t>Processed</a:t>
            </a:r>
          </a:p>
          <a:p>
            <a:pPr algn="ctr"/>
            <a:r>
              <a:rPr lang="en-IN" b="1">
                <a:latin typeface="Times New Roman"/>
                <a:ea typeface="Calibri"/>
                <a:cs typeface="Times New Roman"/>
              </a:rPr>
              <a:t>Input X-ray</a:t>
            </a:r>
            <a:endParaRPr lang="en-IN" b="1">
              <a:latin typeface="Times New Roman"/>
              <a:cs typeface="Times New Roman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C7FEBC-DB44-7B9D-DA21-9CC392B5BE8E}"/>
              </a:ext>
            </a:extLst>
          </p:cNvPr>
          <p:cNvSpPr/>
          <p:nvPr/>
        </p:nvSpPr>
        <p:spPr>
          <a:xfrm>
            <a:off x="6029738" y="2294110"/>
            <a:ext cx="1802295" cy="11529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  <a:b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8C65E0-65DA-F20B-0FC5-6EA3127D2A95}"/>
              </a:ext>
            </a:extLst>
          </p:cNvPr>
          <p:cNvSpPr/>
          <p:nvPr/>
        </p:nvSpPr>
        <p:spPr>
          <a:xfrm>
            <a:off x="6029739" y="3829877"/>
            <a:ext cx="1802295" cy="11529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b="1">
                <a:latin typeface="Times New Roman"/>
                <a:cs typeface="Times New Roman"/>
              </a:rPr>
              <a:t>Learned Features </a:t>
            </a:r>
            <a:endParaRPr lang="en-IN">
              <a:latin typeface="Times New Roman"/>
              <a:cs typeface="Times New Roman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60FAAB-A6FC-365C-E42C-AF75B92DE0D4}"/>
              </a:ext>
            </a:extLst>
          </p:cNvPr>
          <p:cNvSpPr/>
          <p:nvPr/>
        </p:nvSpPr>
        <p:spPr>
          <a:xfrm>
            <a:off x="8275978" y="1876700"/>
            <a:ext cx="1696278" cy="34720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b="1">
                <a:latin typeface="Times New Roman"/>
                <a:cs typeface="Times New Roman"/>
              </a:rPr>
              <a:t>Visualization of Extracted Features by Grad-CAM</a:t>
            </a:r>
            <a:endParaRPr lang="en-IN">
              <a:latin typeface="Times New Roman"/>
              <a:cs typeface="Times New Roman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8E7806-5BB4-12CE-E890-3981276FBC26}"/>
              </a:ext>
            </a:extLst>
          </p:cNvPr>
          <p:cNvSpPr/>
          <p:nvPr/>
        </p:nvSpPr>
        <p:spPr>
          <a:xfrm>
            <a:off x="10539619" y="2287519"/>
            <a:ext cx="1495010" cy="26901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latin typeface="Times New Roman"/>
                <a:cs typeface="Times New Roman"/>
              </a:rPr>
              <a:t>Grad-CAM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0EAEC7-D995-D5D0-5A26-C5411072EE14}"/>
              </a:ext>
            </a:extLst>
          </p:cNvPr>
          <p:cNvSpPr/>
          <p:nvPr/>
        </p:nvSpPr>
        <p:spPr>
          <a:xfrm>
            <a:off x="3162851" y="2865439"/>
            <a:ext cx="2332381" cy="3828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VGG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52F3B9-ED14-6F0F-2628-D46B3466E219}"/>
              </a:ext>
            </a:extLst>
          </p:cNvPr>
          <p:cNvSpPr/>
          <p:nvPr/>
        </p:nvSpPr>
        <p:spPr>
          <a:xfrm>
            <a:off x="3162851" y="3479522"/>
            <a:ext cx="2332381" cy="3937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b="1">
                <a:latin typeface="Times New Roman"/>
                <a:cs typeface="Times New Roman"/>
              </a:rPr>
              <a:t>ResNet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DE216E-0D51-97D7-DA14-3249CBF23DD4}"/>
              </a:ext>
            </a:extLst>
          </p:cNvPr>
          <p:cNvSpPr/>
          <p:nvPr/>
        </p:nvSpPr>
        <p:spPr>
          <a:xfrm>
            <a:off x="3162851" y="4148407"/>
            <a:ext cx="2332382" cy="3651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800" b="1" baseline="0">
                <a:latin typeface="Times New Roman"/>
              </a:rPr>
              <a:t>EfficientNet</a:t>
            </a:r>
            <a:endParaRPr lang="en-IN" b="1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6DB46C-D034-5EAD-D86A-3DFBA3C49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2700759"/>
            <a:ext cx="2006049" cy="236105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D46A771A-3428-BACD-6753-A2C720A3BE1F}"/>
              </a:ext>
            </a:extLst>
          </p:cNvPr>
          <p:cNvSpPr/>
          <p:nvPr/>
        </p:nvSpPr>
        <p:spPr>
          <a:xfrm>
            <a:off x="2523712" y="3424946"/>
            <a:ext cx="530089" cy="48463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1D77924-BD57-57C9-9F48-17D7DC439251}"/>
              </a:ext>
            </a:extLst>
          </p:cNvPr>
          <p:cNvSpPr/>
          <p:nvPr/>
        </p:nvSpPr>
        <p:spPr>
          <a:xfrm>
            <a:off x="5592414" y="3429000"/>
            <a:ext cx="437322" cy="49257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18F5364-8FAD-A168-4662-E171A044BD2E}"/>
              </a:ext>
            </a:extLst>
          </p:cNvPr>
          <p:cNvSpPr/>
          <p:nvPr/>
        </p:nvSpPr>
        <p:spPr>
          <a:xfrm>
            <a:off x="7885034" y="3341264"/>
            <a:ext cx="384312" cy="54294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7DD0C7A-5953-CB57-77EB-C31F89884656}"/>
              </a:ext>
            </a:extLst>
          </p:cNvPr>
          <p:cNvSpPr/>
          <p:nvPr/>
        </p:nvSpPr>
        <p:spPr>
          <a:xfrm>
            <a:off x="10033961" y="3361804"/>
            <a:ext cx="443954" cy="5581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x-ray of a person&amp;#39;s body&#10;&#10;Description automatically generated">
            <a:extLst>
              <a:ext uri="{FF2B5EF4-FFF2-40B4-BE49-F238E27FC236}">
                <a16:creationId xmlns:a16="http://schemas.microsoft.com/office/drawing/2014/main" id="{EE78F6BF-B201-3F06-D2CE-3B82F488E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332" y="2838589"/>
            <a:ext cx="1276861" cy="220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33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20AB-C85B-6A12-D3BA-2330E1ADD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VGG16: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11588-236C-2D3C-A091-4DB7F156E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VGG16 has 16 weight layers: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13 convolutional layers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2.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 fully connected layers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3.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Max-pooling layers after some of the convolutional layers.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VGG16 is commonly used as a pretrained model, meaning it can be fine-tuned for specific tasks such as object detection and image classification.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C21BF-7F1A-073C-0284-121B3B34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771B1-CB1F-4609-8BAB-26568A74D89A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D62F2-8399-3B2F-8E76-53D92254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CA1D4-D21B-5E1A-F9F6-5904E578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739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043E-0764-001D-6D7E-9F56E87D9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9570"/>
            <a:ext cx="10515600" cy="2021301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for a classification model: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D0CF9D2-463F-E0C0-3E02-8B59F7B0DC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226116"/>
              </p:ext>
            </p:extLst>
          </p:nvPr>
        </p:nvGraphicFramePr>
        <p:xfrm>
          <a:off x="683790" y="1139905"/>
          <a:ext cx="10515600" cy="39355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0243100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36128952"/>
                    </a:ext>
                  </a:extLst>
                </a:gridCol>
              </a:tblGrid>
              <a:tr h="60510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32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32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</a:t>
                      </a:r>
                      <a:endParaRPr lang="en-US" sz="3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3318"/>
                  </a:ext>
                </a:extLst>
              </a:tr>
              <a:tr h="832607"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32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05321"/>
                  </a:ext>
                </a:extLst>
              </a:tr>
              <a:tr h="832607"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32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0.9012</a:t>
                      </a:r>
                      <a:endParaRPr lang="en-IN" sz="32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3987"/>
                  </a:ext>
                </a:extLst>
              </a:tr>
              <a:tr h="832607"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32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851025"/>
                  </a:ext>
                </a:extLst>
              </a:tr>
              <a:tr h="832607"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32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0.8231</a:t>
                      </a:r>
                      <a:endParaRPr lang="en-IN" sz="32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61270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21EEE-D042-1DA9-28D4-B9F72BAEB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41AF-87A4-45C0-9C35-304DC3F19E37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85397-3AFE-C32B-54DB-6194EC03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E5991-22EF-5262-57C2-4BCEA97B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10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F9D3F-E184-35A0-C54A-DB81A778766F}"/>
              </a:ext>
            </a:extLst>
          </p:cNvPr>
          <p:cNvSpPr txBox="1"/>
          <p:nvPr/>
        </p:nvSpPr>
        <p:spPr>
          <a:xfrm>
            <a:off x="1012354" y="5363111"/>
            <a:ext cx="411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predicted labels: </a:t>
            </a:r>
            <a:r>
              <a:rPr lang="en-IN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4017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813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D29D407-C881-B9BF-1F54-B0E0EDEDB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25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VGG16:</a:t>
            </a:r>
            <a:b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images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6EDED1-FB1C-914F-8FA1-2F9D00568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087" y="1231035"/>
            <a:ext cx="6094341" cy="473825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79543-4C82-39AA-9021-0F2BAE55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CD4E2-050E-4C20-8BE3-D68472C68AEC}" type="datetime1">
              <a:rPr lang="en-IN" smtClean="0"/>
              <a:t>22-11-2024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A4C2E-6B09-FD58-20AA-7F6FCC72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E3350-BDA7-081A-B52F-54CCD420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138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E6045-CED3-80F7-6450-FF4F3D0B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C4C4-C93A-1539-B5F8-D50FA6494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85831"/>
            <a:ext cx="10515600" cy="1833563"/>
          </a:xfrm>
        </p:spPr>
        <p:txBody>
          <a:bodyPr/>
          <a:lstStyle/>
          <a:p>
            <a:r>
              <a:rPr lang="en-US" b="1">
                <a:latin typeface="Times New Roman"/>
                <a:cs typeface="Calibri Light"/>
              </a:rPr>
              <a:t>Model accuracy, Loss: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EC13E-A89E-F301-E021-290A4183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4163-701C-427B-A9E1-840AFE705F19}" type="datetime1">
              <a:rPr lang="en-IN" smtClean="0"/>
              <a:t>22-11-2024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9ED92-B190-BA02-9F9D-BBA2D072C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977F6-C2D6-D43F-6462-7363ABFC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7764AA-0221-25A0-79CC-6C003E13E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30" y="1765504"/>
            <a:ext cx="5400675" cy="43148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E6DF38-1F43-0E49-7898-C4CFA3F28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262" y="1765504"/>
            <a:ext cx="54006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09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03BC-0A47-60FA-583A-1D362FB65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Calibri Light"/>
              </a:rPr>
              <a:t>RESNET50:</a:t>
            </a:r>
            <a:endParaRPr lang="en-US" b="1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00F1-7257-273D-D709-68DCD7E36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65" y="1355900"/>
            <a:ext cx="11298476" cy="482106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>
                <a:latin typeface="Times New Roman"/>
                <a:ea typeface="+mn-lt"/>
                <a:cs typeface="+mn-lt"/>
              </a:rPr>
              <a:t>ResNet-50 was developed by Microsoft Research Asia and released in 2015.</a:t>
            </a:r>
          </a:p>
          <a:p>
            <a:r>
              <a:rPr lang="en-US" b="1">
                <a:latin typeface="Times New Roman"/>
                <a:ea typeface="+mn-lt"/>
                <a:cs typeface="+mn-lt"/>
              </a:rPr>
              <a:t>50 layers</a:t>
            </a:r>
            <a:r>
              <a:rPr lang="en-US">
                <a:latin typeface="Times New Roman"/>
                <a:ea typeface="+mn-lt"/>
                <a:cs typeface="+mn-lt"/>
              </a:rPr>
              <a:t> in total, consisting of:</a:t>
            </a:r>
          </a:p>
          <a:p>
            <a:r>
              <a:rPr lang="en-US">
                <a:latin typeface="Times New Roman"/>
                <a:ea typeface="+mn-lt"/>
                <a:cs typeface="+mn-lt"/>
              </a:rPr>
              <a:t>1 Conv layer (7x7 convolution)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1 Max-pooling layer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16 Residual blocks (each consisting of 3 convolutional layers)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Fully connected (FC) layer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err="1">
                <a:latin typeface="Times New Roman"/>
                <a:ea typeface="+mn-lt"/>
                <a:cs typeface="+mn-lt"/>
              </a:rPr>
              <a:t>Softmax</a:t>
            </a:r>
            <a:r>
              <a:rPr lang="en-US">
                <a:latin typeface="Times New Roman"/>
                <a:ea typeface="+mn-lt"/>
                <a:cs typeface="+mn-lt"/>
              </a:rPr>
              <a:t> activation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ResNet-50 is a convolutional neural network (CNN) that excels at image classification.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Calibri"/>
              </a:rPr>
              <a:t>Feature Hierarchy in ResNet50 are Low-level features and High-level features.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C0D2C-8F19-0E9D-30DC-FC57297E7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7949A-AAF5-46B2-A04F-EEFB952E56BC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A89F6-7BDA-E5D0-2AB3-9166202C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4D4B6-9915-53A5-9B7C-591270864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413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D45A6-72CF-248D-5B81-ACF25967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286" y="376170"/>
            <a:ext cx="10515600" cy="1093650"/>
          </a:xfrm>
        </p:spPr>
        <p:txBody>
          <a:bodyPr>
            <a:normAutofit fontScale="90000"/>
          </a:bodyPr>
          <a:lstStyle/>
          <a:p>
            <a:b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for a classification model: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CFC8AF6-6C1C-13E6-5B67-07872E12D2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694259"/>
              </p:ext>
            </p:extLst>
          </p:nvPr>
        </p:nvGraphicFramePr>
        <p:xfrm>
          <a:off x="838200" y="1825625"/>
          <a:ext cx="10515600" cy="28404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95025753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4189291157"/>
                    </a:ext>
                  </a:extLst>
                </a:gridCol>
              </a:tblGrid>
              <a:tr h="7994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b="1" i="0">
                        <a:solidFill>
                          <a:srgbClr val="FFFFFF"/>
                        </a:solidFill>
                        <a:effectLst/>
                        <a:latin typeface="Times New Roman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endParaRPr lang="en-US" b="1" i="0">
                        <a:solidFill>
                          <a:srgbClr val="FFFFFF"/>
                        </a:solidFill>
                        <a:effectLst/>
                        <a:latin typeface="Times New Roman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b="1" i="0">
                        <a:solidFill>
                          <a:srgbClr val="FFFFFF"/>
                        </a:solidFill>
                        <a:effectLst/>
                        <a:latin typeface="Times New Roman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662444"/>
                  </a:ext>
                </a:extLst>
              </a:tr>
              <a:tr h="5102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</a:pP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069446"/>
                  </a:ext>
                </a:extLst>
              </a:tr>
              <a:tr h="5102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</a:pP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327568"/>
                  </a:ext>
                </a:extLst>
              </a:tr>
              <a:tr h="5102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</a:pP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931756"/>
                  </a:ext>
                </a:extLst>
              </a:tr>
              <a:tr h="5102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75"/>
                        </a:lnSpc>
                      </a:pP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3818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9423-0FD7-E5FF-50D7-943BE64F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8D0-BC94-488B-82EF-1002E035158F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EA107-39C2-690B-A971-E41CE9FEA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1E74A-C877-C2EE-56F0-96ACC8F8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14</a:t>
            </a:fld>
            <a:endParaRPr lang="en-GB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E083534-52A9-CD81-11B7-27A5A51B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86525"/>
              </p:ext>
            </p:extLst>
          </p:nvPr>
        </p:nvGraphicFramePr>
        <p:xfrm>
          <a:off x="839304" y="1855304"/>
          <a:ext cx="10515600" cy="303347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162829599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1882517809"/>
                    </a:ext>
                  </a:extLst>
                </a:gridCol>
              </a:tblGrid>
              <a:tr h="62089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1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Performance metrics</a:t>
                      </a: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1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Values</a:t>
                      </a: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753787"/>
                  </a:ext>
                </a:extLst>
              </a:tr>
              <a:tr h="56445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0.8382</a:t>
                      </a: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257442"/>
                  </a:ext>
                </a:extLst>
              </a:tr>
              <a:tr h="56445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Precision</a:t>
                      </a: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0.9087</a:t>
                      </a: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622654"/>
                  </a:ext>
                </a:extLst>
              </a:tr>
              <a:tr h="56445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Recall</a:t>
                      </a: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0.8382</a:t>
                      </a: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7741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F1-score</a:t>
                      </a: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8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0.7822</a:t>
                      </a:r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3487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57C478D-2355-DD99-4144-2EA3EBB154C3}"/>
              </a:ext>
            </a:extLst>
          </p:cNvPr>
          <p:cNvSpPr txBox="1"/>
          <p:nvPr/>
        </p:nvSpPr>
        <p:spPr>
          <a:xfrm>
            <a:off x="872697" y="5178074"/>
            <a:ext cx="1051780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Times New Roman"/>
                <a:cs typeface="Times New Roman"/>
              </a:rPr>
              <a:t>Number of predicted labels: 4017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23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043E-0764-001D-6D7E-9F56E87D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Calibri Light"/>
              </a:rPr>
              <a:t>RESNET50:</a:t>
            </a:r>
            <a:endParaRPr lang="en-US" b="1">
              <a:latin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21EEE-D042-1DA9-28D4-B9F72BAEB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A970-66C3-4C90-9118-884778A956A8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85397-3AFE-C32B-54DB-6194EC03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E5991-22EF-5262-57C2-4BCEA97B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15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31C8D7-11C4-4C9B-A269-4968625DB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137" y="1282700"/>
            <a:ext cx="61817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37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3D64-A08E-9444-6B6B-9E548AEE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85831"/>
            <a:ext cx="10515600" cy="1833563"/>
          </a:xfrm>
        </p:spPr>
        <p:txBody>
          <a:bodyPr/>
          <a:lstStyle/>
          <a:p>
            <a:r>
              <a:rPr lang="en-US" b="1">
                <a:latin typeface="Times New Roman"/>
                <a:cs typeface="Calibri Light"/>
              </a:rPr>
              <a:t>Model accuracy, Loss: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79B56-F082-8485-B503-ED4E931D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91D9-7568-46D5-BF20-04FC0BB679E5}" type="datetime1">
              <a:rPr lang="en-IN" smtClean="0"/>
              <a:t>22-11-2024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F87D5-464D-8F13-8DF5-A6BF99A4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B3E86-038A-9B2F-7005-60142613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16</a:t>
            </a:fld>
            <a:endParaRPr lang="en-GB"/>
          </a:p>
        </p:txBody>
      </p:sp>
      <p:pic>
        <p:nvPicPr>
          <p:cNvPr id="14" name="Content Placeholder 13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830023C3-3504-3F2A-08B5-41EB500B4F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22257"/>
            <a:ext cx="5181600" cy="4158074"/>
          </a:xfrm>
        </p:spPr>
      </p:pic>
      <p:pic>
        <p:nvPicPr>
          <p:cNvPr id="13" name="Content Placeholder 12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76B642E8-2702-C4DF-4BCC-D37FC7DFE7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36502" y="1922257"/>
            <a:ext cx="5160723" cy="4158072"/>
          </a:xfrm>
        </p:spPr>
      </p:pic>
    </p:spTree>
    <p:extLst>
      <p:ext uri="{BB962C8B-B14F-4D97-AF65-F5344CB8AC3E}">
        <p14:creationId xmlns:p14="http://schemas.microsoft.com/office/powerpoint/2010/main" val="1508658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9A42-F109-0135-22A0-D5D4C4927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472"/>
            <a:ext cx="10515600" cy="707129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  <a:cs typeface="calibri light"/>
              </a:rPr>
              <a:t>EfficientNetV2B0</a:t>
            </a:r>
          </a:p>
          <a:p>
            <a:endParaRPr lang="en-US" b="1">
              <a:latin typeface="Times New Roman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78E27-D1E1-4F47-4969-AD1AEC7B2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017"/>
            <a:ext cx="10515600" cy="47599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err="1">
                <a:latin typeface="Times New Roman"/>
                <a:ea typeface="+mn-lt"/>
                <a:cs typeface="+mn-lt"/>
              </a:rPr>
              <a:t>EfficientNet</a:t>
            </a:r>
            <a:r>
              <a:rPr lang="en-US">
                <a:latin typeface="Times New Roman"/>
                <a:ea typeface="+mn-lt"/>
                <a:cs typeface="+mn-lt"/>
              </a:rPr>
              <a:t>, introduced by Google AI researchers in 2019, excels in tasks like object detection and image segmentation.</a:t>
            </a:r>
            <a:endParaRPr lang="en-US">
              <a:latin typeface="Times New Roman"/>
              <a:cs typeface="Calibri"/>
            </a:endParaRPr>
          </a:p>
          <a:p>
            <a:pPr algn="just"/>
            <a:r>
              <a:rPr lang="en-US">
                <a:latin typeface="Times New Roman"/>
                <a:ea typeface="+mn-lt"/>
                <a:cs typeface="+mn-lt"/>
              </a:rPr>
              <a:t>It employs compound scaling to optimize model dimensions—width, depth, and resolution.</a:t>
            </a:r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>
                <a:latin typeface="Times New Roman"/>
                <a:ea typeface="+mn-lt"/>
                <a:cs typeface="+mn-lt"/>
              </a:rPr>
              <a:t>The architecture achieves efficiency without compromising accuracy, overcoming traditional accuracy-resource trade-offs.</a:t>
            </a:r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>
                <a:latin typeface="Times New Roman"/>
                <a:ea typeface="+mn-lt"/>
                <a:cs typeface="+mn-lt"/>
              </a:rPr>
              <a:t>The EfficientNetV2B0 architecture consists of 9 layers in total. These layers include, Conv2D Layers, Batch Normalization Layers, </a:t>
            </a:r>
            <a:r>
              <a:rPr lang="en-US" err="1">
                <a:latin typeface="Times New Roman"/>
                <a:ea typeface="+mn-lt"/>
                <a:cs typeface="+mn-lt"/>
              </a:rPr>
              <a:t>Depthwise</a:t>
            </a:r>
            <a:r>
              <a:rPr lang="en-US">
                <a:latin typeface="Times New Roman"/>
                <a:ea typeface="+mn-lt"/>
                <a:cs typeface="+mn-lt"/>
              </a:rPr>
              <a:t> Separable Convolution Layers, Global Average Pooling Layer.</a:t>
            </a:r>
            <a:endParaRPr lang="en-US">
              <a:latin typeface="Times New Roman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E89E9-04B1-5D5C-ACE8-0CCB8B673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685B-3A2C-4350-8D4A-3957282C44A6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C9380-3C4E-E276-11D8-37D0CAAC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831A3-A063-3556-35B1-48952406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59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D45A6-72CF-248D-5B81-ACF25967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286" y="376170"/>
            <a:ext cx="10515600" cy="1093650"/>
          </a:xfrm>
        </p:spPr>
        <p:txBody>
          <a:bodyPr>
            <a:normAutofit fontScale="90000"/>
          </a:bodyPr>
          <a:lstStyle/>
          <a:p>
            <a:b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for a classification model:</a:t>
            </a:r>
            <a:b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>
              <a:latin typeface="calibri light"/>
              <a:cs typeface="calibri light"/>
            </a:endParaRPr>
          </a:p>
          <a:p>
            <a:endParaRPr lang="en-US" sz="3600">
              <a:cs typeface="Calibri Ligh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9423-0FD7-E5FF-50D7-943BE64F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4529-2FFF-412E-B5B6-A1B546317FCA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EA107-39C2-690B-A971-E41CE9FEA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1E74A-C877-C2EE-56F0-96ACC8F8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18</a:t>
            </a:fld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7C478D-2355-DD99-4144-2EA3EBB154C3}"/>
              </a:ext>
            </a:extLst>
          </p:cNvPr>
          <p:cNvSpPr txBox="1"/>
          <p:nvPr/>
        </p:nvSpPr>
        <p:spPr>
          <a:xfrm>
            <a:off x="872697" y="5178074"/>
            <a:ext cx="1051780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>
              <a:latin typeface="Times New Roman"/>
              <a:cs typeface="Times New Roman"/>
            </a:endParaRPr>
          </a:p>
          <a:p>
            <a:r>
              <a:rPr lang="en-US" sz="2800">
                <a:latin typeface="Times New Roman"/>
                <a:cs typeface="Times New Roman"/>
              </a:rPr>
              <a:t>Number of predicted labels: 4017</a:t>
            </a:r>
            <a:endParaRPr lang="en-US">
              <a:cs typeface="Calibri"/>
            </a:endParaRPr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E150A5F5-71F5-E09A-3DFE-AE143C02E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960830"/>
              </p:ext>
            </p:extLst>
          </p:nvPr>
        </p:nvGraphicFramePr>
        <p:xfrm>
          <a:off x="839304" y="1645478"/>
          <a:ext cx="10515600" cy="35093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444584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65368515"/>
                    </a:ext>
                  </a:extLst>
                </a:gridCol>
              </a:tblGrid>
              <a:tr h="665884">
                <a:tc>
                  <a:txBody>
                    <a:bodyPr/>
                    <a:lstStyle/>
                    <a:p>
                      <a:pPr lvl="0" algn="ctr" rtl="0">
                        <a:lnSpc>
                          <a:spcPts val="1875"/>
                        </a:lnSpc>
                        <a:buNone/>
                      </a:pPr>
                      <a:endParaRPr lang="en-US" sz="2800" b="1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Performance metrics</a:t>
                      </a:r>
                      <a:endParaRPr lang="en-US" b="1"/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875"/>
                        </a:lnSpc>
                        <a:buNone/>
                      </a:pPr>
                      <a:endParaRPr lang="en-US" sz="2800" b="1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Values</a:t>
                      </a:r>
                      <a:endParaRPr lang="en-US" b="1"/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48545"/>
                  </a:ext>
                </a:extLst>
              </a:tr>
              <a:tr h="665884">
                <a:tc>
                  <a:txBody>
                    <a:bodyPr/>
                    <a:lstStyle/>
                    <a:p>
                      <a:pPr lvl="0" algn="ctr" rtl="0">
                        <a:lnSpc>
                          <a:spcPts val="1875"/>
                        </a:lnSpc>
                        <a:buNone/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Accuracy</a:t>
                      </a:r>
                      <a:endParaRPr lang="en-US"/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endParaRPr lang="en-US" sz="2800" b="0" i="0" u="none" strike="noStrike" noProof="0">
                        <a:latin typeface="Calibri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 u="none" strike="noStrike" noProof="0">
                          <a:latin typeface="Calibri"/>
                        </a:rPr>
                        <a:t>0.8708</a:t>
                      </a:r>
                      <a:endParaRPr lang="en-US" sz="2800"/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33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96382"/>
                  </a:ext>
                </a:extLst>
              </a:tr>
              <a:tr h="755869">
                <a:tc>
                  <a:txBody>
                    <a:bodyPr/>
                    <a:lstStyle/>
                    <a:p>
                      <a:pPr lvl="0" algn="ctr" rtl="0">
                        <a:lnSpc>
                          <a:spcPts val="1875"/>
                        </a:lnSpc>
                        <a:buNone/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Precision</a:t>
                      </a:r>
                      <a:endParaRPr lang="en-US"/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endParaRPr lang="en-US" sz="2800" b="0" i="0" u="none" strike="noStrike" noProof="0">
                        <a:latin typeface="Calibri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 u="none" strike="noStrike" noProof="0">
                          <a:latin typeface="Calibri"/>
                        </a:rPr>
                        <a:t>0.8881</a:t>
                      </a:r>
                      <a:endParaRPr lang="en-US" sz="2800"/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410290"/>
                  </a:ext>
                </a:extLst>
              </a:tr>
              <a:tr h="755869">
                <a:tc>
                  <a:txBody>
                    <a:bodyPr/>
                    <a:lstStyle/>
                    <a:p>
                      <a:pPr lvl="0" algn="ctr" rtl="0">
                        <a:lnSpc>
                          <a:spcPts val="1875"/>
                        </a:lnSpc>
                        <a:buNone/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Recall</a:t>
                      </a:r>
                      <a:endParaRPr lang="en-US"/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endParaRPr lang="en-US" sz="2800" b="0" i="0" u="none" strike="noStrike" noProof="0">
                        <a:latin typeface="Calibri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 u="none" strike="noStrike" noProof="0">
                          <a:latin typeface="Calibri"/>
                        </a:rPr>
                        <a:t>0.8708</a:t>
                      </a:r>
                      <a:endParaRPr lang="en-US" sz="2800"/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216813"/>
                  </a:ext>
                </a:extLst>
              </a:tr>
              <a:tr h="665884">
                <a:tc>
                  <a:txBody>
                    <a:bodyPr/>
                    <a:lstStyle/>
                    <a:p>
                      <a:pPr lvl="0" algn="ctr" rtl="0">
                        <a:lnSpc>
                          <a:spcPts val="1875"/>
                        </a:lnSpc>
                        <a:buNone/>
                      </a:pPr>
                      <a:endParaRPr lang="en-US" sz="2800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F1-score</a:t>
                      </a:r>
                      <a:endParaRPr lang="en-US"/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endParaRPr lang="en-US" sz="2800" b="0" i="0" u="none" strike="noStrike" noProof="0">
                        <a:latin typeface="Calibri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US" sz="2800" b="0" i="0" u="none" strike="noStrike" noProof="0">
                          <a:latin typeface="Calibri"/>
                        </a:rPr>
                        <a:t>0.8486</a:t>
                      </a:r>
                      <a:endParaRPr lang="en-US" sz="2800"/>
                    </a:p>
                  </a:txBody>
                  <a:tcPr marL="51206" marR="51206" marT="25603" marB="2560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918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336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F7C47-D86E-2236-8C8D-CE25A580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821"/>
            <a:ext cx="10515600" cy="1027389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b="1">
                <a:latin typeface="Times New Roman"/>
                <a:cs typeface="calibri light"/>
              </a:rPr>
            </a:br>
            <a:r>
              <a:rPr lang="en-US" b="1">
                <a:latin typeface="Times New Roman"/>
                <a:cs typeface="calibri light"/>
              </a:rPr>
              <a:t>EfficientNetV2B0:</a:t>
            </a:r>
          </a:p>
          <a:p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1F479-7B59-355F-D723-5F52DB36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48672-0722-4F04-8C4F-0974F9CDBB80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5E7FB-6C5A-D2C1-2396-7FFDC244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05736-1E5A-9814-10CE-6270FB42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19</a:t>
            </a:fld>
            <a:endParaRPr lang="en-GB"/>
          </a:p>
        </p:txBody>
      </p:sp>
      <p:pic>
        <p:nvPicPr>
          <p:cNvPr id="9" name="Content Placeholder 8" descr="A diagram of a confusion matrix&#10;&#10;Description automatically generated">
            <a:extLst>
              <a:ext uri="{FF2B5EF4-FFF2-40B4-BE49-F238E27FC236}">
                <a16:creationId xmlns:a16="http://schemas.microsoft.com/office/drawing/2014/main" id="{69A31D58-18BD-3F6A-AD1F-E10A5B4EB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1123" y="1322161"/>
            <a:ext cx="6212217" cy="4854802"/>
          </a:xfrm>
        </p:spPr>
      </p:pic>
    </p:spTree>
    <p:extLst>
      <p:ext uri="{BB962C8B-B14F-4D97-AF65-F5344CB8AC3E}">
        <p14:creationId xmlns:p14="http://schemas.microsoft.com/office/powerpoint/2010/main" val="1365870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3D64-A08E-9444-6B6B-9E548AEE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85831"/>
            <a:ext cx="10515600" cy="1833563"/>
          </a:xfrm>
        </p:spPr>
        <p:txBody>
          <a:bodyPr/>
          <a:lstStyle/>
          <a:p>
            <a:r>
              <a:rPr lang="en-US" b="1">
                <a:latin typeface="Times New Roman"/>
                <a:cs typeface="Calibri Light"/>
              </a:rPr>
              <a:t>Model accuracy, Loss:</a:t>
            </a:r>
          </a:p>
        </p:txBody>
      </p:sp>
      <p:pic>
        <p:nvPicPr>
          <p:cNvPr id="8" name="Content Placeholder 7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979425EF-727F-2E96-2D3E-A872098096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2896" y="1071085"/>
            <a:ext cx="5590206" cy="4976941"/>
          </a:xfrm>
        </p:spPr>
      </p:pic>
      <p:pic>
        <p:nvPicPr>
          <p:cNvPr id="9" name="Content Placeholder 8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0BFD2449-8F46-4208-C85D-BA75B68CB1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4898" y="1082917"/>
            <a:ext cx="5788989" cy="4964321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79B56-F082-8485-B503-ED4E931D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C33F-B9DB-4DF0-AD99-36526352234C}" type="datetime1">
              <a:rPr lang="en-IN" smtClean="0"/>
              <a:t>22-11-2024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F87D5-464D-8F13-8DF5-A6BF99A4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B3E86-038A-9B2F-7005-60142613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346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1F7009-90EE-B63C-5F53-9EF6A7E5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Calibri" panose="020F0502020204030204"/>
              </a:rPr>
              <a:t>Timeline:</a:t>
            </a:r>
            <a:br>
              <a:rPr lang="en-US" sz="4400" b="1">
                <a:latin typeface="Times New Roman"/>
                <a:cs typeface="Calibri" panose="020F0502020204030204"/>
              </a:rPr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B2815-E967-1336-FE12-5102034C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200" b="1">
              <a:latin typeface="Times New Roman"/>
              <a:cs typeface="Calibri" panose="020F0502020204030204"/>
            </a:endParaRPr>
          </a:p>
          <a:p>
            <a:pPr marL="0" indent="0">
              <a:buNone/>
            </a:pPr>
            <a:endParaRPr lang="en-US" sz="3200" b="1">
              <a:latin typeface="Times New Roman"/>
              <a:cs typeface="Calibri" panose="020F0502020204030204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51D3D-7543-48EC-AB47-63855C56E55F}" type="datetime1">
              <a:rPr lang="en-IN" smtClean="0"/>
              <a:t>22-11-2024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271F0-D85C-D663-5451-517B70E6B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EB541B-50C9-591F-D2A2-F741E86A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1D24F0-4CBA-2212-FE6D-115407DCE278}"/>
              </a:ext>
            </a:extLst>
          </p:cNvPr>
          <p:cNvGraphicFramePr>
            <a:graphicFrameLocks noGrp="1"/>
          </p:cNvGraphicFramePr>
          <p:nvPr/>
        </p:nvGraphicFramePr>
        <p:xfrm>
          <a:off x="1181528" y="1510301"/>
          <a:ext cx="9246742" cy="456172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{93296810-A885-4BE3-A3E7-6D5BEEA58F35}</a:tableStyleId>
              </a:tblPr>
              <a:tblGrid>
                <a:gridCol w="1727173">
                  <a:extLst>
                    <a:ext uri="{9D8B030D-6E8A-4147-A177-3AD203B41FA5}">
                      <a16:colId xmlns:a16="http://schemas.microsoft.com/office/drawing/2014/main" val="283917520"/>
                    </a:ext>
                  </a:extLst>
                </a:gridCol>
                <a:gridCol w="1914090">
                  <a:extLst>
                    <a:ext uri="{9D8B030D-6E8A-4147-A177-3AD203B41FA5}">
                      <a16:colId xmlns:a16="http://schemas.microsoft.com/office/drawing/2014/main" val="523545415"/>
                    </a:ext>
                  </a:extLst>
                </a:gridCol>
                <a:gridCol w="5605479">
                  <a:extLst>
                    <a:ext uri="{9D8B030D-6E8A-4147-A177-3AD203B41FA5}">
                      <a16:colId xmlns:a16="http://schemas.microsoft.com/office/drawing/2014/main" val="2943249166"/>
                    </a:ext>
                  </a:extLst>
                </a:gridCol>
              </a:tblGrid>
              <a:tr h="604895">
                <a:tc>
                  <a:txBody>
                    <a:bodyPr/>
                    <a:lstStyle/>
                    <a:p>
                      <a:pPr marL="25400" marR="635" algn="ctr"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62651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</a:t>
                      </a:r>
                      <a:r>
                        <a:rPr lang="en-US" sz="18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Data preparation, Data Preprocessing, Literature survey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16643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</a:t>
                      </a: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Literature survey, Analysis of state-of-the-art models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918708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</a:t>
                      </a:r>
                      <a:r>
                        <a:rPr lang="en-US" sz="1800" b="0" spc="-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Building of classification model 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954233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</a:t>
                      </a:r>
                      <a:r>
                        <a:rPr lang="en-US" sz="18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Validation and performance comparison, Paper draft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255781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</a:t>
                      </a: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1800" b="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Draft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584357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6990" marR="31115" algn="ctr">
                        <a:lnSpc>
                          <a:spcPts val="1305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(External</a:t>
                      </a:r>
                      <a:r>
                        <a:rPr lang="en-US" sz="1800" b="0" spc="-3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Review)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lang="en-US" sz="1800" b="0" spc="-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r>
                        <a:rPr lang="en-US" sz="1800" b="0" spc="-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Dissertation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0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339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B2815-E967-1336-FE12-5102034C1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0206"/>
            <a:ext cx="10868989" cy="60487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b="1">
                <a:latin typeface="Times New Roman"/>
                <a:cs typeface="Times New Roman"/>
              </a:rPr>
              <a:t>Deliverables:</a:t>
            </a:r>
            <a:endParaRPr lang="en-US" sz="36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>
                <a:latin typeface="Times New Roman"/>
                <a:ea typeface="+mn-lt"/>
                <a:cs typeface="Times New Roman"/>
              </a:rPr>
              <a:t>The State-of-the-art</a:t>
            </a:r>
            <a:r>
              <a:rPr lang="en-US">
                <a:latin typeface="Times New Roman"/>
                <a:ea typeface="Calibri"/>
                <a:cs typeface="Times New Roman"/>
              </a:rPr>
              <a:t> models are trained on the pre-processed data set.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>
                <a:latin typeface="Times New Roman"/>
                <a:cs typeface="Times New Roman"/>
              </a:rPr>
              <a:t>The state of the models are evaluated using performance metrics.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>
                <a:latin typeface="Times New Roman"/>
                <a:cs typeface="Times New Roman"/>
              </a:rPr>
              <a:t>Further literature survey has been conducted.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EB541B-50C9-591F-D2A2-F741E86A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48D-4273-4358-BD0E-C4EBE188B2D3}" type="datetime1">
              <a:rPr lang="en-IN" smtClean="0"/>
              <a:t>22-11-2024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786DF-D88B-F49F-2934-D5510914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</p:spTree>
    <p:extLst>
      <p:ext uri="{BB962C8B-B14F-4D97-AF65-F5344CB8AC3E}">
        <p14:creationId xmlns:p14="http://schemas.microsoft.com/office/powerpoint/2010/main" val="429493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4767-397C-F01D-14CB-725074B1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814" y="-489"/>
            <a:ext cx="10449339" cy="1734171"/>
          </a:xfrm>
        </p:spPr>
        <p:txBody>
          <a:bodyPr>
            <a:normAutofit/>
          </a:bodyPr>
          <a:lstStyle/>
          <a:p>
            <a:br>
              <a:rPr lang="en-US" sz="3600" b="1">
                <a:latin typeface="Times New Roman"/>
                <a:cs typeface="Calibri Light"/>
              </a:rPr>
            </a:br>
            <a:r>
              <a:rPr lang="en-US" sz="3600" b="1">
                <a:latin typeface="Times New Roman"/>
                <a:cs typeface="Calibri Light"/>
              </a:rPr>
              <a:t>Summary:</a:t>
            </a:r>
            <a:endParaRPr lang="en-US" sz="3600" b="1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D30DA-6388-5310-3FA9-11863941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D8ED-36B6-4654-9F6F-AFFB5EE5BC04}" type="datetime1">
              <a:rPr lang="en-IN" smtClean="0"/>
              <a:t>22-11-2024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49557-1FA0-5A65-8B52-A9D6BC06B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AA91E6-B9EB-40F0-3587-19099722B97B}"/>
              </a:ext>
            </a:extLst>
          </p:cNvPr>
          <p:cNvSpPr txBox="1"/>
          <p:nvPr/>
        </p:nvSpPr>
        <p:spPr>
          <a:xfrm>
            <a:off x="1315092" y="1561672"/>
            <a:ext cx="9370032" cy="40626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Early Detection of KOA: Detecting knee osteoarthritis (KOA) at early stages and starting treatment is beneficial for patients.</a:t>
            </a:r>
            <a:endParaRPr lang="en-US" sz="2800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/>
                <a:cs typeface="Times New Roman"/>
              </a:rPr>
              <a:t>Evaluated 3 state of the art models on pre-processed data set. </a:t>
            </a:r>
            <a:endParaRPr lang="en-US" altLang="en-US" sz="28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/>
                <a:cs typeface="Times New Roman"/>
              </a:rPr>
              <a:t>Achieved a high training data accuracy and low training loss.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/>
                <a:cs typeface="Times New Roman"/>
              </a:rPr>
              <a:t>The Validation data accuracy achieved for VGG16 - 86.16%, ResNet50 – 83.82%, and EfficientNetV2B0 - 87.08% 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573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59C5-2E0C-F557-34B2-0507044D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3125"/>
          </a:xfrm>
        </p:spPr>
        <p:txBody>
          <a:bodyPr>
            <a:no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References: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7D22-0554-1846-36AC-096B0AC16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02" y="1136694"/>
            <a:ext cx="10651298" cy="50402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endParaRPr lang="en-US" sz="180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18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A. </a:t>
            </a:r>
            <a:r>
              <a:rPr lang="en-US" sz="18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Mobasheri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C. S. </a:t>
            </a:r>
            <a:r>
              <a:rPr lang="en-US" sz="18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Thudium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A.-C. Bay-Jensen, T. </a:t>
            </a:r>
            <a:r>
              <a:rPr lang="en-US" sz="18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Maleitzke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S. Geissler, G. N. </a:t>
            </a:r>
            <a:r>
              <a:rPr lang="en-US" sz="18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Duda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and T. Winkler, "Biomarkers for osteoarthritis: Current status and future prospects," Best Practice &amp; Research Clinical Rheumatology, vol. 37, p. 101852, June 2023</a:t>
            </a:r>
            <a:endParaRPr lang="en-US" sz="1800">
              <a:solidFill>
                <a:srgbClr val="333333"/>
              </a:solidFill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buFont typeface="Arial" panose="020B0604020202020204" pitchFamily="34" charset="0"/>
              <a:buAutoNum type="arabicPeriod"/>
            </a:pPr>
            <a:r>
              <a:rPr lang="en-US" sz="18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K. Fatema, M. A. H. Rony, S. Azam, M. S. H. Mukta, A. Karim, M. Z. Hasan, and M. </a:t>
            </a:r>
            <a:r>
              <a:rPr lang="en-US" sz="18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Jonkman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"Development of an automated optimal distance feature-based decision system for diagnosing knee osteoarthritis using segmented X-ray images," </a:t>
            </a:r>
            <a:r>
              <a:rPr lang="en-US" sz="18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Heliyon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vol. 9, e21703, 2023.</a:t>
            </a:r>
          </a:p>
          <a:p>
            <a:pPr marL="457200" indent="-457200" algn="just">
              <a:buAutoNum type="arabicPeriod"/>
            </a:pPr>
            <a:r>
              <a:rPr lang="en-US" sz="18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Y. X. Teoh, A. </a:t>
            </a:r>
            <a:r>
              <a:rPr lang="en-US" sz="1800" err="1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Othmani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, K. W. Lai, and S. L. Goh, "Stratifying knee osteoarthritis features through multitask deep hybrid learning: Data from the osteoarthritis initiative," Computer Methods and Programs in Biomedicine, vol. 242, p. 107807, Sep. 2023.</a:t>
            </a:r>
          </a:p>
          <a:p>
            <a:pPr marL="457200" indent="-457200" algn="just">
              <a:buAutoNum type="arabicPeriod"/>
            </a:pPr>
            <a:r>
              <a:rPr lang="en-IN" sz="1800">
                <a:latin typeface="Times New Roman"/>
                <a:cs typeface="Times New Roman"/>
              </a:rPr>
              <a:t>Y. Wang, Z. Bi, Y. Xie, T. Wu, X. Zeng, S. Chen, and D. Zhou, "Learning From Highly Confident Samples for Automatic Knee Osteoarthritis Severity Assessment: Data From the Osteoarthritis Initiative," </a:t>
            </a:r>
            <a:r>
              <a:rPr lang="en-IN" sz="1800" i="1">
                <a:latin typeface="Times New Roman"/>
                <a:cs typeface="Times New Roman"/>
              </a:rPr>
              <a:t>IEEE Journal of Biomedical and Health Informatics</a:t>
            </a:r>
            <a:r>
              <a:rPr lang="en-IN" sz="1800">
                <a:latin typeface="Times New Roman"/>
                <a:cs typeface="Times New Roman"/>
              </a:rPr>
              <a:t>, vol. 26, no. 3, pp. 1239-1250, Mar. 2022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.</a:t>
            </a:r>
            <a:endParaRPr lang="en-US" sz="1800">
              <a:solidFill>
                <a:srgbClr val="333333"/>
              </a:solidFill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buAutoNum type="arabicPeriod"/>
            </a:pPr>
            <a:r>
              <a:rPr lang="en-IN" sz="1800">
                <a:latin typeface="Times New Roman"/>
                <a:cs typeface="Times New Roman"/>
              </a:rPr>
              <a:t>S. </a:t>
            </a:r>
            <a:r>
              <a:rPr lang="en-IN" sz="1800" err="1">
                <a:latin typeface="Times New Roman"/>
                <a:cs typeface="Times New Roman"/>
              </a:rPr>
              <a:t>Aladhadh</a:t>
            </a:r>
            <a:r>
              <a:rPr lang="en-IN" sz="1800">
                <a:latin typeface="Times New Roman"/>
                <a:cs typeface="Times New Roman"/>
              </a:rPr>
              <a:t> and R. </a:t>
            </a:r>
            <a:r>
              <a:rPr lang="en-IN" sz="1800" err="1">
                <a:latin typeface="Times New Roman"/>
                <a:cs typeface="Times New Roman"/>
              </a:rPr>
              <a:t>Mahum</a:t>
            </a:r>
            <a:r>
              <a:rPr lang="en-IN" sz="1800">
                <a:latin typeface="Times New Roman"/>
                <a:cs typeface="Times New Roman"/>
              </a:rPr>
              <a:t>, "Knee Osteoarthritis Detection Using an Improved </a:t>
            </a:r>
            <a:r>
              <a:rPr lang="en-IN" sz="1800" err="1">
                <a:latin typeface="Times New Roman"/>
                <a:cs typeface="Times New Roman"/>
              </a:rPr>
              <a:t>CenterNet</a:t>
            </a:r>
            <a:r>
              <a:rPr lang="en-IN" sz="1800">
                <a:latin typeface="Times New Roman"/>
                <a:cs typeface="Times New Roman"/>
              </a:rPr>
              <a:t> With Pixel-Wise Voting Scheme," </a:t>
            </a:r>
            <a:r>
              <a:rPr lang="en-IN" sz="1800" i="1">
                <a:latin typeface="Times New Roman"/>
                <a:cs typeface="Times New Roman"/>
              </a:rPr>
              <a:t>IEEE Access</a:t>
            </a:r>
            <a:r>
              <a:rPr lang="en-IN" sz="1800">
                <a:latin typeface="Times New Roman"/>
                <a:cs typeface="Times New Roman"/>
              </a:rPr>
              <a:t>, vol. 11, pp. 22283-22295, 2023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AutoNum type="arabicPeriod"/>
            </a:pPr>
            <a:endParaRPr lang="en-US" sz="18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buAutoNum type="arabicPeriod"/>
            </a:pPr>
            <a:endParaRPr lang="en-US" sz="1800">
              <a:solidFill>
                <a:srgbClr val="333333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AutoNum type="arabicPeriod"/>
            </a:pPr>
            <a:endParaRPr lang="en-US" sz="180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n-US" sz="180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863F4-BF49-37DA-5958-AD125F9A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23844-CB50-4E2D-A6C9-DBD2EBCBBE96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85BA0-0778-5164-A839-22D67209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</p:spTree>
    <p:extLst>
      <p:ext uri="{BB962C8B-B14F-4D97-AF65-F5344CB8AC3E}">
        <p14:creationId xmlns:p14="http://schemas.microsoft.com/office/powerpoint/2010/main" val="3049878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52100-EEB4-16AB-CFE8-3A3389EBC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F727-56B7-4859-8A98-F4BFED5FF773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1C27B-6AEE-560E-1B8A-F6080918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99E84-FC38-1BFF-F888-7E518DBA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25</a:t>
            </a:fld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3AF169F-C013-16C1-0D67-4954E6EB1C65}"/>
              </a:ext>
            </a:extLst>
          </p:cNvPr>
          <p:cNvSpPr/>
          <p:nvPr/>
        </p:nvSpPr>
        <p:spPr>
          <a:xfrm>
            <a:off x="561084" y="923930"/>
            <a:ext cx="1325367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Dataset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8" name="Rectangle: Rounded Corners 5" descr="PREPROCESSING">
            <a:extLst>
              <a:ext uri="{FF2B5EF4-FFF2-40B4-BE49-F238E27FC236}">
                <a16:creationId xmlns:a16="http://schemas.microsoft.com/office/drawing/2014/main" id="{B7FB098B-40A3-CE14-8F15-7F0BA1962E21}"/>
              </a:ext>
            </a:extLst>
          </p:cNvPr>
          <p:cNvSpPr/>
          <p:nvPr/>
        </p:nvSpPr>
        <p:spPr>
          <a:xfrm>
            <a:off x="240080" y="1970184"/>
            <a:ext cx="1921264" cy="317300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6" name="Rectangle: Rounded Corners 20">
            <a:extLst>
              <a:ext uri="{FF2B5EF4-FFF2-40B4-BE49-F238E27FC236}">
                <a16:creationId xmlns:a16="http://schemas.microsoft.com/office/drawing/2014/main" id="{A701A3B3-7709-8563-8F8C-25758F737532}"/>
              </a:ext>
            </a:extLst>
          </p:cNvPr>
          <p:cNvSpPr/>
          <p:nvPr/>
        </p:nvSpPr>
        <p:spPr>
          <a:xfrm>
            <a:off x="4045483" y="923930"/>
            <a:ext cx="2258632" cy="395554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32BB9E05-E7BF-5836-B785-19A4072156DB}"/>
              </a:ext>
            </a:extLst>
          </p:cNvPr>
          <p:cNvSpPr txBox="1"/>
          <p:nvPr/>
        </p:nvSpPr>
        <p:spPr>
          <a:xfrm>
            <a:off x="4288887" y="975182"/>
            <a:ext cx="201522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Total 10000 images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F935CD1E-FDF4-9801-C4E5-84230E7DC5E6}"/>
              </a:ext>
            </a:extLst>
          </p:cNvPr>
          <p:cNvSpPr/>
          <p:nvPr/>
        </p:nvSpPr>
        <p:spPr>
          <a:xfrm>
            <a:off x="4160460" y="1417633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0 ) Images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0" name="Rectangle 38">
            <a:extLst>
              <a:ext uri="{FF2B5EF4-FFF2-40B4-BE49-F238E27FC236}">
                <a16:creationId xmlns:a16="http://schemas.microsoft.com/office/drawing/2014/main" id="{E23AF2FB-0781-6E47-F66C-EA820F0EDAEB}"/>
              </a:ext>
            </a:extLst>
          </p:cNvPr>
          <p:cNvSpPr/>
          <p:nvPr/>
        </p:nvSpPr>
        <p:spPr>
          <a:xfrm>
            <a:off x="4160460" y="2108078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1 ) Images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1" name="Rectangle 39">
            <a:extLst>
              <a:ext uri="{FF2B5EF4-FFF2-40B4-BE49-F238E27FC236}">
                <a16:creationId xmlns:a16="http://schemas.microsoft.com/office/drawing/2014/main" id="{06A535EA-4FF1-30F2-FF22-9C6BD03759F0}"/>
              </a:ext>
            </a:extLst>
          </p:cNvPr>
          <p:cNvSpPr/>
          <p:nvPr/>
        </p:nvSpPr>
        <p:spPr>
          <a:xfrm>
            <a:off x="4160460" y="2803250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2 ) Images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2" name="Rectangle 40">
            <a:extLst>
              <a:ext uri="{FF2B5EF4-FFF2-40B4-BE49-F238E27FC236}">
                <a16:creationId xmlns:a16="http://schemas.microsoft.com/office/drawing/2014/main" id="{1990EAE7-4ED0-9779-D00E-3EFF3962815C}"/>
              </a:ext>
            </a:extLst>
          </p:cNvPr>
          <p:cNvSpPr/>
          <p:nvPr/>
        </p:nvSpPr>
        <p:spPr>
          <a:xfrm>
            <a:off x="4160460" y="3513730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3 ) Images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3" name="Rectangle 41">
            <a:extLst>
              <a:ext uri="{FF2B5EF4-FFF2-40B4-BE49-F238E27FC236}">
                <a16:creationId xmlns:a16="http://schemas.microsoft.com/office/drawing/2014/main" id="{1F36EDE6-608F-FA23-C39C-7C961B48A9D2}"/>
              </a:ext>
            </a:extLst>
          </p:cNvPr>
          <p:cNvSpPr/>
          <p:nvPr/>
        </p:nvSpPr>
        <p:spPr>
          <a:xfrm>
            <a:off x="4160460" y="4165789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4 ) Images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4" name="Rectangle 52">
            <a:extLst>
              <a:ext uri="{FF2B5EF4-FFF2-40B4-BE49-F238E27FC236}">
                <a16:creationId xmlns:a16="http://schemas.microsoft.com/office/drawing/2014/main" id="{5EDDC26E-FFBC-881C-0125-0DDB6E917736}"/>
              </a:ext>
            </a:extLst>
          </p:cNvPr>
          <p:cNvSpPr/>
          <p:nvPr/>
        </p:nvSpPr>
        <p:spPr>
          <a:xfrm>
            <a:off x="7039331" y="1509557"/>
            <a:ext cx="1767151" cy="7027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Train 8000 images 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5" name="Rectangle 53">
            <a:extLst>
              <a:ext uri="{FF2B5EF4-FFF2-40B4-BE49-F238E27FC236}">
                <a16:creationId xmlns:a16="http://schemas.microsoft.com/office/drawing/2014/main" id="{65268EFA-7220-35A9-93A4-BD4A007CBC49}"/>
              </a:ext>
            </a:extLst>
          </p:cNvPr>
          <p:cNvSpPr/>
          <p:nvPr/>
        </p:nvSpPr>
        <p:spPr>
          <a:xfrm>
            <a:off x="9297963" y="1509556"/>
            <a:ext cx="1767151" cy="7027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Validation 2000 images 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AF265C52-DB39-B862-AAEB-B6D85758665A}"/>
              </a:ext>
            </a:extLst>
          </p:cNvPr>
          <p:cNvSpPr/>
          <p:nvPr/>
        </p:nvSpPr>
        <p:spPr>
          <a:xfrm>
            <a:off x="406191" y="2561633"/>
            <a:ext cx="1613047" cy="80823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Quantum Noise Reduction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44" name="Rectangle 7">
            <a:extLst>
              <a:ext uri="{FF2B5EF4-FFF2-40B4-BE49-F238E27FC236}">
                <a16:creationId xmlns:a16="http://schemas.microsoft.com/office/drawing/2014/main" id="{5DA1A183-A1DF-C7B2-6AD0-F280AA6BDD57}"/>
              </a:ext>
            </a:extLst>
          </p:cNvPr>
          <p:cNvSpPr/>
          <p:nvPr/>
        </p:nvSpPr>
        <p:spPr>
          <a:xfrm>
            <a:off x="406191" y="3543361"/>
            <a:ext cx="1613047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Histogram Equalization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4A77A9D1-BE71-2B2D-6B6F-BFDA5D15431F}"/>
              </a:ext>
            </a:extLst>
          </p:cNvPr>
          <p:cNvSpPr/>
          <p:nvPr/>
        </p:nvSpPr>
        <p:spPr>
          <a:xfrm>
            <a:off x="406182" y="4332716"/>
            <a:ext cx="1613047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Unsharp Masking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46" name="TextBox 10">
            <a:extLst>
              <a:ext uri="{FF2B5EF4-FFF2-40B4-BE49-F238E27FC236}">
                <a16:creationId xmlns:a16="http://schemas.microsoft.com/office/drawing/2014/main" id="{F065F637-630F-07CE-BF60-6F8005E64A77}"/>
              </a:ext>
            </a:extLst>
          </p:cNvPr>
          <p:cNvSpPr txBox="1"/>
          <p:nvPr/>
        </p:nvSpPr>
        <p:spPr>
          <a:xfrm>
            <a:off x="416448" y="2081510"/>
            <a:ext cx="1756882" cy="3231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5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PREPROCESSING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8704F5E-4103-A56F-C11B-266819333374}"/>
              </a:ext>
            </a:extLst>
          </p:cNvPr>
          <p:cNvSpPr/>
          <p:nvPr/>
        </p:nvSpPr>
        <p:spPr>
          <a:xfrm>
            <a:off x="2359090" y="2803250"/>
            <a:ext cx="1521109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Augmentation</a:t>
            </a:r>
            <a:endParaRPr lang="en-IN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6C3217B-FB98-EEE5-52A4-0D2863D0AC9D}"/>
              </a:ext>
            </a:extLst>
          </p:cNvPr>
          <p:cNvSpPr/>
          <p:nvPr/>
        </p:nvSpPr>
        <p:spPr>
          <a:xfrm>
            <a:off x="8065599" y="2581197"/>
            <a:ext cx="1953926" cy="70264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 err="1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ResNet</a:t>
            </a:r>
            <a:endParaRPr lang="en-IN" sz="18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6B9A28A-9473-D0B5-0311-373021D268E1}"/>
              </a:ext>
            </a:extLst>
          </p:cNvPr>
          <p:cNvSpPr/>
          <p:nvPr/>
        </p:nvSpPr>
        <p:spPr>
          <a:xfrm>
            <a:off x="8065599" y="3460028"/>
            <a:ext cx="1953926" cy="88552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Convolutional Block Attention Module(CBAM)</a:t>
            </a:r>
            <a:endParaRPr lang="en-IN" sz="18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81" name="Rectangle 11">
            <a:extLst>
              <a:ext uri="{FF2B5EF4-FFF2-40B4-BE49-F238E27FC236}">
                <a16:creationId xmlns:a16="http://schemas.microsoft.com/office/drawing/2014/main" id="{839DDB52-D701-0762-EC73-3A54892344BB}"/>
              </a:ext>
            </a:extLst>
          </p:cNvPr>
          <p:cNvSpPr/>
          <p:nvPr/>
        </p:nvSpPr>
        <p:spPr>
          <a:xfrm>
            <a:off x="8065599" y="4582066"/>
            <a:ext cx="1953926" cy="6906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SVM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84" name="Rectangle 17">
            <a:extLst>
              <a:ext uri="{FF2B5EF4-FFF2-40B4-BE49-F238E27FC236}">
                <a16:creationId xmlns:a16="http://schemas.microsoft.com/office/drawing/2014/main" id="{A3D5E257-7428-6D43-23D4-1899559514DC}"/>
              </a:ext>
            </a:extLst>
          </p:cNvPr>
          <p:cNvSpPr/>
          <p:nvPr/>
        </p:nvSpPr>
        <p:spPr>
          <a:xfrm>
            <a:off x="8065599" y="5499872"/>
            <a:ext cx="1953926" cy="7700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Output Prediction</a:t>
            </a:r>
            <a:endParaRPr lang="en-IN" sz="18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92" name="TextBox 14">
            <a:extLst>
              <a:ext uri="{FF2B5EF4-FFF2-40B4-BE49-F238E27FC236}">
                <a16:creationId xmlns:a16="http://schemas.microsoft.com/office/drawing/2014/main" id="{D26DA24A-0C50-E72D-F661-D840AE560087}"/>
              </a:ext>
            </a:extLst>
          </p:cNvPr>
          <p:cNvSpPr txBox="1"/>
          <p:nvPr/>
        </p:nvSpPr>
        <p:spPr>
          <a:xfrm>
            <a:off x="9982201" y="4625955"/>
            <a:ext cx="1637872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Machine learning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classifier</a:t>
            </a:r>
            <a:endParaRPr lang="en-IN" sz="16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12" name="Arrow: Right 111">
            <a:extLst>
              <a:ext uri="{FF2B5EF4-FFF2-40B4-BE49-F238E27FC236}">
                <a16:creationId xmlns:a16="http://schemas.microsoft.com/office/drawing/2014/main" id="{7C81C0AE-BF78-ECC5-3F93-641F3A16087D}"/>
              </a:ext>
            </a:extLst>
          </p:cNvPr>
          <p:cNvSpPr/>
          <p:nvPr/>
        </p:nvSpPr>
        <p:spPr>
          <a:xfrm rot="5400000">
            <a:off x="1017317" y="1497554"/>
            <a:ext cx="390776" cy="48463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dirty="0"/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EBFBD4C2-1EE5-0B82-FCF7-7A1DF1E766E0}"/>
              </a:ext>
            </a:extLst>
          </p:cNvPr>
          <p:cNvCxnSpPr>
            <a:stCxn id="16" idx="0"/>
            <a:endCxn id="24" idx="0"/>
          </p:cNvCxnSpPr>
          <p:nvPr/>
        </p:nvCxnSpPr>
        <p:spPr>
          <a:xfrm rot="16200000" flipH="1">
            <a:off x="6256039" y="-157311"/>
            <a:ext cx="585627" cy="2748108"/>
          </a:xfrm>
          <a:prstGeom prst="bentConnector3">
            <a:avLst>
              <a:gd name="adj1" fmla="val -3903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D970EB75-F519-8ABD-1B22-4E829B6F3AAE}"/>
              </a:ext>
            </a:extLst>
          </p:cNvPr>
          <p:cNvCxnSpPr>
            <a:cxnSpLocks/>
            <a:stCxn id="16" idx="0"/>
            <a:endCxn id="25" idx="0"/>
          </p:cNvCxnSpPr>
          <p:nvPr/>
        </p:nvCxnSpPr>
        <p:spPr>
          <a:xfrm rot="16200000" flipH="1">
            <a:off x="7385356" y="-1286627"/>
            <a:ext cx="585626" cy="5006740"/>
          </a:xfrm>
          <a:prstGeom prst="bentConnector3">
            <a:avLst>
              <a:gd name="adj1" fmla="val -3903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3EF6959-D0AE-F523-B8BC-E282FB78EB61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>
            <a:off x="9042562" y="3283840"/>
            <a:ext cx="0" cy="176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EDA8C9E-D917-2E90-A71F-56BC6C4D28B6}"/>
              </a:ext>
            </a:extLst>
          </p:cNvPr>
          <p:cNvCxnSpPr>
            <a:stCxn id="74" idx="2"/>
            <a:endCxn id="81" idx="0"/>
          </p:cNvCxnSpPr>
          <p:nvPr/>
        </p:nvCxnSpPr>
        <p:spPr>
          <a:xfrm>
            <a:off x="9042562" y="4345551"/>
            <a:ext cx="0" cy="236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83A6474-4F5A-CFC4-BD4E-97547E245C0D}"/>
              </a:ext>
            </a:extLst>
          </p:cNvPr>
          <p:cNvCxnSpPr>
            <a:stCxn id="81" idx="2"/>
            <a:endCxn id="84" idx="0"/>
          </p:cNvCxnSpPr>
          <p:nvPr/>
        </p:nvCxnSpPr>
        <p:spPr>
          <a:xfrm>
            <a:off x="9042562" y="5272675"/>
            <a:ext cx="0" cy="227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4F4FD3CD-562C-D4C1-3FCB-6456DD06EFED}"/>
              </a:ext>
            </a:extLst>
          </p:cNvPr>
          <p:cNvCxnSpPr>
            <a:stCxn id="24" idx="2"/>
            <a:endCxn id="67" idx="0"/>
          </p:cNvCxnSpPr>
          <p:nvPr/>
        </p:nvCxnSpPr>
        <p:spPr>
          <a:xfrm rot="16200000" flipH="1">
            <a:off x="8298277" y="1836911"/>
            <a:ext cx="368915" cy="11196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865D1101-C960-86F4-A335-E81DDD0B7020}"/>
              </a:ext>
            </a:extLst>
          </p:cNvPr>
          <p:cNvCxnSpPr>
            <a:stCxn id="25" idx="2"/>
            <a:endCxn id="67" idx="0"/>
          </p:cNvCxnSpPr>
          <p:nvPr/>
        </p:nvCxnSpPr>
        <p:spPr>
          <a:xfrm rot="5400000">
            <a:off x="9427593" y="1827251"/>
            <a:ext cx="368916" cy="11389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A71AF0F-24C0-98A1-B5B2-0215B2B65137}"/>
              </a:ext>
            </a:extLst>
          </p:cNvPr>
          <p:cNvSpPr/>
          <p:nvPr/>
        </p:nvSpPr>
        <p:spPr>
          <a:xfrm>
            <a:off x="10497594" y="2574290"/>
            <a:ext cx="1637872" cy="70955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Grad CAM</a:t>
            </a:r>
            <a:endParaRPr lang="en-IN" sz="18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546A37E-A9B1-BD63-56DF-D371F2E48111}"/>
              </a:ext>
            </a:extLst>
          </p:cNvPr>
          <p:cNvCxnSpPr>
            <a:cxnSpLocks/>
            <a:stCxn id="67" idx="3"/>
            <a:endCxn id="142" idx="1"/>
          </p:cNvCxnSpPr>
          <p:nvPr/>
        </p:nvCxnSpPr>
        <p:spPr>
          <a:xfrm flipV="1">
            <a:off x="10019525" y="2929065"/>
            <a:ext cx="478069" cy="3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TextBox 8">
            <a:extLst>
              <a:ext uri="{FF2B5EF4-FFF2-40B4-BE49-F238E27FC236}">
                <a16:creationId xmlns:a16="http://schemas.microsoft.com/office/drawing/2014/main" id="{11F5A690-928C-895D-11F9-B340E725AF4E}"/>
              </a:ext>
            </a:extLst>
          </p:cNvPr>
          <p:cNvSpPr txBox="1"/>
          <p:nvPr/>
        </p:nvSpPr>
        <p:spPr>
          <a:xfrm>
            <a:off x="10462034" y="3256565"/>
            <a:ext cx="1783531" cy="3385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Feature Extraction</a:t>
            </a:r>
            <a:endParaRPr lang="en-IN" sz="16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50" name="Rectangle 48">
            <a:extLst>
              <a:ext uri="{FF2B5EF4-FFF2-40B4-BE49-F238E27FC236}">
                <a16:creationId xmlns:a16="http://schemas.microsoft.com/office/drawing/2014/main" id="{B1BB41E8-BA07-5506-B895-99B1A3DC985E}"/>
              </a:ext>
            </a:extLst>
          </p:cNvPr>
          <p:cNvSpPr/>
          <p:nvPr/>
        </p:nvSpPr>
        <p:spPr>
          <a:xfrm>
            <a:off x="5976139" y="5014898"/>
            <a:ext cx="1921265" cy="12982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Test Dataset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(To be given after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Training model)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6F55914D-96EB-D79F-6AE7-8BF769833AFD}"/>
              </a:ext>
            </a:extLst>
          </p:cNvPr>
          <p:cNvCxnSpPr>
            <a:stCxn id="150" idx="0"/>
            <a:endCxn id="67" idx="1"/>
          </p:cNvCxnSpPr>
          <p:nvPr/>
        </p:nvCxnSpPr>
        <p:spPr>
          <a:xfrm rot="5400000" flipH="1" flipV="1">
            <a:off x="6459996" y="3409296"/>
            <a:ext cx="2082379" cy="11288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4300DD98-5D00-2374-F6A8-81E2EE46E586}"/>
              </a:ext>
            </a:extLst>
          </p:cNvPr>
          <p:cNvCxnSpPr>
            <a:endCxn id="49" idx="1"/>
          </p:cNvCxnSpPr>
          <p:nvPr/>
        </p:nvCxnSpPr>
        <p:spPr>
          <a:xfrm>
            <a:off x="2161344" y="3092521"/>
            <a:ext cx="197746" cy="3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44FF37E-ED07-C645-701C-0BA066CDBCC6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3880199" y="3096064"/>
            <a:ext cx="156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Title 1">
            <a:extLst>
              <a:ext uri="{FF2B5EF4-FFF2-40B4-BE49-F238E27FC236}">
                <a16:creationId xmlns:a16="http://schemas.microsoft.com/office/drawing/2014/main" id="{401AD505-CC81-17DB-594F-F4CE3E63D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54" y="118532"/>
            <a:ext cx="4031751" cy="60651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Methodology:</a:t>
            </a:r>
          </a:p>
        </p:txBody>
      </p:sp>
    </p:spTree>
    <p:extLst>
      <p:ext uri="{BB962C8B-B14F-4D97-AF65-F5344CB8AC3E}">
        <p14:creationId xmlns:p14="http://schemas.microsoft.com/office/powerpoint/2010/main" val="957911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205B3E-FA63-F081-C1F7-B31346FC6CD6}"/>
              </a:ext>
            </a:extLst>
          </p:cNvPr>
          <p:cNvSpPr/>
          <p:nvPr/>
        </p:nvSpPr>
        <p:spPr>
          <a:xfrm>
            <a:off x="6671910" y="961418"/>
            <a:ext cx="1953926" cy="70264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 err="1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ResNet</a:t>
            </a:r>
            <a:endParaRPr lang="en-IN" sz="18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39966F-A3FA-D10B-2B06-694881E7B4D3}"/>
              </a:ext>
            </a:extLst>
          </p:cNvPr>
          <p:cNvSpPr/>
          <p:nvPr/>
        </p:nvSpPr>
        <p:spPr>
          <a:xfrm>
            <a:off x="6671910" y="1992495"/>
            <a:ext cx="1953926" cy="88552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Convolutional Block Attention Module(CBAM)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11BC0-22AF-AF16-33A2-2F71E7C5B6A2}"/>
              </a:ext>
            </a:extLst>
          </p:cNvPr>
          <p:cNvSpPr/>
          <p:nvPr/>
        </p:nvSpPr>
        <p:spPr>
          <a:xfrm>
            <a:off x="2531443" y="961418"/>
            <a:ext cx="1953926" cy="70264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Grad CAM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cxnSp>
        <p:nvCxnSpPr>
          <p:cNvPr id="5" name="Straight Arrow Connector 6">
            <a:extLst>
              <a:ext uri="{FF2B5EF4-FFF2-40B4-BE49-F238E27FC236}">
                <a16:creationId xmlns:a16="http://schemas.microsoft.com/office/drawing/2014/main" id="{29D9EE3D-E937-48E4-05B3-5C5581C63DAA}"/>
              </a:ext>
            </a:extLst>
          </p:cNvPr>
          <p:cNvCxnSpPr>
            <a:stCxn id="2" idx="1"/>
            <a:endCxn id="4" idx="3"/>
          </p:cNvCxnSpPr>
          <p:nvPr/>
        </p:nvCxnSpPr>
        <p:spPr>
          <a:xfrm flipH="1">
            <a:off x="4485369" y="1312740"/>
            <a:ext cx="2186541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6" name="TextBox 8">
            <a:extLst>
              <a:ext uri="{FF2B5EF4-FFF2-40B4-BE49-F238E27FC236}">
                <a16:creationId xmlns:a16="http://schemas.microsoft.com/office/drawing/2014/main" id="{81084F5D-60EA-F48D-3DF8-71240E44B1D0}"/>
              </a:ext>
            </a:extLst>
          </p:cNvPr>
          <p:cNvSpPr txBox="1"/>
          <p:nvPr/>
        </p:nvSpPr>
        <p:spPr>
          <a:xfrm>
            <a:off x="4627769" y="928490"/>
            <a:ext cx="1901741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Feature Extraction</a:t>
            </a:r>
            <a:endParaRPr lang="en-IN" sz="18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4E46951-7DDB-7D01-D30F-5ADB8D5CA210}"/>
              </a:ext>
            </a:extLst>
          </p:cNvPr>
          <p:cNvSpPr/>
          <p:nvPr/>
        </p:nvSpPr>
        <p:spPr>
          <a:xfrm>
            <a:off x="6671910" y="3311161"/>
            <a:ext cx="1953926" cy="6906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SVM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B536A507-4D8F-102E-5655-1776F8144B4F}"/>
              </a:ext>
            </a:extLst>
          </p:cNvPr>
          <p:cNvSpPr txBox="1"/>
          <p:nvPr/>
        </p:nvSpPr>
        <p:spPr>
          <a:xfrm>
            <a:off x="8625836" y="3345679"/>
            <a:ext cx="1806909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Machine learning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 classifier</a:t>
            </a:r>
            <a:endParaRPr lang="en-IN" sz="18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46F80683-9B9D-DA06-ABD8-ACBD924BDD38}"/>
              </a:ext>
            </a:extLst>
          </p:cNvPr>
          <p:cNvSpPr/>
          <p:nvPr/>
        </p:nvSpPr>
        <p:spPr>
          <a:xfrm>
            <a:off x="6671910" y="4338654"/>
            <a:ext cx="1953926" cy="7700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Output Prediction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cxnSp>
        <p:nvCxnSpPr>
          <p:cNvPr id="10" name="Straight Arrow Connector 19">
            <a:extLst>
              <a:ext uri="{FF2B5EF4-FFF2-40B4-BE49-F238E27FC236}">
                <a16:creationId xmlns:a16="http://schemas.microsoft.com/office/drawing/2014/main" id="{119C9057-CA02-D3AB-401E-AC650C2223D8}"/>
              </a:ext>
            </a:extLst>
          </p:cNvPr>
          <p:cNvCxnSpPr>
            <a:stCxn id="7" idx="2"/>
          </p:cNvCxnSpPr>
          <p:nvPr/>
        </p:nvCxnSpPr>
        <p:spPr>
          <a:xfrm>
            <a:off x="7648873" y="4001771"/>
            <a:ext cx="0" cy="336883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1" name="Straight Arrow Connector 43">
            <a:extLst>
              <a:ext uri="{FF2B5EF4-FFF2-40B4-BE49-F238E27FC236}">
                <a16:creationId xmlns:a16="http://schemas.microsoft.com/office/drawing/2014/main" id="{611091FF-6E33-7C1E-D922-B05161541E8B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7648873" y="1664061"/>
            <a:ext cx="0" cy="328434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2" name="Straight Arrow Connector 45">
            <a:extLst>
              <a:ext uri="{FF2B5EF4-FFF2-40B4-BE49-F238E27FC236}">
                <a16:creationId xmlns:a16="http://schemas.microsoft.com/office/drawing/2014/main" id="{B1A4CF50-D12E-F7B8-B35F-EBF9F6FA297E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7648873" y="2878018"/>
            <a:ext cx="0" cy="433143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13" name="Rectangle 48">
            <a:extLst>
              <a:ext uri="{FF2B5EF4-FFF2-40B4-BE49-F238E27FC236}">
                <a16:creationId xmlns:a16="http://schemas.microsoft.com/office/drawing/2014/main" id="{52E2362D-A411-75D0-5C37-5C1048E9BD46}"/>
              </a:ext>
            </a:extLst>
          </p:cNvPr>
          <p:cNvSpPr/>
          <p:nvPr/>
        </p:nvSpPr>
        <p:spPr>
          <a:xfrm>
            <a:off x="637912" y="2126674"/>
            <a:ext cx="2242684" cy="152980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Test Dataset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(To be given after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Training model)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cxnSp>
        <p:nvCxnSpPr>
          <p:cNvPr id="14" name="Connector: Elbow 50">
            <a:extLst>
              <a:ext uri="{FF2B5EF4-FFF2-40B4-BE49-F238E27FC236}">
                <a16:creationId xmlns:a16="http://schemas.microsoft.com/office/drawing/2014/main" id="{67F54EFB-A049-4C89-B892-08AFAFF9B2BC}"/>
              </a:ext>
            </a:extLst>
          </p:cNvPr>
          <p:cNvCxnSpPr>
            <a:stCxn id="13" idx="0"/>
            <a:endCxn id="2" idx="0"/>
          </p:cNvCxnSpPr>
          <p:nvPr/>
        </p:nvCxnSpPr>
        <p:spPr>
          <a:xfrm rot="5400000" flipH="1" flipV="1">
            <a:off x="4121435" y="-1400763"/>
            <a:ext cx="1165256" cy="5889619"/>
          </a:xfrm>
          <a:prstGeom prst="bentConnector3">
            <a:avLst>
              <a:gd name="adj1" fmla="val 119618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80CF412-D1A2-952F-2F56-A6FA30CA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2D64-908D-410C-B114-05BA5AADA6FE}" type="datetime1">
              <a:rPr lang="en-IN" smtClean="0"/>
              <a:t>22-11-2024</a:t>
            </a:fld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97DA996-30E1-4C0C-F353-F7AB4CD06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21104D7-F342-36DC-FA03-50482ACB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59C5-2E0C-F557-34B2-0507044D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3125"/>
          </a:xfrm>
        </p:spPr>
        <p:txBody>
          <a:bodyPr>
            <a:no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References: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7D22-0554-1846-36AC-096B0AC16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02" y="1136694"/>
            <a:ext cx="10651298" cy="50402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buFont typeface="+mj-lt"/>
              <a:buAutoNum type="arabicPeriod" startAt="6"/>
            </a:pPr>
            <a:r>
              <a:rPr lang="en-US" sz="18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R. K. Jain, P. K. Sharma, S. Gaj, A. Sur, and P. Ghosh, "Knee osteoarthritis severity prediction using an      attentive multi-scale deep convolutional neural network," </a:t>
            </a:r>
            <a:r>
              <a:rPr lang="en-US" sz="1800" i="1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Multimedia Tools and Applications,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 vol. 83, pp. 6925–6942, June 2023.</a:t>
            </a:r>
            <a:endParaRPr lang="en-US" sz="18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 algn="just">
              <a:buFont typeface="+mj-lt"/>
              <a:buAutoNum type="arabicPeriod" startAt="6"/>
            </a:pPr>
            <a:r>
              <a:rPr lang="en-US" sz="18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V. K. Vijaya, V. Kalpana, and G. H. Kumar, "Evaluating the efficacy of deep learning models for knee osteoarthritis prediction based on </a:t>
            </a:r>
            <a:r>
              <a:rPr lang="en-US" sz="18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Kellgren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-Lawrence grading system," </a:t>
            </a:r>
            <a:r>
              <a:rPr lang="en-US" sz="1800" i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e-Prime - Advances in Electrical Engineering, Electronics and Energy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, vol. 5, p. 100266, Aug. 2023.</a:t>
            </a:r>
            <a:endParaRPr lang="en-US" sz="1800">
              <a:solidFill>
                <a:srgbClr val="333333"/>
              </a:solidFill>
              <a:latin typeface="Times New Roman"/>
              <a:ea typeface="+mn-lt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US" sz="18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A. S. C. Bose, C. Srinivasan, and I. J. S., "Optimized feature selection for enhanced accuracy in knee osteoarthritis detection and severity classification with machine learning," </a:t>
            </a:r>
            <a:r>
              <a:rPr lang="en-US" sz="1800" i="1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Biomed. Signal Process. Control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, vol. 97, pp. 106670, Aug. 2024.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8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M. U. Farooq, Z. Ullah, A. Khan, and J. </a:t>
            </a:r>
            <a:r>
              <a:rPr lang="en-US" sz="1800" err="1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Gwak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, "DC-AAE: Dual channel adversarial autoencoder with  multitask learning for KL-grade classification in knee radiographs," </a:t>
            </a:r>
            <a:r>
              <a:rPr lang="en-US" sz="1800" i="1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Computers in Biology and Medicine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, vol. 167, pp. 107570, 2023.</a:t>
            </a:r>
          </a:p>
          <a:p>
            <a:pPr marL="342900" indent="-342900">
              <a:buFont typeface="+mj-lt"/>
              <a:buAutoNum type="arabicPeriod" startAt="6"/>
            </a:pPr>
            <a:endParaRPr lang="en-IN" sz="1800"/>
          </a:p>
          <a:p>
            <a:pPr marL="0" indent="0" algn="just">
              <a:buNone/>
            </a:pPr>
            <a:endParaRPr lang="en-US" sz="1800">
              <a:solidFill>
                <a:srgbClr val="333333"/>
              </a:solidFill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buFont typeface="+mj-lt"/>
              <a:buAutoNum type="arabicPeriod" startAt="6"/>
            </a:pPr>
            <a:endParaRPr lang="en-US" sz="1800">
              <a:solidFill>
                <a:srgbClr val="333333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863F4-BF49-37DA-5958-AD125F9A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A514-6995-47F8-AF9A-7E0C4232747E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85BA0-0778-5164-A839-22D67209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</p:spTree>
    <p:extLst>
      <p:ext uri="{BB962C8B-B14F-4D97-AF65-F5344CB8AC3E}">
        <p14:creationId xmlns:p14="http://schemas.microsoft.com/office/powerpoint/2010/main" val="1607328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982D-ED48-46F1-683C-D2469D2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256"/>
            <a:ext cx="10527323" cy="5605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5400" b="1">
                <a:latin typeface="Times New Roman"/>
                <a:cs typeface="Calibri" panose="020F0502020204030204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AB493-95B4-D94B-9B33-066F55CC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28</a:t>
            </a:fld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95C1-A9C2-4F46-8EB2-096C6D540A8D}" type="datetime1">
              <a:rPr lang="en-IN" smtClean="0"/>
              <a:t>22-11-2024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84ECE-EAE2-C00D-155F-92BE1ADF7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</p:spTree>
    <p:extLst>
      <p:ext uri="{BB962C8B-B14F-4D97-AF65-F5344CB8AC3E}">
        <p14:creationId xmlns:p14="http://schemas.microsoft.com/office/powerpoint/2010/main" val="331172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2106</Words>
  <Application>Microsoft Office PowerPoint</Application>
  <PresentationFormat>Widescreen</PresentationFormat>
  <Paragraphs>372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Literature :</vt:lpstr>
      <vt:lpstr>Literature :</vt:lpstr>
      <vt:lpstr>Literature : </vt:lpstr>
      <vt:lpstr>Literature : </vt:lpstr>
      <vt:lpstr>Methodology:</vt:lpstr>
      <vt:lpstr>VGG16:</vt:lpstr>
      <vt:lpstr>Evaluation metrics for a classification model:</vt:lpstr>
      <vt:lpstr>VGG16: Confusion matrix images :</vt:lpstr>
      <vt:lpstr>Model accuracy, Loss:</vt:lpstr>
      <vt:lpstr>RESNET50:</vt:lpstr>
      <vt:lpstr>  Evaluation metrics for a classification model: </vt:lpstr>
      <vt:lpstr>RESNET50:</vt:lpstr>
      <vt:lpstr>Model accuracy, Loss:</vt:lpstr>
      <vt:lpstr>EfficientNetV2B0 </vt:lpstr>
      <vt:lpstr>  Evaluation metrics for a classification model:  </vt:lpstr>
      <vt:lpstr> EfficientNetV2B0: </vt:lpstr>
      <vt:lpstr>Model accuracy, Loss:</vt:lpstr>
      <vt:lpstr>Timeline: </vt:lpstr>
      <vt:lpstr>PowerPoint Presentation</vt:lpstr>
      <vt:lpstr> Summary:</vt:lpstr>
      <vt:lpstr>References:</vt:lpstr>
      <vt:lpstr>Methodology:</vt:lpstr>
      <vt:lpstr>PowerPoint Presentation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sys</dc:creator>
  <cp:lastModifiedBy>santhosh dulam</cp:lastModifiedBy>
  <cp:revision>2</cp:revision>
  <dcterms:created xsi:type="dcterms:W3CDTF">2023-09-07T11:44:27Z</dcterms:created>
  <dcterms:modified xsi:type="dcterms:W3CDTF">2024-11-22T05:45:15Z</dcterms:modified>
</cp:coreProperties>
</file>